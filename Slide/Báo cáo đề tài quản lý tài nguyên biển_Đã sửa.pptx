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31"/>
  </p:notesMasterIdLst>
  <p:handoutMasterIdLst>
    <p:handoutMasterId r:id="rId32"/>
  </p:handoutMasterIdLst>
  <p:sldIdLst>
    <p:sldId id="275" r:id="rId2"/>
    <p:sldId id="257" r:id="rId3"/>
    <p:sldId id="299" r:id="rId4"/>
    <p:sldId id="301" r:id="rId5"/>
    <p:sldId id="309" r:id="rId6"/>
    <p:sldId id="310" r:id="rId7"/>
    <p:sldId id="303" r:id="rId8"/>
    <p:sldId id="312" r:id="rId9"/>
    <p:sldId id="313" r:id="rId10"/>
    <p:sldId id="314" r:id="rId11"/>
    <p:sldId id="332" r:id="rId12"/>
    <p:sldId id="333" r:id="rId13"/>
    <p:sldId id="334" r:id="rId14"/>
    <p:sldId id="331" r:id="rId15"/>
    <p:sldId id="315" r:id="rId16"/>
    <p:sldId id="322" r:id="rId17"/>
    <p:sldId id="323" r:id="rId18"/>
    <p:sldId id="318" r:id="rId19"/>
    <p:sldId id="330" r:id="rId20"/>
    <p:sldId id="324" r:id="rId21"/>
    <p:sldId id="316" r:id="rId22"/>
    <p:sldId id="319" r:id="rId23"/>
    <p:sldId id="329" r:id="rId24"/>
    <p:sldId id="320" r:id="rId25"/>
    <p:sldId id="328" r:id="rId26"/>
    <p:sldId id="326" r:id="rId27"/>
    <p:sldId id="325" r:id="rId28"/>
    <p:sldId id="327" r:id="rId29"/>
    <p:sldId id="269"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8A6CED-1AF8-E4F7-4CC3-FE1BB864B11C}" v="228" dt="2026-01-06T16:07:27.121"/>
    <p1510:client id="{5176182D-68B4-3341-B46D-D574CE8C1DA0}" v="173" dt="2026-01-06T14:45:56.735"/>
    <p1510:client id="{ABF944E8-48CB-4545-9F6B-5F76DB5176E4}" v="263" dt="2026-01-06T15:04:21.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94212"/>
  </p:normalViewPr>
  <p:slideViewPr>
    <p:cSldViewPr snapToGrid="0">
      <p:cViewPr varScale="1">
        <p:scale>
          <a:sx n="117" d="100"/>
          <a:sy n="117" d="100"/>
        </p:scale>
        <p:origin x="7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1/7/26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1/7/26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3</a:t>
            </a:fld>
            <a:endParaRPr lang="en-US"/>
          </a:p>
        </p:txBody>
      </p:sp>
    </p:spTree>
    <p:extLst>
      <p:ext uri="{BB962C8B-B14F-4D97-AF65-F5344CB8AC3E}">
        <p14:creationId xmlns:p14="http://schemas.microsoft.com/office/powerpoint/2010/main" val="2932659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Việt Nam có đường bờ biển dài với điều kiện tự nhiên thuận lợi cho nuôi trồng thủy sản. Trong đó, cá giò và hàu là hai đối tượng nuôi có giá trị kinh tế cao, đóng vai trò quan trọng trong phát triển kinh tế biển và sinh kế người dân ven biển.</a:t>
            </a:r>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4</a:t>
            </a:fld>
            <a:endParaRPr lang="en-US"/>
          </a:p>
        </p:txBody>
      </p:sp>
    </p:spTree>
    <p:extLst>
      <p:ext uri="{BB962C8B-B14F-4D97-AF65-F5344CB8AC3E}">
        <p14:creationId xmlns:p14="http://schemas.microsoft.com/office/powerpoint/2010/main" val="2687550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Hiệu quả và tính bền vững của nuôi trồng phụ thuộc chặt chẽ vào chất lượng môi trường nước. Các thông số như oxy hòa tan, pH, nhiệt độ, độ mặn hay các chất ô nhiễm đều ảnh hưởng trực tiếp đến sức khỏe, tăng trưởng và tỷ lệ sống của cá giò và hàu.</a:t>
            </a:r>
          </a:p>
          <a:p>
            <a:r>
              <a:rPr lang="vi-VN"/>
              <a:t>Dưới tác động của biến đổi khí hậu, nước biển dâng và gia tăng các hoạt động xả thải, môi trường biển ven bờ ngày càng biến động mạnh và khó dự đoán. Các phương pháp đánh giá truyền thống thường không phản ánh được đầy đủ tính động và tính phi tuyến của hệ thống môi trường.</a:t>
            </a:r>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5</a:t>
            </a:fld>
            <a:endParaRPr lang="en-US"/>
          </a:p>
        </p:txBody>
      </p:sp>
    </p:spTree>
    <p:extLst>
      <p:ext uri="{BB962C8B-B14F-4D97-AF65-F5344CB8AC3E}">
        <p14:creationId xmlns:p14="http://schemas.microsoft.com/office/powerpoint/2010/main" val="1468416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latin typeface="Arial"/>
              <a:cs typeface="Arial"/>
            </a:endParaRPr>
          </a:p>
          <a:p>
            <a:r>
              <a:rPr lang="en-US" b="1" err="1"/>
              <a:t>Mục</a:t>
            </a:r>
            <a:r>
              <a:rPr lang="en-US" b="1"/>
              <a:t> </a:t>
            </a:r>
            <a:r>
              <a:rPr lang="en-US" b="1" err="1"/>
              <a:t>tiêu</a:t>
            </a:r>
            <a:r>
              <a:rPr lang="en-US" b="1"/>
              <a:t>:</a:t>
            </a:r>
            <a:r>
              <a:rPr lang="en-US"/>
              <a:t> </a:t>
            </a:r>
            <a:r>
              <a:rPr lang="en-US" err="1"/>
              <a:t>Môi</a:t>
            </a:r>
            <a:r>
              <a:rPr lang="en-US"/>
              <a:t> </a:t>
            </a:r>
            <a:r>
              <a:rPr lang="en-US" err="1"/>
              <a:t>trường</a:t>
            </a:r>
            <a:r>
              <a:rPr lang="en-US"/>
              <a:t> </a:t>
            </a:r>
            <a:r>
              <a:rPr lang="en-US" err="1"/>
              <a:t>biển</a:t>
            </a:r>
            <a:r>
              <a:rPr lang="en-US"/>
              <a:t> </a:t>
            </a:r>
            <a:r>
              <a:rPr lang="en-US" err="1"/>
              <a:t>ven</a:t>
            </a:r>
            <a:r>
              <a:rPr lang="en-US"/>
              <a:t> </a:t>
            </a:r>
            <a:r>
              <a:rPr lang="en-US" err="1"/>
              <a:t>bờ</a:t>
            </a:r>
            <a:r>
              <a:rPr lang="en-US"/>
              <a:t> Việt Nam </a:t>
            </a:r>
            <a:r>
              <a:rPr lang="en-US" err="1"/>
              <a:t>đóng</a:t>
            </a:r>
            <a:r>
              <a:rPr lang="en-US"/>
              <a:t> </a:t>
            </a:r>
            <a:r>
              <a:rPr lang="en-US" err="1"/>
              <a:t>vai</a:t>
            </a:r>
            <a:r>
              <a:rPr lang="en-US"/>
              <a:t> </a:t>
            </a:r>
            <a:r>
              <a:rPr lang="en-US" err="1"/>
              <a:t>trò</a:t>
            </a:r>
            <a:r>
              <a:rPr lang="en-US"/>
              <a:t> </a:t>
            </a:r>
            <a:r>
              <a:rPr lang="en-US" err="1"/>
              <a:t>quan</a:t>
            </a:r>
            <a:r>
              <a:rPr lang="en-US"/>
              <a:t> </a:t>
            </a:r>
            <a:r>
              <a:rPr lang="en-US" err="1"/>
              <a:t>trọng</a:t>
            </a:r>
            <a:r>
              <a:rPr lang="en-US"/>
              <a:t> </a:t>
            </a:r>
            <a:r>
              <a:rPr lang="en-US" err="1"/>
              <a:t>trong</a:t>
            </a:r>
            <a:r>
              <a:rPr lang="en-US"/>
              <a:t> </a:t>
            </a:r>
            <a:r>
              <a:rPr lang="en-US" err="1"/>
              <a:t>nuôi</a:t>
            </a:r>
            <a:r>
              <a:rPr lang="en-US"/>
              <a:t> </a:t>
            </a:r>
            <a:r>
              <a:rPr lang="en-US" err="1"/>
              <a:t>trồng</a:t>
            </a:r>
            <a:r>
              <a:rPr lang="en-US"/>
              <a:t> </a:t>
            </a:r>
            <a:r>
              <a:rPr lang="en-US" err="1"/>
              <a:t>cá</a:t>
            </a:r>
            <a:r>
              <a:rPr lang="en-US"/>
              <a:t> </a:t>
            </a:r>
            <a:r>
              <a:rPr lang="en-US" err="1"/>
              <a:t>giò</a:t>
            </a:r>
            <a:r>
              <a:rPr lang="en-US"/>
              <a:t> </a:t>
            </a:r>
            <a:r>
              <a:rPr lang="en-US" err="1"/>
              <a:t>và</a:t>
            </a:r>
            <a:r>
              <a:rPr lang="en-US"/>
              <a:t> </a:t>
            </a:r>
            <a:r>
              <a:rPr lang="en-US" err="1"/>
              <a:t>hàu</a:t>
            </a:r>
            <a:r>
              <a:rPr lang="en-US"/>
              <a:t>, </a:t>
            </a:r>
            <a:r>
              <a:rPr lang="en-US" err="1"/>
              <a:t>nhưng</a:t>
            </a:r>
            <a:r>
              <a:rPr lang="en-US"/>
              <a:t> </a:t>
            </a:r>
            <a:r>
              <a:rPr lang="en-US" err="1"/>
              <a:t>chịu</a:t>
            </a:r>
            <a:r>
              <a:rPr lang="en-US"/>
              <a:t> </a:t>
            </a:r>
            <a:r>
              <a:rPr lang="en-US" err="1"/>
              <a:t>ảnh</a:t>
            </a:r>
            <a:r>
              <a:rPr lang="en-US"/>
              <a:t> </a:t>
            </a:r>
            <a:r>
              <a:rPr lang="en-US" err="1"/>
              <a:t>hưởng</a:t>
            </a:r>
            <a:r>
              <a:rPr lang="en-US"/>
              <a:t> </a:t>
            </a:r>
            <a:r>
              <a:rPr lang="en-US" err="1"/>
              <a:t>lớn</a:t>
            </a:r>
            <a:r>
              <a:rPr lang="en-US"/>
              <a:t> </a:t>
            </a:r>
            <a:r>
              <a:rPr lang="en-US" err="1"/>
              <a:t>từ</a:t>
            </a:r>
            <a:r>
              <a:rPr lang="en-US"/>
              <a:t> </a:t>
            </a:r>
            <a:r>
              <a:rPr lang="en-US" err="1"/>
              <a:t>các</a:t>
            </a:r>
            <a:r>
              <a:rPr lang="en-US"/>
              <a:t> </a:t>
            </a:r>
            <a:r>
              <a:rPr lang="en-US" err="1"/>
              <a:t>yếu</a:t>
            </a:r>
            <a:r>
              <a:rPr lang="en-US"/>
              <a:t> </a:t>
            </a:r>
            <a:r>
              <a:rPr lang="en-US" err="1"/>
              <a:t>tố</a:t>
            </a:r>
            <a:r>
              <a:rPr lang="en-US"/>
              <a:t> </a:t>
            </a:r>
            <a:r>
              <a:rPr lang="en-US" err="1"/>
              <a:t>như</a:t>
            </a:r>
            <a:r>
              <a:rPr lang="en-US"/>
              <a:t> pH, </a:t>
            </a:r>
            <a:r>
              <a:rPr lang="en-US" err="1"/>
              <a:t>độ</a:t>
            </a:r>
            <a:r>
              <a:rPr lang="en-US"/>
              <a:t> </a:t>
            </a:r>
            <a:r>
              <a:rPr lang="en-US" err="1"/>
              <a:t>mặn</a:t>
            </a:r>
            <a:r>
              <a:rPr lang="en-US"/>
              <a:t>, DO, NH₃, H₂S </a:t>
            </a:r>
            <a:r>
              <a:rPr lang="en-US" err="1"/>
              <a:t>và</a:t>
            </a:r>
            <a:r>
              <a:rPr lang="en-US"/>
              <a:t> </a:t>
            </a:r>
            <a:r>
              <a:rPr lang="en-US" err="1"/>
              <a:t>biến</a:t>
            </a:r>
            <a:r>
              <a:rPr lang="en-US"/>
              <a:t> </a:t>
            </a:r>
            <a:r>
              <a:rPr lang="en-US" err="1"/>
              <a:t>đổi</a:t>
            </a:r>
            <a:r>
              <a:rPr lang="en-US"/>
              <a:t> </a:t>
            </a:r>
            <a:r>
              <a:rPr lang="en-US" err="1"/>
              <a:t>khí</a:t>
            </a:r>
            <a:r>
              <a:rPr lang="en-US"/>
              <a:t> </a:t>
            </a:r>
            <a:r>
              <a:rPr lang="en-US" err="1"/>
              <a:t>hậu</a:t>
            </a:r>
            <a:r>
              <a:rPr lang="en-US"/>
              <a:t>. </a:t>
            </a:r>
            <a:r>
              <a:rPr lang="en-US" err="1"/>
              <a:t>Sự</a:t>
            </a:r>
            <a:r>
              <a:rPr lang="en-US"/>
              <a:t> </a:t>
            </a:r>
            <a:r>
              <a:rPr lang="en-US" err="1"/>
              <a:t>biến</a:t>
            </a:r>
            <a:r>
              <a:rPr lang="en-US"/>
              <a:t> </a:t>
            </a:r>
            <a:r>
              <a:rPr lang="en-US" err="1"/>
              <a:t>động</a:t>
            </a:r>
            <a:r>
              <a:rPr lang="en-US"/>
              <a:t> </a:t>
            </a:r>
            <a:r>
              <a:rPr lang="en-US" err="1"/>
              <a:t>khó</a:t>
            </a:r>
            <a:r>
              <a:rPr lang="en-US"/>
              <a:t> </a:t>
            </a:r>
            <a:r>
              <a:rPr lang="en-US" err="1"/>
              <a:t>lường</a:t>
            </a:r>
            <a:r>
              <a:rPr lang="en-US"/>
              <a:t> </a:t>
            </a:r>
            <a:r>
              <a:rPr lang="en-US" err="1"/>
              <a:t>của</a:t>
            </a:r>
            <a:r>
              <a:rPr lang="en-US"/>
              <a:t> </a:t>
            </a:r>
            <a:r>
              <a:rPr lang="en-US" err="1"/>
              <a:t>các</a:t>
            </a:r>
            <a:r>
              <a:rPr lang="en-US"/>
              <a:t> </a:t>
            </a:r>
            <a:r>
              <a:rPr lang="en-US" err="1"/>
              <a:t>yếu</a:t>
            </a:r>
            <a:r>
              <a:rPr lang="en-US"/>
              <a:t> </a:t>
            </a:r>
            <a:r>
              <a:rPr lang="en-US" err="1"/>
              <a:t>tố</a:t>
            </a:r>
            <a:r>
              <a:rPr lang="en-US"/>
              <a:t> </a:t>
            </a:r>
            <a:r>
              <a:rPr lang="en-US" err="1"/>
              <a:t>này</a:t>
            </a:r>
            <a:r>
              <a:rPr lang="en-US"/>
              <a:t> </a:t>
            </a:r>
            <a:r>
              <a:rPr lang="en-US" err="1"/>
              <a:t>gây</a:t>
            </a:r>
            <a:r>
              <a:rPr lang="en-US"/>
              <a:t> </a:t>
            </a:r>
            <a:r>
              <a:rPr lang="en-US" err="1"/>
              <a:t>rủi</a:t>
            </a:r>
            <a:r>
              <a:rPr lang="en-US"/>
              <a:t> </a:t>
            </a:r>
            <a:r>
              <a:rPr lang="en-US" err="1"/>
              <a:t>ro</a:t>
            </a:r>
            <a:r>
              <a:rPr lang="en-US"/>
              <a:t> </a:t>
            </a:r>
            <a:r>
              <a:rPr lang="en-US" err="1"/>
              <a:t>cho</a:t>
            </a:r>
            <a:r>
              <a:rPr lang="en-US"/>
              <a:t> </a:t>
            </a:r>
            <a:r>
              <a:rPr lang="en-US" err="1"/>
              <a:t>sức</a:t>
            </a:r>
            <a:r>
              <a:rPr lang="en-US"/>
              <a:t> </a:t>
            </a:r>
            <a:r>
              <a:rPr lang="en-US" err="1"/>
              <a:t>khỏe</a:t>
            </a:r>
            <a:r>
              <a:rPr lang="en-US"/>
              <a:t> </a:t>
            </a:r>
            <a:r>
              <a:rPr lang="en-US" err="1"/>
              <a:t>và</a:t>
            </a:r>
            <a:r>
              <a:rPr lang="en-US"/>
              <a:t> </a:t>
            </a:r>
            <a:r>
              <a:rPr lang="en-US" err="1"/>
              <a:t>năng</a:t>
            </a:r>
            <a:r>
              <a:rPr lang="en-US"/>
              <a:t> </a:t>
            </a:r>
            <a:r>
              <a:rPr lang="en-US" err="1"/>
              <a:t>suất</a:t>
            </a:r>
            <a:r>
              <a:rPr lang="en-US"/>
              <a:t> </a:t>
            </a:r>
            <a:r>
              <a:rPr lang="en-US" err="1"/>
              <a:t>nuôi</a:t>
            </a:r>
            <a:r>
              <a:rPr lang="en-US"/>
              <a:t> </a:t>
            </a:r>
            <a:r>
              <a:rPr lang="en-US" err="1"/>
              <a:t>trồng</a:t>
            </a:r>
            <a:r>
              <a:rPr lang="en-US"/>
              <a:t>. </a:t>
            </a:r>
            <a:r>
              <a:rPr lang="en-US" err="1"/>
              <a:t>Đề</a:t>
            </a:r>
            <a:r>
              <a:rPr lang="en-US"/>
              <a:t> </a:t>
            </a:r>
            <a:r>
              <a:rPr lang="en-US" err="1"/>
              <a:t>tài</a:t>
            </a:r>
            <a:r>
              <a:rPr lang="en-US"/>
              <a:t> </a:t>
            </a:r>
            <a:r>
              <a:rPr lang="en-US" err="1"/>
              <a:t>hướng</a:t>
            </a:r>
            <a:r>
              <a:rPr lang="en-US"/>
              <a:t> </a:t>
            </a:r>
            <a:r>
              <a:rPr lang="en-US" err="1"/>
              <a:t>đến</a:t>
            </a:r>
            <a:r>
              <a:rPr lang="en-US"/>
              <a:t> </a:t>
            </a:r>
            <a:r>
              <a:rPr lang="en-US" err="1"/>
              <a:t>ứng</a:t>
            </a:r>
            <a:r>
              <a:rPr lang="en-US"/>
              <a:t> </a:t>
            </a:r>
            <a:r>
              <a:rPr lang="en-US" err="1"/>
              <a:t>dụng</a:t>
            </a:r>
            <a:r>
              <a:rPr lang="en-US"/>
              <a:t> </a:t>
            </a:r>
            <a:r>
              <a:rPr lang="en-US" err="1"/>
              <a:t>học</a:t>
            </a:r>
            <a:r>
              <a:rPr lang="en-US"/>
              <a:t> </a:t>
            </a:r>
            <a:r>
              <a:rPr lang="en-US" err="1"/>
              <a:t>máy</a:t>
            </a:r>
            <a:r>
              <a:rPr lang="en-US"/>
              <a:t> </a:t>
            </a:r>
            <a:r>
              <a:rPr lang="en-US" err="1"/>
              <a:t>để</a:t>
            </a:r>
            <a:r>
              <a:rPr lang="en-US"/>
              <a:t> </a:t>
            </a:r>
            <a:r>
              <a:rPr lang="en-US" err="1"/>
              <a:t>phân</a:t>
            </a:r>
            <a:r>
              <a:rPr lang="en-US"/>
              <a:t> </a:t>
            </a:r>
            <a:r>
              <a:rPr lang="en-US" err="1"/>
              <a:t>tích</a:t>
            </a:r>
            <a:r>
              <a:rPr lang="en-US"/>
              <a:t> </a:t>
            </a:r>
            <a:r>
              <a:rPr lang="en-US" err="1"/>
              <a:t>dữ</a:t>
            </a:r>
            <a:r>
              <a:rPr lang="en-US"/>
              <a:t> </a:t>
            </a:r>
            <a:r>
              <a:rPr lang="en-US" err="1"/>
              <a:t>liệu</a:t>
            </a:r>
            <a:r>
              <a:rPr lang="en-US"/>
              <a:t> </a:t>
            </a:r>
            <a:r>
              <a:rPr lang="en-US" err="1"/>
              <a:t>quan</a:t>
            </a:r>
            <a:r>
              <a:rPr lang="en-US"/>
              <a:t> </a:t>
            </a:r>
            <a:r>
              <a:rPr lang="en-US" err="1"/>
              <a:t>trắc</a:t>
            </a:r>
            <a:r>
              <a:rPr lang="en-US"/>
              <a:t>, </a:t>
            </a:r>
            <a:r>
              <a:rPr lang="en-US" err="1"/>
              <a:t>dự</a:t>
            </a:r>
            <a:r>
              <a:rPr lang="en-US"/>
              <a:t> </a:t>
            </a:r>
            <a:r>
              <a:rPr lang="en-US" err="1"/>
              <a:t>báo</a:t>
            </a:r>
            <a:r>
              <a:rPr lang="en-US"/>
              <a:t> </a:t>
            </a:r>
            <a:r>
              <a:rPr lang="en-US" err="1"/>
              <a:t>sớm</a:t>
            </a:r>
            <a:r>
              <a:rPr lang="en-US"/>
              <a:t> </a:t>
            </a:r>
            <a:r>
              <a:rPr lang="en-US" err="1"/>
              <a:t>rủi</a:t>
            </a:r>
            <a:r>
              <a:rPr lang="en-US"/>
              <a:t> </a:t>
            </a:r>
            <a:r>
              <a:rPr lang="en-US" err="1"/>
              <a:t>ro</a:t>
            </a:r>
            <a:r>
              <a:rPr lang="en-US"/>
              <a:t> </a:t>
            </a:r>
            <a:r>
              <a:rPr lang="en-US" err="1"/>
              <a:t>môi</a:t>
            </a:r>
            <a:r>
              <a:rPr lang="en-US"/>
              <a:t> </a:t>
            </a:r>
            <a:r>
              <a:rPr lang="en-US" err="1"/>
              <a:t>trường</a:t>
            </a:r>
            <a:r>
              <a:rPr lang="en-US"/>
              <a:t> </a:t>
            </a:r>
            <a:r>
              <a:rPr lang="en-US" err="1"/>
              <a:t>và</a:t>
            </a:r>
            <a:r>
              <a:rPr lang="en-US"/>
              <a:t> </a:t>
            </a:r>
            <a:r>
              <a:rPr lang="en-US" err="1"/>
              <a:t>xác</a:t>
            </a:r>
            <a:r>
              <a:rPr lang="en-US"/>
              <a:t> </a:t>
            </a:r>
            <a:r>
              <a:rPr lang="en-US" err="1"/>
              <a:t>định</a:t>
            </a:r>
            <a:r>
              <a:rPr lang="en-US"/>
              <a:t> </a:t>
            </a:r>
            <a:r>
              <a:rPr lang="en-US" err="1"/>
              <a:t>vùng</a:t>
            </a:r>
            <a:r>
              <a:rPr lang="en-US"/>
              <a:t> </a:t>
            </a:r>
            <a:r>
              <a:rPr lang="en-US" err="1"/>
              <a:t>nuôi</a:t>
            </a:r>
            <a:r>
              <a:rPr lang="en-US"/>
              <a:t> </a:t>
            </a:r>
            <a:r>
              <a:rPr lang="en-US" err="1"/>
              <a:t>tối</a:t>
            </a:r>
            <a:r>
              <a:rPr lang="en-US"/>
              <a:t> </a:t>
            </a:r>
            <a:r>
              <a:rPr lang="en-US" err="1"/>
              <a:t>ưu</a:t>
            </a:r>
            <a:r>
              <a:rPr lang="en-US"/>
              <a:t>, </a:t>
            </a:r>
            <a:r>
              <a:rPr lang="en-US" err="1"/>
              <a:t>góp</a:t>
            </a:r>
            <a:r>
              <a:rPr lang="en-US"/>
              <a:t> </a:t>
            </a:r>
            <a:r>
              <a:rPr lang="en-US" err="1"/>
              <a:t>phần</a:t>
            </a:r>
            <a:r>
              <a:rPr lang="en-US"/>
              <a:t> </a:t>
            </a:r>
            <a:r>
              <a:rPr lang="en-US" err="1"/>
              <a:t>hỗ</a:t>
            </a:r>
            <a:r>
              <a:rPr lang="en-US"/>
              <a:t> </a:t>
            </a:r>
            <a:r>
              <a:rPr lang="en-US" err="1"/>
              <a:t>trợ</a:t>
            </a:r>
            <a:r>
              <a:rPr lang="en-US"/>
              <a:t> </a:t>
            </a:r>
            <a:r>
              <a:rPr lang="en-US" err="1"/>
              <a:t>quản</a:t>
            </a:r>
            <a:r>
              <a:rPr lang="en-US"/>
              <a:t> </a:t>
            </a:r>
            <a:r>
              <a:rPr lang="en-US" err="1"/>
              <a:t>lý</a:t>
            </a:r>
            <a:r>
              <a:rPr lang="en-US"/>
              <a:t> </a:t>
            </a:r>
            <a:r>
              <a:rPr lang="en-US" err="1"/>
              <a:t>bền</a:t>
            </a:r>
            <a:r>
              <a:rPr lang="en-US"/>
              <a:t> </a:t>
            </a:r>
            <a:r>
              <a:rPr lang="en-US" err="1"/>
              <a:t>vững</a:t>
            </a:r>
            <a:r>
              <a:rPr lang="en-US"/>
              <a:t> </a:t>
            </a:r>
            <a:r>
              <a:rPr lang="en-US" err="1"/>
              <a:t>và</a:t>
            </a:r>
            <a:r>
              <a:rPr lang="en-US"/>
              <a:t> </a:t>
            </a:r>
            <a:r>
              <a:rPr lang="en-US" err="1"/>
              <a:t>ra</a:t>
            </a:r>
            <a:r>
              <a:rPr lang="en-US"/>
              <a:t> </a:t>
            </a:r>
            <a:r>
              <a:rPr lang="en-US" err="1"/>
              <a:t>quyết</a:t>
            </a:r>
            <a:r>
              <a:rPr lang="en-US"/>
              <a:t> </a:t>
            </a:r>
            <a:r>
              <a:rPr lang="en-US" err="1"/>
              <a:t>định</a:t>
            </a:r>
            <a:r>
              <a:rPr lang="en-US"/>
              <a:t> </a:t>
            </a:r>
            <a:r>
              <a:rPr lang="en-US" err="1"/>
              <a:t>kịp</a:t>
            </a:r>
            <a:r>
              <a:rPr lang="en-US"/>
              <a:t> </a:t>
            </a:r>
            <a:r>
              <a:rPr lang="en-US" err="1"/>
              <a:t>thời</a:t>
            </a:r>
            <a:r>
              <a:rPr lang="en-US"/>
              <a:t>.</a:t>
            </a:r>
            <a:endParaRPr lang="vi-VN"/>
          </a:p>
          <a:p>
            <a:endParaRPr lang="vi-VN">
              <a:latin typeface="Arial"/>
              <a:cs typeface="Arial"/>
            </a:endParaRPr>
          </a:p>
          <a:p>
            <a:r>
              <a:rPr lang="vi-VN">
                <a:latin typeface="Arial"/>
                <a:cs typeface="Arial"/>
              </a:rPr>
              <a:t>Trong khuôn khổ dự án, nhóm xây dựng một quy trình hoàn chỉnh từ tiền xử lý dữ liệu, dự báo các yếu tố môi trường theo quý bằng mô hình </a:t>
            </a:r>
            <a:r>
              <a:rPr lang="vi-VN" err="1">
                <a:latin typeface="Arial"/>
                <a:cs typeface="Arial"/>
              </a:rPr>
              <a:t>XGBoost</a:t>
            </a:r>
            <a:r>
              <a:rPr lang="vi-VN">
                <a:latin typeface="Arial"/>
                <a:cs typeface="Arial"/>
              </a:rPr>
              <a:t>, đến tính toán chỉ số HSI nhằm đánh giá mức độ phù hợp sinh cảnh cho cá giò và hàu.</a:t>
            </a:r>
            <a:endParaRPr lang="en-US">
              <a:latin typeface="Arial"/>
              <a:ea typeface="Calibri"/>
              <a:cs typeface="Arial"/>
            </a:endParaRPr>
          </a:p>
          <a:p>
            <a:r>
              <a:rPr lang="vi-VN">
                <a:latin typeface="Arial"/>
                <a:cs typeface="Arial"/>
              </a:rPr>
              <a:t>Kết quả được trực quan hóa dưới dạng bản đồ, cho phép theo dõi sự thay đổi mức độ phù hợp môi trường theo không gian và thời gian. Điều này hỗ trợ hiệu quả cho công tác quản lý, quy hoạch và phát triển nuôi trồng thủy sản theo hướng bền vững.</a:t>
            </a:r>
            <a:endParaRPr lang="en-VN">
              <a:latin typeface="Arial"/>
              <a:cs typeface="Arial"/>
            </a:endParaRPr>
          </a:p>
        </p:txBody>
      </p:sp>
      <p:sp>
        <p:nvSpPr>
          <p:cNvPr id="4" name="Slide Number Placeholder 3"/>
          <p:cNvSpPr>
            <a:spLocks noGrp="1"/>
          </p:cNvSpPr>
          <p:nvPr>
            <p:ph type="sldNum" sz="quarter" idx="5"/>
          </p:nvPr>
        </p:nvSpPr>
        <p:spPr/>
        <p:txBody>
          <a:bodyPr/>
          <a:lstStyle/>
          <a:p>
            <a:fld id="{AB2FC7A4-3D1B-482D-8C9D-7642A2CE3076}" type="slidenum">
              <a:rPr lang="en-US" smtClean="0"/>
              <a:t>6</a:t>
            </a:fld>
            <a:endParaRPr lang="en-US"/>
          </a:p>
        </p:txBody>
      </p:sp>
    </p:spTree>
    <p:extLst>
      <p:ext uri="{BB962C8B-B14F-4D97-AF65-F5344CB8AC3E}">
        <p14:creationId xmlns:p14="http://schemas.microsoft.com/office/powerpoint/2010/main" val="1328890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7</a:t>
            </a:fld>
            <a:endParaRPr lang="en-US"/>
          </a:p>
        </p:txBody>
      </p:sp>
    </p:spTree>
    <p:extLst>
      <p:ext uri="{BB962C8B-B14F-4D97-AF65-F5344CB8AC3E}">
        <p14:creationId xmlns:p14="http://schemas.microsoft.com/office/powerpoint/2010/main" val="1669608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8</a:t>
            </a:fld>
            <a:endParaRPr lang="en-US"/>
          </a:p>
        </p:txBody>
      </p:sp>
    </p:spTree>
    <p:extLst>
      <p:ext uri="{BB962C8B-B14F-4D97-AF65-F5344CB8AC3E}">
        <p14:creationId xmlns:p14="http://schemas.microsoft.com/office/powerpoint/2010/main" val="4165821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9</a:t>
            </a:fld>
            <a:endParaRPr lang="en-US"/>
          </a:p>
        </p:txBody>
      </p:sp>
    </p:spTree>
    <p:extLst>
      <p:ext uri="{BB962C8B-B14F-4D97-AF65-F5344CB8AC3E}">
        <p14:creationId xmlns:p14="http://schemas.microsoft.com/office/powerpoint/2010/main" val="2617333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10</a:t>
            </a:fld>
            <a:endParaRPr lang="en-US"/>
          </a:p>
        </p:txBody>
      </p:sp>
    </p:spTree>
    <p:extLst>
      <p:ext uri="{BB962C8B-B14F-4D97-AF65-F5344CB8AC3E}">
        <p14:creationId xmlns:p14="http://schemas.microsoft.com/office/powerpoint/2010/main" val="1827870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8FEC6-3312-1FA0-7DD2-2617C3BE9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7744C-2052-BB57-4591-8A8271AAAB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6289F4-7E0E-BC98-E9F1-747F5D774C7A}"/>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DAE42B82-F262-C95C-D5FA-64041EFF2675}"/>
              </a:ext>
            </a:extLst>
          </p:cNvPr>
          <p:cNvSpPr>
            <a:spLocks noGrp="1"/>
          </p:cNvSpPr>
          <p:nvPr>
            <p:ph type="sldNum" sz="quarter" idx="5"/>
          </p:nvPr>
        </p:nvSpPr>
        <p:spPr/>
        <p:txBody>
          <a:bodyPr/>
          <a:lstStyle/>
          <a:p>
            <a:fld id="{AB2FC7A4-3D1B-482D-8C9D-7642A2CE3076}" type="slidenum">
              <a:rPr lang="en-US" smtClean="0"/>
              <a:t>11</a:t>
            </a:fld>
            <a:endParaRPr lang="en-US"/>
          </a:p>
        </p:txBody>
      </p:sp>
    </p:spTree>
    <p:extLst>
      <p:ext uri="{BB962C8B-B14F-4D97-AF65-F5344CB8AC3E}">
        <p14:creationId xmlns:p14="http://schemas.microsoft.com/office/powerpoint/2010/main" val="22475973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9C32D-3B33-BB63-6C0B-8FD9EB56B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1CAE84-E31A-E2C2-7F52-22A7A3C08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6A32BE-F8B2-0643-4060-D4AEA8A9C44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60C228E-FBF0-CF09-956E-13E147246B79}"/>
              </a:ext>
            </a:extLst>
          </p:cNvPr>
          <p:cNvSpPr>
            <a:spLocks noGrp="1"/>
          </p:cNvSpPr>
          <p:nvPr>
            <p:ph type="sldNum" sz="quarter" idx="5"/>
          </p:nvPr>
        </p:nvSpPr>
        <p:spPr/>
        <p:txBody>
          <a:bodyPr/>
          <a:lstStyle/>
          <a:p>
            <a:fld id="{AB2FC7A4-3D1B-482D-8C9D-7642A2CE3076}" type="slidenum">
              <a:rPr lang="en-US" smtClean="0"/>
              <a:t>12</a:t>
            </a:fld>
            <a:endParaRPr lang="en-US"/>
          </a:p>
        </p:txBody>
      </p:sp>
    </p:spTree>
    <p:extLst>
      <p:ext uri="{BB962C8B-B14F-4D97-AF65-F5344CB8AC3E}">
        <p14:creationId xmlns:p14="http://schemas.microsoft.com/office/powerpoint/2010/main" val="2743456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5F76B-5EA5-E8B6-17BC-7B76C1E10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EF573-9018-11DB-D27B-46829C713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C39AA-9CBA-5552-A369-69C5A6D92A7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20D8584-CA39-C3C3-823D-53E23851FE4E}"/>
              </a:ext>
            </a:extLst>
          </p:cNvPr>
          <p:cNvSpPr>
            <a:spLocks noGrp="1"/>
          </p:cNvSpPr>
          <p:nvPr>
            <p:ph type="sldNum" sz="quarter" idx="5"/>
          </p:nvPr>
        </p:nvSpPr>
        <p:spPr/>
        <p:txBody>
          <a:bodyPr/>
          <a:lstStyle/>
          <a:p>
            <a:fld id="{AB2FC7A4-3D1B-482D-8C9D-7642A2CE3076}" type="slidenum">
              <a:rPr lang="en-US" smtClean="0"/>
              <a:t>13</a:t>
            </a:fld>
            <a:endParaRPr lang="en-US"/>
          </a:p>
        </p:txBody>
      </p:sp>
    </p:spTree>
    <p:extLst>
      <p:ext uri="{BB962C8B-B14F-4D97-AF65-F5344CB8AC3E}">
        <p14:creationId xmlns:p14="http://schemas.microsoft.com/office/powerpoint/2010/main" val="4263975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40BF6-8096-B84D-7BDC-DD0F15143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A467A-F621-C467-4A49-09A842B07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0C9326-AB51-4B14-A5A7-105D1B3C5E2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73F31B0-EC08-3EF9-1D93-29E3B2B3BA87}"/>
              </a:ext>
            </a:extLst>
          </p:cNvPr>
          <p:cNvSpPr>
            <a:spLocks noGrp="1"/>
          </p:cNvSpPr>
          <p:nvPr>
            <p:ph type="sldNum" sz="quarter" idx="5"/>
          </p:nvPr>
        </p:nvSpPr>
        <p:spPr/>
        <p:txBody>
          <a:bodyPr/>
          <a:lstStyle/>
          <a:p>
            <a:fld id="{AB2FC7A4-3D1B-482D-8C9D-7642A2CE3076}" type="slidenum">
              <a:rPr lang="en-US" smtClean="0"/>
              <a:t>14</a:t>
            </a:fld>
            <a:endParaRPr lang="en-US"/>
          </a:p>
        </p:txBody>
      </p:sp>
    </p:spTree>
    <p:extLst>
      <p:ext uri="{BB962C8B-B14F-4D97-AF65-F5344CB8AC3E}">
        <p14:creationId xmlns:p14="http://schemas.microsoft.com/office/powerpoint/2010/main" val="3815582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15</a:t>
            </a:fld>
            <a:endParaRPr lang="en-US"/>
          </a:p>
        </p:txBody>
      </p:sp>
    </p:spTree>
    <p:extLst>
      <p:ext uri="{BB962C8B-B14F-4D97-AF65-F5344CB8AC3E}">
        <p14:creationId xmlns:p14="http://schemas.microsoft.com/office/powerpoint/2010/main" val="2594320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5C4AB-7E0E-44EA-5928-FC0C78A76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663B5-3130-0DBA-77D8-7DAE075920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CC3002-6ED0-5702-C993-896C9FC54C7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1DC2323-DDAC-EF63-D03A-9C76704671A6}"/>
              </a:ext>
            </a:extLst>
          </p:cNvPr>
          <p:cNvSpPr>
            <a:spLocks noGrp="1"/>
          </p:cNvSpPr>
          <p:nvPr>
            <p:ph type="sldNum" sz="quarter" idx="5"/>
          </p:nvPr>
        </p:nvSpPr>
        <p:spPr/>
        <p:txBody>
          <a:bodyPr/>
          <a:lstStyle/>
          <a:p>
            <a:fld id="{AB2FC7A4-3D1B-482D-8C9D-7642A2CE3076}" type="slidenum">
              <a:rPr lang="en-US" smtClean="0"/>
              <a:t>16</a:t>
            </a:fld>
            <a:endParaRPr lang="en-US"/>
          </a:p>
        </p:txBody>
      </p:sp>
    </p:spTree>
    <p:extLst>
      <p:ext uri="{BB962C8B-B14F-4D97-AF65-F5344CB8AC3E}">
        <p14:creationId xmlns:p14="http://schemas.microsoft.com/office/powerpoint/2010/main" val="568930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AA6C-5949-3296-C33F-E7727DDC7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536D19-9A05-398B-631C-914F4E727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2AC0C4-BC29-04F4-1E49-1633D7F30E0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847E50A-FF83-FF40-28A6-7AA31D24D898}"/>
              </a:ext>
            </a:extLst>
          </p:cNvPr>
          <p:cNvSpPr>
            <a:spLocks noGrp="1"/>
          </p:cNvSpPr>
          <p:nvPr>
            <p:ph type="sldNum" sz="quarter" idx="5"/>
          </p:nvPr>
        </p:nvSpPr>
        <p:spPr/>
        <p:txBody>
          <a:bodyPr/>
          <a:lstStyle/>
          <a:p>
            <a:fld id="{AB2FC7A4-3D1B-482D-8C9D-7642A2CE3076}" type="slidenum">
              <a:rPr lang="en-US" smtClean="0"/>
              <a:t>17</a:t>
            </a:fld>
            <a:endParaRPr lang="en-US"/>
          </a:p>
        </p:txBody>
      </p:sp>
    </p:spTree>
    <p:extLst>
      <p:ext uri="{BB962C8B-B14F-4D97-AF65-F5344CB8AC3E}">
        <p14:creationId xmlns:p14="http://schemas.microsoft.com/office/powerpoint/2010/main" val="1244719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18</a:t>
            </a:fld>
            <a:endParaRPr lang="en-US"/>
          </a:p>
        </p:txBody>
      </p:sp>
    </p:spTree>
    <p:extLst>
      <p:ext uri="{BB962C8B-B14F-4D97-AF65-F5344CB8AC3E}">
        <p14:creationId xmlns:p14="http://schemas.microsoft.com/office/powerpoint/2010/main" val="1742783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19</a:t>
            </a:fld>
            <a:endParaRPr lang="en-US"/>
          </a:p>
        </p:txBody>
      </p:sp>
    </p:spTree>
    <p:extLst>
      <p:ext uri="{BB962C8B-B14F-4D97-AF65-F5344CB8AC3E}">
        <p14:creationId xmlns:p14="http://schemas.microsoft.com/office/powerpoint/2010/main" val="3603976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1AF37-2F4A-3FCB-4E7D-195CD1CD8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3D96F2-A292-C067-028D-7F164688A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4E5DE0-7C9D-2DC6-C992-3A341065BE2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F13660E-1743-7F41-C28C-9B2871E8BD9F}"/>
              </a:ext>
            </a:extLst>
          </p:cNvPr>
          <p:cNvSpPr>
            <a:spLocks noGrp="1"/>
          </p:cNvSpPr>
          <p:nvPr>
            <p:ph type="sldNum" sz="quarter" idx="5"/>
          </p:nvPr>
        </p:nvSpPr>
        <p:spPr/>
        <p:txBody>
          <a:bodyPr/>
          <a:lstStyle/>
          <a:p>
            <a:fld id="{AB2FC7A4-3D1B-482D-8C9D-7642A2CE3076}" type="slidenum">
              <a:rPr lang="en-US" smtClean="0"/>
              <a:t>20</a:t>
            </a:fld>
            <a:endParaRPr lang="en-US"/>
          </a:p>
        </p:txBody>
      </p:sp>
    </p:spTree>
    <p:extLst>
      <p:ext uri="{BB962C8B-B14F-4D97-AF65-F5344CB8AC3E}">
        <p14:creationId xmlns:p14="http://schemas.microsoft.com/office/powerpoint/2010/main" val="22016065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21</a:t>
            </a:fld>
            <a:endParaRPr lang="en-US"/>
          </a:p>
        </p:txBody>
      </p:sp>
    </p:spTree>
    <p:extLst>
      <p:ext uri="{BB962C8B-B14F-4D97-AF65-F5344CB8AC3E}">
        <p14:creationId xmlns:p14="http://schemas.microsoft.com/office/powerpoint/2010/main" val="39824917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Việc xác định bán kính ảnh hưởng dựa trên giả thiết rằng các trạm có vị trí địa lý gần nhau sẽ có điều</a:t>
            </a:r>
          </a:p>
          <a:p>
            <a:r>
              <a:rPr lang="vi-VN"/>
              <a:t>kiện sinh thái tương đồng hơn so với các trạm ở xa. Mức độ tương đồng sinh thái được đo lường thông</a:t>
            </a:r>
          </a:p>
          <a:p>
            <a:r>
              <a:rPr lang="vi-VN"/>
              <a:t>qua chỉ số phù hợp sinh cảnh (HSI). Khi khoảng cách giữa hai trạm tăng lên, độ chênh lệch HSI giữa</a:t>
            </a:r>
          </a:p>
          <a:p>
            <a:r>
              <a:rPr lang="vi-VN"/>
              <a:t>chúng có xu hướng tăng, phản ánh sự suy giảm tương đồng sinh thái theo không gian.</a:t>
            </a:r>
          </a:p>
          <a:p>
            <a:r>
              <a:rPr lang="vi-VN"/>
              <a:t>Đối với mỗi trạm trung tâm i tại một quý xác định, nghiên cứu xem xét tất cả các trạm còn lại j trong</a:t>
            </a:r>
          </a:p>
          <a:p>
            <a:r>
              <a:rPr lang="vi-VN"/>
              <a:t>cùng quý và tính:</a:t>
            </a:r>
          </a:p>
          <a:p>
            <a:r>
              <a:rPr lang="vi-VN"/>
              <a:t>• Khoảng cách không gian dij giữa hai trạm, được tính từ tọa độ phẳng VN2000 theo công thức</a:t>
            </a:r>
          </a:p>
          <a:p>
            <a:r>
              <a:rPr lang="vi-VN"/>
              <a:t>Euclid:</a:t>
            </a:r>
          </a:p>
          <a:p>
            <a:r>
              <a:rPr lang="vi-VN"/>
              <a:t>trong đó x, y là tọa độ theo đơn vị mét và dij được quy đổi sang kilômét.</a:t>
            </a:r>
          </a:p>
          <a:p>
            <a:r>
              <a:rPr lang="vi-VN"/>
              <a:t>• Độ chênh lệch sinh thái giữa hai trạm:</a:t>
            </a:r>
          </a:p>
          <a:p>
            <a:r>
              <a:rPr lang="vi-VN"/>
              <a:t>∆HSIij = |HSIi − HSIj |</a:t>
            </a:r>
          </a:p>
          <a:p>
            <a:endParaRPr lang="vi-VN"/>
          </a:p>
          <a:p>
            <a:r>
              <a:rPr lang="vi-VN"/>
              <a:t>4.2.2 Phân tích suy giảm tương đồng theo khoảng cách</a:t>
            </a:r>
          </a:p>
          <a:p>
            <a:r>
              <a:rPr lang="vi-VN"/>
              <a:t>Các cặp trạm (i, j) được gom theo các khoảng cách rời rạc (bins) với độ rộng cố định, trong nghiên cứu</a:t>
            </a:r>
          </a:p>
          <a:p>
            <a:r>
              <a:rPr lang="vi-VN"/>
              <a:t>này là 1 km. Với mỗi khoảng cách h, giá trị độ chênh lệch HSI trung bình được tính như sau:</a:t>
            </a:r>
          </a:p>
          <a:p>
            <a:r>
              <a:rPr lang="vi-VN"/>
              <a:t>trong đó N (h) là số cặp trạm có khoảng cách nằm trong khoảng h.</a:t>
            </a:r>
          </a:p>
          <a:p>
            <a:r>
              <a:rPr lang="vi-VN"/>
              <a:t>Việc gom theo khoảng cách giúp làm trơn dữ liệu, giảm ảnh hưởng của nhiễu cục bộ và phản ánh xu</a:t>
            </a:r>
          </a:p>
          <a:p>
            <a:r>
              <a:rPr lang="vi-VN"/>
              <a:t>hướng chung của sự suy giảm tương đồng sinh thái theo không gian.</a:t>
            </a:r>
          </a:p>
          <a:p>
            <a:endParaRPr lang="vi-VN"/>
          </a:p>
          <a:p>
            <a:r>
              <a:rPr lang="vi-VN"/>
              <a:t>4.2.3 Ngưỡng xác định mất tương đồng sinh thái</a:t>
            </a:r>
          </a:p>
          <a:p>
            <a:r>
              <a:rPr lang="vi-VN"/>
              <a:t>Thay vì sử dụng một ngưỡng cố định cho mọi trường hợp, nghiên cứu áp dụng ngưỡng động dựa trên độ</a:t>
            </a:r>
          </a:p>
          <a:p>
            <a:r>
              <a:rPr lang="vi-VN"/>
              <a:t>phân tán của HSI trong từng quý. Cụ thể, ngưỡng chênh lệch sinh thái được xác định là:</a:t>
            </a:r>
          </a:p>
          <a:p>
            <a:r>
              <a:rPr lang="vi-VN"/>
              <a:t>∆HSIthreshold = 0.1 × </a:t>
            </a:r>
            <a:r>
              <a:rPr lang="el-GR"/>
              <a:t>σ</a:t>
            </a:r>
            <a:r>
              <a:rPr lang="vi-VN"/>
              <a:t>HSI</a:t>
            </a:r>
          </a:p>
          <a:p>
            <a:r>
              <a:rPr lang="vi-VN"/>
              <a:t>trong đó </a:t>
            </a:r>
            <a:r>
              <a:rPr lang="el-GR"/>
              <a:t>σ</a:t>
            </a:r>
            <a:r>
              <a:rPr lang="vi-VN"/>
              <a:t>HSI là độ lệch chuẩn của chỉ số HSI của tất cả các trạm trong cùng quý. Cách tiếp cận này</a:t>
            </a:r>
          </a:p>
          <a:p>
            <a:r>
              <a:rPr lang="vi-VN"/>
              <a:t>cho phép ngưỡng thích nghi với mức độ biến thiên thực tế của dữ liệu, đặc biệt trong trường hợp HSI có</a:t>
            </a:r>
          </a:p>
          <a:p>
            <a:r>
              <a:rPr lang="vi-VN"/>
              <a:t>phân phối hẹp và ít biến động.</a:t>
            </a:r>
          </a:p>
          <a:p>
            <a:endParaRPr lang="vi-VN"/>
          </a:p>
          <a:p>
            <a:r>
              <a:rPr lang="vi-VN"/>
              <a:t>4.2.4 Xác định bán kính ảnh hưởng R</a:t>
            </a:r>
          </a:p>
          <a:p>
            <a:r>
              <a:rPr lang="vi-VN"/>
              <a:t>Bán kính ảnh hưởng không gian của trạm i tại quý đang xét được xác định là khoảng cách nhỏ nhất Ri</a:t>
            </a:r>
          </a:p>
          <a:p>
            <a:r>
              <a:rPr lang="vi-VN"/>
              <a:t>sao cho:</a:t>
            </a:r>
          </a:p>
          <a:p>
            <a:r>
              <a:rPr lang="vi-VN"/>
              <a:t>∆HSI(Ri) ≥ ∆HSIthreshold</a:t>
            </a:r>
          </a:p>
          <a:p>
            <a:r>
              <a:rPr lang="vi-VN"/>
              <a:t>Nói cách khác, Ri là mốc khoảng cách mà tại đó mức độ khác biệt sinh thái trung bình giữa trạm trung</a:t>
            </a:r>
          </a:p>
          <a:p>
            <a:r>
              <a:rPr lang="vi-VN"/>
              <a:t>tâm và các trạm xung quanh vượt quá ngưỡng cho phép, cho thấy môi trường không còn tương đồng sinh</a:t>
            </a:r>
          </a:p>
          <a:p>
            <a:r>
              <a:rPr lang="vi-VN"/>
              <a:t>thái với trạm trung tâm.</a:t>
            </a:r>
          </a:p>
          <a:p>
            <a:r>
              <a:rPr lang="vi-VN"/>
              <a:t>Trong trường hợp không tồn tại khoảng cách nào thỏa mãn điều kiện trên trong phạm vi khảo sát (tối</a:t>
            </a:r>
          </a:p>
          <a:p>
            <a:r>
              <a:rPr lang="vi-VN"/>
              <a:t>đa 50 km), bán kính ảnh hưởng được gán bằng giá trị cực đại này. Điều này phản ánh rằng trong phạm</a:t>
            </a:r>
          </a:p>
          <a:p>
            <a:r>
              <a:rPr lang="vi-VN"/>
              <a:t>vi nghiên cứu, điều kiện sinh thái được dự báo là tương đối đồng nhất theo không gian.</a:t>
            </a:r>
          </a:p>
          <a:p>
            <a:r>
              <a:rPr lang="vi-VN"/>
              <a:t>Quy trình trên được áp dụng độc lập cho từng quý và từng trạm quan trắc. Kết quả là một tập hợp các</a:t>
            </a:r>
          </a:p>
          <a:p>
            <a:r>
              <a:rPr lang="vi-VN"/>
              <a:t>bán kính ảnh hưởng Ri,t cho mỗi trạm i tại từng quý t. Cách tiếp cận này cho phép phản ánh tính không</a:t>
            </a:r>
          </a:p>
          <a:p>
            <a:r>
              <a:rPr lang="vi-VN"/>
              <a:t>đồng nhất theo không gian và sự biến động theo thời gian của điều kiện môi trường, đồng thời cung cấp</a:t>
            </a:r>
          </a:p>
          <a:p>
            <a:r>
              <a:rPr lang="vi-VN"/>
              <a:t>cơ sở định lượng để biểu diễn vùng đại diện không gian của kết quả dự báo trên bản đồ</a:t>
            </a:r>
            <a:endParaRPr lang="en-VN"/>
          </a:p>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22</a:t>
            </a:fld>
            <a:endParaRPr lang="en-US"/>
          </a:p>
        </p:txBody>
      </p:sp>
    </p:spTree>
    <p:extLst>
      <p:ext uri="{BB962C8B-B14F-4D97-AF65-F5344CB8AC3E}">
        <p14:creationId xmlns:p14="http://schemas.microsoft.com/office/powerpoint/2010/main" val="157769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Quan sát đồ thị phân bố ∣</a:t>
            </a:r>
            <a:r>
              <a:rPr lang="el-GR"/>
              <a:t>Δ</a:t>
            </a:r>
            <a:r>
              <a:rPr lang="vi-VN"/>
              <a:t>HSI∣|\Delta HSI|∣</a:t>
            </a:r>
            <a:r>
              <a:rPr lang="el-GR"/>
              <a:t>Δ</a:t>
            </a:r>
            <a:r>
              <a:rPr lang="vi-VN"/>
              <a:t>HSI∣ (Hình …), có thể nhận thấy rằng đường cong tăng của ∣</a:t>
            </a:r>
            <a:r>
              <a:rPr lang="el-GR"/>
              <a:t>Δ</a:t>
            </a:r>
            <a:r>
              <a:rPr lang="vi-VN"/>
              <a:t>HSI∣|\Delta HSI|∣</a:t>
            </a:r>
            <a:r>
              <a:rPr lang="el-GR"/>
              <a:t>Δ</a:t>
            </a:r>
            <a:r>
              <a:rPr lang="vi-VN"/>
              <a:t>HSI∣ theo chỉ số sắp xếp thể hiện ba vùng đặc trưng rõ rệt:</a:t>
            </a:r>
          </a:p>
          <a:p>
            <a:pPr>
              <a:buFont typeface="+mj-lt"/>
              <a:buAutoNum type="arabicPeriod"/>
            </a:pPr>
            <a:r>
              <a:rPr lang="vi-VN" b="1"/>
              <a:t>Vùng đầu (gần tuyến tính, độ dốc nhỏ)</a:t>
            </a:r>
            <a:br>
              <a:rPr lang="vi-VN"/>
            </a:br>
            <a:r>
              <a:rPr lang="vi-VN"/>
              <a:t>Trong vùng này, ∣</a:t>
            </a:r>
            <a:r>
              <a:rPr lang="el-GR"/>
              <a:t>Δ</a:t>
            </a:r>
            <a:r>
              <a:rPr lang="vi-VN"/>
              <a:t>HSI∣|\Delta HSI|∣</a:t>
            </a:r>
            <a:r>
              <a:rPr lang="el-GR"/>
              <a:t>Δ</a:t>
            </a:r>
            <a:r>
              <a:rPr lang="vi-VN"/>
              <a:t>HSI∣ tăng chậm và gần tuyến tính, phản ánh sự khác biệt sinh thái nhỏ giữa các cặp trạm có khoảng cách gần nhau. Các giá trị trong vùng này chủ yếu đại diện cho nhiễu nền và dao động tự nhiên của môi trường.</a:t>
            </a:r>
          </a:p>
          <a:p>
            <a:pPr>
              <a:buFont typeface="+mj-lt"/>
              <a:buAutoNum type="arabicPeriod"/>
            </a:pPr>
            <a:r>
              <a:rPr lang="vi-VN" b="1"/>
              <a:t>Vùng chuyển tiếp (độ dốc tăng dần)</a:t>
            </a:r>
            <a:br>
              <a:rPr lang="vi-VN"/>
            </a:br>
            <a:r>
              <a:rPr lang="vi-VN"/>
              <a:t>Tại vùng trung gian, tốc độ tăng của ∣</a:t>
            </a:r>
            <a:r>
              <a:rPr lang="el-GR"/>
              <a:t>Δ</a:t>
            </a:r>
            <a:r>
              <a:rPr lang="vi-VN"/>
              <a:t>HSI∣|\Delta HSI|∣</a:t>
            </a:r>
            <a:r>
              <a:rPr lang="el-GR"/>
              <a:t>Δ</a:t>
            </a:r>
            <a:r>
              <a:rPr lang="vi-VN"/>
              <a:t>HSI∣ bắt đầu lớn hơn, cho thấy sự suy giảm tương đồng sinh thái theo không gian trở nên rõ ràng hơn. Đây là vùng phản ánh ranh giới giữa các trạm còn tương đồng và các trạm bắt đầu khác biệt về điều kiện sinh thái.</a:t>
            </a:r>
          </a:p>
          <a:p>
            <a:pPr>
              <a:buFont typeface="+mj-lt"/>
              <a:buAutoNum type="arabicPeriod"/>
            </a:pPr>
            <a:r>
              <a:rPr lang="vi-VN" b="1"/>
              <a:t>Vùng đuôi (tăng mạnh, phi tuyến)</a:t>
            </a:r>
            <a:br>
              <a:rPr lang="vi-VN"/>
            </a:br>
            <a:r>
              <a:rPr lang="vi-VN"/>
              <a:t>Ở phần cuối phân bố, ∣</a:t>
            </a:r>
            <a:r>
              <a:rPr lang="el-GR"/>
              <a:t>Δ</a:t>
            </a:r>
            <a:r>
              <a:rPr lang="vi-VN"/>
              <a:t>HSI∣|\Delta HSI|∣</a:t>
            </a:r>
            <a:r>
              <a:rPr lang="el-GR"/>
              <a:t>Δ</a:t>
            </a:r>
            <a:r>
              <a:rPr lang="vi-VN"/>
              <a:t>HSI∣ tăng nhanh và phi tuyến, tương ứng với các cặp trạm có khác biệt sinh thái lớn. Vùng này thường bị chi phối bởi một số ít cặp trạm rất khác nhau và không phù hợp để làm ranh giới xác định bán kính ảnh hưởng.</a:t>
            </a:r>
          </a:p>
          <a:p>
            <a:r>
              <a:rPr lang="vi-VN"/>
              <a:t>Ngưỡng </a:t>
            </a:r>
            <a:r>
              <a:rPr lang="el-GR"/>
              <a:t>α=0.6\</a:t>
            </a:r>
            <a:r>
              <a:rPr lang="vi-VN"/>
              <a:t>alpha = 0.6</a:t>
            </a:r>
            <a:r>
              <a:rPr lang="el-GR"/>
              <a:t>α=0.6 </a:t>
            </a:r>
            <a:r>
              <a:rPr lang="vi-VN"/>
              <a:t>được lựa chọn vì giá trị 0.6⋅</a:t>
            </a:r>
            <a:r>
              <a:rPr lang="el-GR"/>
              <a:t>σ</a:t>
            </a:r>
            <a:r>
              <a:rPr lang="vi-VN"/>
              <a:t>HSI0.6 \cdot \sigma_{HSI}0.6⋅</a:t>
            </a:r>
            <a:r>
              <a:rPr lang="el-GR"/>
              <a:t>σ</a:t>
            </a:r>
            <a:r>
              <a:rPr lang="vi-VN"/>
              <a:t>HSI​ nằm </a:t>
            </a:r>
            <a:r>
              <a:rPr lang="vi-VN" b="1"/>
              <a:t>trong vùng chuyển tiếp giữa miền tăng tuyến tính và miền tăng mạnh</a:t>
            </a:r>
            <a:r>
              <a:rPr lang="vi-VN"/>
              <a:t>, tức là:</a:t>
            </a:r>
          </a:p>
          <a:p>
            <a:pPr>
              <a:buFont typeface="Arial" panose="020B0604020202020204" pitchFamily="34" charset="0"/>
              <a:buChar char="•"/>
            </a:pPr>
            <a:r>
              <a:rPr lang="vi-VN"/>
              <a:t>đủ lớn để vượt qua nhiễu nền của ∣</a:t>
            </a:r>
            <a:r>
              <a:rPr lang="el-GR"/>
              <a:t>Δ</a:t>
            </a:r>
            <a:r>
              <a:rPr lang="vi-VN"/>
              <a:t>HSI∣|\Delta HSI|∣</a:t>
            </a:r>
            <a:r>
              <a:rPr lang="el-GR"/>
              <a:t>Δ</a:t>
            </a:r>
            <a:r>
              <a:rPr lang="vi-VN"/>
              <a:t>HSI∣,</a:t>
            </a:r>
          </a:p>
          <a:p>
            <a:pPr>
              <a:buFont typeface="Arial" panose="020B0604020202020204" pitchFamily="34" charset="0"/>
              <a:buChar char="•"/>
            </a:pPr>
            <a:r>
              <a:rPr lang="vi-VN"/>
              <a:t>nhưng chưa rơi vào phần đuôi phân bố bị chi phối bởi các ngoại lệ.</a:t>
            </a:r>
          </a:p>
          <a:p>
            <a:r>
              <a:rPr lang="vi-VN"/>
              <a:t>Do đó, ngưỡng này phản ánh thời điểm bắt đầu suy giảm tương đồng sinh thái theo không gian, thay vì chỉ phát hiện các khác biệt sinh thái rõ rệt. Việc lựa chọn </a:t>
            </a:r>
            <a:r>
              <a:rPr lang="el-GR"/>
              <a:t>α=0.6\</a:t>
            </a:r>
            <a:r>
              <a:rPr lang="vi-VN"/>
              <a:t>alpha = 0.6</a:t>
            </a:r>
            <a:r>
              <a:rPr lang="el-GR"/>
              <a:t>α=0.6 </a:t>
            </a:r>
            <a:r>
              <a:rPr lang="vi-VN"/>
              <a:t>giúp xác định bán kính ảnh hưởng không gian một cách ổn định và phù hợp với mục tiêu đánh giá phạm vi áp dụng của kết quả dự báo.</a:t>
            </a:r>
          </a:p>
          <a:p>
            <a:endParaRPr lang="vi-VN"/>
          </a:p>
          <a:p>
            <a:r>
              <a:rPr lang="vi-VN"/>
              <a:t>Ngưỡng 0.6</a:t>
            </a:r>
            <a:r>
              <a:rPr lang="el-GR"/>
              <a:t>σ </a:t>
            </a:r>
            <a:r>
              <a:rPr lang="vi-VN"/>
              <a:t>được chọn vì nó nằm trong vùng chuyển tiếp của phân bố </a:t>
            </a:r>
            <a:r>
              <a:rPr lang="el-GR"/>
              <a:t>Δ</a:t>
            </a:r>
            <a:r>
              <a:rPr lang="vi-VN"/>
              <a:t>HSI, nơi đường cong bắt đầu lệch khỏi xu thế tuyến tính. Điều này cho phép phát hiện sự suy giảm tương đồng sinh thái sớm nhưng vẫn tránh bị ảnh hưởng bởi các ngoại lệ ở phần đuôi phân bố.</a:t>
            </a:r>
          </a:p>
        </p:txBody>
      </p:sp>
      <p:sp>
        <p:nvSpPr>
          <p:cNvPr id="4" name="Slide Number Placeholder 3"/>
          <p:cNvSpPr>
            <a:spLocks noGrp="1"/>
          </p:cNvSpPr>
          <p:nvPr>
            <p:ph type="sldNum" sz="quarter" idx="5"/>
          </p:nvPr>
        </p:nvSpPr>
        <p:spPr/>
        <p:txBody>
          <a:bodyPr/>
          <a:lstStyle/>
          <a:p>
            <a:fld id="{AB2FC7A4-3D1B-482D-8C9D-7642A2CE3076}" type="slidenum">
              <a:rPr lang="en-US" smtClean="0"/>
              <a:t>23</a:t>
            </a:fld>
            <a:endParaRPr lang="en-US"/>
          </a:p>
        </p:txBody>
      </p:sp>
    </p:spTree>
    <p:extLst>
      <p:ext uri="{BB962C8B-B14F-4D97-AF65-F5344CB8AC3E}">
        <p14:creationId xmlns:p14="http://schemas.microsoft.com/office/powerpoint/2010/main" val="39718012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24</a:t>
            </a:fld>
            <a:endParaRPr lang="en-US"/>
          </a:p>
        </p:txBody>
      </p:sp>
    </p:spTree>
    <p:extLst>
      <p:ext uri="{BB962C8B-B14F-4D97-AF65-F5344CB8AC3E}">
        <p14:creationId xmlns:p14="http://schemas.microsoft.com/office/powerpoint/2010/main" val="33109828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C3EE2-B1E8-4A5D-0FA7-98A9A45165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99778-47DB-4A65-A56E-BD0CEAC5CC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4E9E6A-157F-E92B-4625-EFC3628E6E5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2E85D72-403B-710F-9575-BEC2AAFD35FA}"/>
              </a:ext>
            </a:extLst>
          </p:cNvPr>
          <p:cNvSpPr>
            <a:spLocks noGrp="1"/>
          </p:cNvSpPr>
          <p:nvPr>
            <p:ph type="sldNum" sz="quarter" idx="5"/>
          </p:nvPr>
        </p:nvSpPr>
        <p:spPr/>
        <p:txBody>
          <a:bodyPr/>
          <a:lstStyle/>
          <a:p>
            <a:fld id="{AB2FC7A4-3D1B-482D-8C9D-7642A2CE3076}" type="slidenum">
              <a:rPr lang="en-US" smtClean="0"/>
              <a:t>25</a:t>
            </a:fld>
            <a:endParaRPr lang="en-US"/>
          </a:p>
        </p:txBody>
      </p:sp>
    </p:spTree>
    <p:extLst>
      <p:ext uri="{BB962C8B-B14F-4D97-AF65-F5344CB8AC3E}">
        <p14:creationId xmlns:p14="http://schemas.microsoft.com/office/powerpoint/2010/main" val="13654002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6C11E-8B60-2608-BA64-C7163EA79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E0075D-91AD-808A-0D11-991599B349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00D3E2-BE3D-7A62-7699-6AAD1547DE7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85F9EFA8-B8F5-049E-5DD9-4E595244324E}"/>
              </a:ext>
            </a:extLst>
          </p:cNvPr>
          <p:cNvSpPr>
            <a:spLocks noGrp="1"/>
          </p:cNvSpPr>
          <p:nvPr>
            <p:ph type="sldNum" sz="quarter" idx="5"/>
          </p:nvPr>
        </p:nvSpPr>
        <p:spPr/>
        <p:txBody>
          <a:bodyPr/>
          <a:lstStyle/>
          <a:p>
            <a:fld id="{AB2FC7A4-3D1B-482D-8C9D-7642A2CE3076}" type="slidenum">
              <a:rPr lang="en-US" smtClean="0"/>
              <a:t>26</a:t>
            </a:fld>
            <a:endParaRPr lang="en-US"/>
          </a:p>
        </p:txBody>
      </p:sp>
    </p:spTree>
    <p:extLst>
      <p:ext uri="{BB962C8B-B14F-4D97-AF65-F5344CB8AC3E}">
        <p14:creationId xmlns:p14="http://schemas.microsoft.com/office/powerpoint/2010/main" val="16337454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40FF9-700F-21E5-927F-29581E6293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EA826-8A97-93F2-7C4F-E65B99293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26D21-62CE-2B57-47DF-76ACC6E8A23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3A9D4E4-C3F8-F2C2-B03C-E7431C4AF533}"/>
              </a:ext>
            </a:extLst>
          </p:cNvPr>
          <p:cNvSpPr>
            <a:spLocks noGrp="1"/>
          </p:cNvSpPr>
          <p:nvPr>
            <p:ph type="sldNum" sz="quarter" idx="5"/>
          </p:nvPr>
        </p:nvSpPr>
        <p:spPr/>
        <p:txBody>
          <a:bodyPr/>
          <a:lstStyle/>
          <a:p>
            <a:fld id="{AB2FC7A4-3D1B-482D-8C9D-7642A2CE3076}" type="slidenum">
              <a:rPr lang="en-US" smtClean="0"/>
              <a:t>27</a:t>
            </a:fld>
            <a:endParaRPr lang="en-US"/>
          </a:p>
        </p:txBody>
      </p:sp>
    </p:spTree>
    <p:extLst>
      <p:ext uri="{BB962C8B-B14F-4D97-AF65-F5344CB8AC3E}">
        <p14:creationId xmlns:p14="http://schemas.microsoft.com/office/powerpoint/2010/main" val="9550138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9B73C-7281-257B-D9CA-462B384FA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FF6E9C-C6D9-DD36-9419-BE5D794267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DD616-F4FD-2014-7D5E-06E83E36EA4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64557DE-4B32-280B-28C2-77E032F4A608}"/>
              </a:ext>
            </a:extLst>
          </p:cNvPr>
          <p:cNvSpPr>
            <a:spLocks noGrp="1"/>
          </p:cNvSpPr>
          <p:nvPr>
            <p:ph type="sldNum" sz="quarter" idx="5"/>
          </p:nvPr>
        </p:nvSpPr>
        <p:spPr/>
        <p:txBody>
          <a:bodyPr/>
          <a:lstStyle/>
          <a:p>
            <a:fld id="{AB2FC7A4-3D1B-482D-8C9D-7642A2CE3076}" type="slidenum">
              <a:rPr lang="en-US" smtClean="0"/>
              <a:t>28</a:t>
            </a:fld>
            <a:endParaRPr lang="en-US"/>
          </a:p>
        </p:txBody>
      </p:sp>
    </p:spTree>
    <p:extLst>
      <p:ext uri="{BB962C8B-B14F-4D97-AF65-F5344CB8AC3E}">
        <p14:creationId xmlns:p14="http://schemas.microsoft.com/office/powerpoint/2010/main" val="37861252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938540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62901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 id="2147483683" r:id="rId4"/>
    <p:sldLayoutId id="2147483679" r:id="rId5"/>
    <p:sldLayoutId id="2147483680" r:id="rId6"/>
    <p:sldLayoutId id="2147483681" r:id="rId7"/>
    <p:sldLayoutId id="2147483682" r:id="rId8"/>
    <p:sldLayoutId id="2147483678"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3.jpe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01834" y="2071413"/>
            <a:ext cx="8628351" cy="848792"/>
          </a:xfrm>
          <a:prstGeom prst="rect">
            <a:avLst/>
          </a:prstGeom>
        </p:spPr>
        <p:txBody>
          <a:bodyPr lIns="91440" tIns="45720" rIns="91440" bIns="45720" anchor="t"/>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3600">
                <a:latin typeface="Lato"/>
                <a:ea typeface="Lato"/>
                <a:cs typeface="Lato"/>
              </a:rPr>
              <a:t>DỰ BÁO MÔI TRƯỜNG </a:t>
            </a:r>
            <a:endParaRPr lang="en-US"/>
          </a:p>
          <a:p>
            <a:r>
              <a:rPr lang="en-US" sz="3600">
                <a:latin typeface="Lato"/>
                <a:ea typeface="Lato"/>
                <a:cs typeface="Lato"/>
              </a:rPr>
              <a:t>NUÔI TRỒNG CHO CÁ GIÒ VÀ HÀU</a:t>
            </a:r>
            <a:endParaRPr lang="en-US"/>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01834" y="3981606"/>
            <a:ext cx="7342482" cy="848793"/>
          </a:xfrm>
          <a:prstGeom prst="rect">
            <a:avLst/>
          </a:prstGeom>
        </p:spPr>
        <p:txBody>
          <a:bodyPr lIns="91440" tIns="45720" rIns="91440" bIns="45720" anchor="t"/>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400" err="1">
                <a:latin typeface="Lato"/>
                <a:ea typeface="Lato"/>
                <a:cs typeface="Lato"/>
              </a:rPr>
              <a:t>Nhóm</a:t>
            </a:r>
            <a:r>
              <a:rPr lang="en-US" sz="2400">
                <a:latin typeface="Lato"/>
                <a:ea typeface="Lato"/>
                <a:cs typeface="Lato"/>
              </a:rPr>
              <a:t> </a:t>
            </a:r>
            <a:r>
              <a:rPr lang="en-US" sz="2400" err="1">
                <a:latin typeface="Lato"/>
                <a:ea typeface="Lato"/>
                <a:cs typeface="Lato"/>
              </a:rPr>
              <a:t>sinh</a:t>
            </a:r>
            <a:r>
              <a:rPr lang="en-US" sz="2400">
                <a:latin typeface="Lato"/>
                <a:ea typeface="Lato"/>
                <a:cs typeface="Lato"/>
              </a:rPr>
              <a:t> </a:t>
            </a:r>
            <a:r>
              <a:rPr lang="en-US" sz="2400" err="1">
                <a:latin typeface="Lato"/>
                <a:ea typeface="Lato"/>
                <a:cs typeface="Lato"/>
              </a:rPr>
              <a:t>viên</a:t>
            </a:r>
            <a:r>
              <a:rPr lang="en-US" sz="2400">
                <a:latin typeface="Lato"/>
                <a:ea typeface="Lato"/>
                <a:cs typeface="Lato"/>
              </a:rPr>
              <a:t> </a:t>
            </a:r>
            <a:r>
              <a:rPr lang="en-US" sz="2400" err="1">
                <a:latin typeface="Lato"/>
                <a:ea typeface="Lato"/>
                <a:cs typeface="Lato"/>
              </a:rPr>
              <a:t>thực</a:t>
            </a:r>
            <a:r>
              <a:rPr lang="en-US" sz="2400">
                <a:latin typeface="Lato"/>
                <a:ea typeface="Lato"/>
                <a:cs typeface="Lato"/>
              </a:rPr>
              <a:t> </a:t>
            </a:r>
            <a:r>
              <a:rPr lang="en-US" sz="2400" err="1">
                <a:latin typeface="Lato"/>
                <a:ea typeface="Lato"/>
                <a:cs typeface="Lato"/>
              </a:rPr>
              <a:t>hiện</a:t>
            </a:r>
            <a:r>
              <a:rPr lang="en-US" sz="2400">
                <a:latin typeface="Lato"/>
                <a:ea typeface="Lato"/>
                <a:cs typeface="Lato"/>
              </a:rPr>
              <a:t>:</a:t>
            </a:r>
          </a:p>
          <a:p>
            <a:endParaRPr lang="en-US"/>
          </a:p>
          <a:p>
            <a:endParaRPr lang="en-US"/>
          </a:p>
        </p:txBody>
      </p:sp>
      <p:sp>
        <p:nvSpPr>
          <p:cNvPr id="3" name="TextBox 2">
            <a:extLst>
              <a:ext uri="{FF2B5EF4-FFF2-40B4-BE49-F238E27FC236}">
                <a16:creationId xmlns:a16="http://schemas.microsoft.com/office/drawing/2014/main" id="{E8F1C501-A1B5-05F1-F93C-36CB0747F797}"/>
              </a:ext>
            </a:extLst>
          </p:cNvPr>
          <p:cNvSpPr txBox="1"/>
          <p:nvPr/>
        </p:nvSpPr>
        <p:spPr>
          <a:xfrm>
            <a:off x="3660090" y="4477787"/>
            <a:ext cx="4087979" cy="1015663"/>
          </a:xfrm>
          <a:prstGeom prst="rect">
            <a:avLst/>
          </a:prstGeom>
          <a:noFill/>
        </p:spPr>
        <p:txBody>
          <a:bodyPr wrap="none" lIns="91440" tIns="45720" rIns="91440" bIns="45720" rtlCol="0" anchor="t">
            <a:spAutoFit/>
          </a:bodyPr>
          <a:lstStyle/>
          <a:p>
            <a:r>
              <a:rPr lang="en-US" sz="2000" b="0" i="0">
                <a:solidFill>
                  <a:srgbClr val="C00000"/>
                </a:solidFill>
                <a:effectLst/>
                <a:latin typeface="Lato"/>
                <a:ea typeface="Lato"/>
                <a:cs typeface="Lato"/>
              </a:rPr>
              <a:t>Nguyễn Khánh </a:t>
            </a:r>
            <a:r>
              <a:rPr lang="en-US" sz="2000" b="0" i="0" err="1">
                <a:solidFill>
                  <a:srgbClr val="C00000"/>
                </a:solidFill>
                <a:effectLst/>
                <a:latin typeface="Lato"/>
                <a:ea typeface="Lato"/>
                <a:cs typeface="Lato"/>
              </a:rPr>
              <a:t>Huyền</a:t>
            </a:r>
            <a:r>
              <a:rPr lang="en-US" sz="2000" b="0" i="0">
                <a:solidFill>
                  <a:srgbClr val="C00000"/>
                </a:solidFill>
                <a:effectLst/>
                <a:latin typeface="Lato"/>
                <a:ea typeface="Lato"/>
                <a:cs typeface="Lato"/>
              </a:rPr>
              <a:t> - 20225016</a:t>
            </a:r>
            <a:endParaRPr lang="en-US" sz="2000">
              <a:solidFill>
                <a:srgbClr val="C00000"/>
              </a:solidFill>
              <a:effectLst/>
              <a:latin typeface="Lato"/>
              <a:ea typeface="Lato"/>
              <a:cs typeface="Lato"/>
            </a:endParaRPr>
          </a:p>
          <a:p>
            <a:r>
              <a:rPr lang="en-US" sz="2000" b="0" i="0">
                <a:solidFill>
                  <a:srgbClr val="C00000"/>
                </a:solidFill>
                <a:effectLst/>
                <a:latin typeface="Lato"/>
                <a:ea typeface="Lato"/>
                <a:cs typeface="Lato"/>
              </a:rPr>
              <a:t>Nguyễn </a:t>
            </a:r>
            <a:r>
              <a:rPr lang="en-US" sz="2000" b="0" i="0" err="1">
                <a:solidFill>
                  <a:srgbClr val="C00000"/>
                </a:solidFill>
                <a:effectLst/>
                <a:latin typeface="Lato"/>
                <a:ea typeface="Lato"/>
                <a:cs typeface="Lato"/>
              </a:rPr>
              <a:t>Đình</a:t>
            </a:r>
            <a:r>
              <a:rPr lang="en-US" sz="2000" b="0" i="0">
                <a:solidFill>
                  <a:srgbClr val="C00000"/>
                </a:solidFill>
                <a:effectLst/>
                <a:latin typeface="Lato"/>
                <a:ea typeface="Lato"/>
                <a:cs typeface="Lato"/>
              </a:rPr>
              <a:t> Hiếu - 20224847</a:t>
            </a:r>
            <a:endParaRPr lang="en-US" sz="2000">
              <a:solidFill>
                <a:srgbClr val="C00000"/>
              </a:solidFill>
              <a:effectLst/>
              <a:latin typeface="Lato"/>
              <a:ea typeface="Lato"/>
              <a:cs typeface="Lato"/>
            </a:endParaRPr>
          </a:p>
          <a:p>
            <a:endParaRPr lang="en-VN" sz="2000">
              <a:solidFill>
                <a:srgbClr val="C00000"/>
              </a:solidFill>
              <a:latin typeface="Lato"/>
              <a:ea typeface="Lato"/>
              <a:cs typeface="Lato"/>
            </a:endParaRPr>
          </a:p>
        </p:txBody>
      </p:sp>
      <p:sp>
        <p:nvSpPr>
          <p:cNvPr id="5" name="TextBox 4">
            <a:extLst>
              <a:ext uri="{FF2B5EF4-FFF2-40B4-BE49-F238E27FC236}">
                <a16:creationId xmlns:a16="http://schemas.microsoft.com/office/drawing/2014/main" id="{40A4CED9-C47A-60D8-2603-9855DA1B2F82}"/>
              </a:ext>
            </a:extLst>
          </p:cNvPr>
          <p:cNvSpPr txBox="1"/>
          <p:nvPr/>
        </p:nvSpPr>
        <p:spPr>
          <a:xfrm>
            <a:off x="413012" y="4477788"/>
            <a:ext cx="4155305" cy="1323439"/>
          </a:xfrm>
          <a:prstGeom prst="rect">
            <a:avLst/>
          </a:prstGeom>
          <a:noFill/>
        </p:spPr>
        <p:txBody>
          <a:bodyPr wrap="none" lIns="91440" tIns="45720" rIns="91440" bIns="45720" rtlCol="0" anchor="t">
            <a:spAutoFit/>
          </a:bodyPr>
          <a:lstStyle/>
          <a:p>
            <a:r>
              <a:rPr lang="en-US" sz="2000" b="0" i="0">
                <a:solidFill>
                  <a:srgbClr val="C00000"/>
                </a:solidFill>
                <a:effectLst/>
                <a:latin typeface="Lato"/>
                <a:ea typeface="Lato"/>
                <a:cs typeface="Lato"/>
              </a:rPr>
              <a:t>Bùi Lê Hùng – 20224994                 </a:t>
            </a:r>
            <a:endParaRPr lang="en-US" sz="2000">
              <a:solidFill>
                <a:srgbClr val="C00000"/>
              </a:solidFill>
              <a:effectLst/>
              <a:latin typeface="Lato"/>
              <a:ea typeface="Lato"/>
              <a:cs typeface="Lato"/>
            </a:endParaRPr>
          </a:p>
          <a:p>
            <a:r>
              <a:rPr lang="en-US" sz="2000" b="0" i="0">
                <a:solidFill>
                  <a:srgbClr val="C00000"/>
                </a:solidFill>
                <a:effectLst/>
                <a:latin typeface="Lato"/>
                <a:ea typeface="Lato"/>
                <a:cs typeface="Lato"/>
              </a:rPr>
              <a:t>Bùi Lê Huy </a:t>
            </a:r>
            <a:r>
              <a:rPr lang="en-US" sz="2000">
                <a:solidFill>
                  <a:srgbClr val="C00000"/>
                </a:solidFill>
                <a:latin typeface="Lato"/>
                <a:ea typeface="Lato"/>
                <a:cs typeface="Lato"/>
              </a:rPr>
              <a:t>– </a:t>
            </a:r>
            <a:r>
              <a:rPr lang="en-US" sz="2000" b="0" i="0">
                <a:solidFill>
                  <a:srgbClr val="C00000"/>
                </a:solidFill>
                <a:effectLst/>
                <a:latin typeface="Lato"/>
                <a:ea typeface="Lato"/>
                <a:cs typeface="Lato"/>
              </a:rPr>
              <a:t>20225005</a:t>
            </a:r>
            <a:endParaRPr lang="en-US" sz="2000">
              <a:solidFill>
                <a:srgbClr val="C00000"/>
              </a:solidFill>
              <a:latin typeface="Lato"/>
              <a:ea typeface="Lato"/>
              <a:cs typeface="Lato"/>
            </a:endParaRPr>
          </a:p>
          <a:p>
            <a:r>
              <a:rPr lang="en-US" sz="2000">
                <a:solidFill>
                  <a:srgbClr val="C00000"/>
                </a:solidFill>
                <a:latin typeface="Lato"/>
                <a:ea typeface="Lato"/>
                <a:cs typeface="Lato"/>
              </a:rPr>
              <a:t>Nguyễn Đạt </a:t>
            </a:r>
            <a:r>
              <a:rPr lang="en-US" sz="2000" err="1">
                <a:solidFill>
                  <a:srgbClr val="C00000"/>
                </a:solidFill>
                <a:latin typeface="Lato"/>
                <a:ea typeface="Lato"/>
                <a:cs typeface="Lato"/>
              </a:rPr>
              <a:t>Trọng</a:t>
            </a:r>
            <a:r>
              <a:rPr lang="en-US" sz="2000">
                <a:solidFill>
                  <a:srgbClr val="C00000"/>
                </a:solidFill>
                <a:latin typeface="Lato"/>
                <a:ea typeface="Lato"/>
                <a:cs typeface="Lato"/>
              </a:rPr>
              <a:t> - 20225103</a:t>
            </a:r>
            <a:endParaRPr lang="en-US" sz="2000">
              <a:solidFill>
                <a:srgbClr val="C00000"/>
              </a:solidFill>
              <a:effectLst/>
              <a:latin typeface="Lato"/>
              <a:ea typeface="Lato"/>
              <a:cs typeface="Lato"/>
            </a:endParaRPr>
          </a:p>
          <a:p>
            <a:endParaRPr lang="en-VN" sz="2000">
              <a:latin typeface="Lato"/>
              <a:ea typeface="Lato"/>
              <a:cs typeface="Lato"/>
            </a:endParaRPr>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FDB96-82E7-0683-48B8-BC289D8247F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BCB64D-B628-7B06-FDD5-7778CA1EEC70}"/>
              </a:ext>
            </a:extLst>
          </p:cNvPr>
          <p:cNvSpPr>
            <a:spLocks noGrp="1"/>
          </p:cNvSpPr>
          <p:nvPr>
            <p:ph type="sldNum" sz="quarter" idx="12"/>
          </p:nvPr>
        </p:nvSpPr>
        <p:spPr/>
        <p:txBody>
          <a:bodyPr/>
          <a:lstStyle/>
          <a:p>
            <a:fld id="{9EA0BE3B-158A-4EDF-80DC-E394A0D1600F}" type="slidenum">
              <a:rPr lang="en-US" smtClean="0"/>
              <a:pPr/>
              <a:t>3</a:t>
            </a:fld>
            <a:endParaRPr lang="en-US"/>
          </a:p>
        </p:txBody>
      </p:sp>
      <p:sp>
        <p:nvSpPr>
          <p:cNvPr id="3" name="Title 2">
            <a:extLst>
              <a:ext uri="{FF2B5EF4-FFF2-40B4-BE49-F238E27FC236}">
                <a16:creationId xmlns:a16="http://schemas.microsoft.com/office/drawing/2014/main" id="{2618FF9B-F135-CC5A-60B9-3ADE022B63D3}"/>
              </a:ext>
            </a:extLst>
          </p:cNvPr>
          <p:cNvSpPr>
            <a:spLocks noGrp="1"/>
          </p:cNvSpPr>
          <p:nvPr>
            <p:ph type="title"/>
          </p:nvPr>
        </p:nvSpPr>
        <p:spPr/>
        <p:txBody>
          <a:bodyPr lIns="91440" tIns="45720" rIns="91440" bIns="45720" anchor="t"/>
          <a:lstStyle/>
          <a:p>
            <a:r>
              <a:rPr lang="en-US" err="1">
                <a:latin typeface="Lato"/>
                <a:ea typeface="Lato"/>
                <a:cs typeface="Lato"/>
              </a:rPr>
              <a:t>Mục</a:t>
            </a:r>
            <a:r>
              <a:rPr lang="en-US">
                <a:latin typeface="Lato"/>
                <a:ea typeface="Lato"/>
                <a:cs typeface="Lato"/>
              </a:rPr>
              <a:t> </a:t>
            </a:r>
            <a:r>
              <a:rPr lang="en-US" err="1">
                <a:latin typeface="Lato"/>
                <a:ea typeface="Lato"/>
                <a:cs typeface="Lato"/>
              </a:rPr>
              <a:t>lục</a:t>
            </a:r>
            <a:endParaRPr lang="en-US">
              <a:latin typeface="Lato"/>
              <a:ea typeface="Lato"/>
              <a:cs typeface="Lato"/>
            </a:endParaRPr>
          </a:p>
        </p:txBody>
      </p:sp>
      <p:sp>
        <p:nvSpPr>
          <p:cNvPr id="4" name="Content Placeholder 3">
            <a:extLst>
              <a:ext uri="{FF2B5EF4-FFF2-40B4-BE49-F238E27FC236}">
                <a16:creationId xmlns:a16="http://schemas.microsoft.com/office/drawing/2014/main" id="{50E76CB9-C645-5FEC-FF20-12A28E9C05B4}"/>
              </a:ext>
            </a:extLst>
          </p:cNvPr>
          <p:cNvSpPr>
            <a:spLocks noGrp="1"/>
          </p:cNvSpPr>
          <p:nvPr>
            <p:ph sz="quarter" idx="13"/>
          </p:nvPr>
        </p:nvSpPr>
        <p:spPr>
          <a:xfrm>
            <a:off x="235077" y="932232"/>
            <a:ext cx="8674100" cy="5303393"/>
          </a:xfrm>
        </p:spPr>
        <p:txBody>
          <a:bodyPr lIns="91440" tIns="45720" rIns="91440" bIns="45720" anchor="t"/>
          <a:lstStyle/>
          <a:p>
            <a:pPr marL="514350" indent="-514350">
              <a:buAutoNum type="arabicPeriod"/>
            </a:pPr>
            <a:r>
              <a:rPr lang="en-US" sz="2400" err="1">
                <a:latin typeface="Lato"/>
                <a:ea typeface="Lato"/>
                <a:cs typeface="Lato"/>
              </a:rPr>
              <a:t>Giới</a:t>
            </a:r>
            <a:r>
              <a:rPr lang="en-US" sz="2400">
                <a:latin typeface="Lato"/>
                <a:ea typeface="Lato"/>
                <a:cs typeface="Lato"/>
              </a:rPr>
              <a:t> </a:t>
            </a:r>
            <a:r>
              <a:rPr lang="en-US" sz="2400" err="1">
                <a:latin typeface="Lato"/>
                <a:ea typeface="Lato"/>
                <a:cs typeface="Lato"/>
              </a:rPr>
              <a:t>thiệu</a:t>
            </a:r>
            <a:r>
              <a:rPr lang="en-US" sz="2400">
                <a:latin typeface="Lato"/>
                <a:ea typeface="Lato"/>
                <a:cs typeface="Lato"/>
              </a:rPr>
              <a:t> </a:t>
            </a:r>
            <a:r>
              <a:rPr lang="en-US" sz="2400" err="1">
                <a:latin typeface="Lato"/>
                <a:ea typeface="Lato"/>
                <a:cs typeface="Lato"/>
              </a:rPr>
              <a:t>đề</a:t>
            </a:r>
            <a:r>
              <a:rPr lang="en-US" sz="2400">
                <a:latin typeface="Lato"/>
                <a:ea typeface="Lato"/>
                <a:cs typeface="Lato"/>
              </a:rPr>
              <a:t> </a:t>
            </a:r>
            <a:r>
              <a:rPr lang="en-US" sz="2400" err="1">
                <a:latin typeface="Lato"/>
                <a:ea typeface="Lato"/>
                <a:cs typeface="Lato"/>
              </a:rPr>
              <a:t>tài</a:t>
            </a:r>
            <a:endParaRPr lang="en-US" sz="2400">
              <a:latin typeface="Lato"/>
            </a:endParaRPr>
          </a:p>
          <a:p>
            <a:pPr marL="514350" indent="-514350">
              <a:buAutoNum type="arabicPeriod"/>
            </a:pPr>
            <a:r>
              <a:rPr lang="en-US" sz="2400" err="1">
                <a:latin typeface="Lato"/>
                <a:ea typeface="Lato"/>
                <a:cs typeface="Lato"/>
              </a:rPr>
              <a:t>Bộ</a:t>
            </a:r>
            <a:r>
              <a:rPr lang="en-US" sz="2400">
                <a:latin typeface="Lato"/>
                <a:ea typeface="Lato"/>
                <a:cs typeface="Lato"/>
              </a:rPr>
              <a:t> </a:t>
            </a:r>
            <a:r>
              <a:rPr lang="en-US" sz="2400" err="1">
                <a:latin typeface="Lato"/>
                <a:ea typeface="Lato"/>
                <a:cs typeface="Lato"/>
              </a:rPr>
              <a:t>dữ</a:t>
            </a:r>
            <a:r>
              <a:rPr lang="en-US" sz="2400">
                <a:latin typeface="Lato"/>
                <a:ea typeface="Lato"/>
                <a:cs typeface="Lato"/>
              </a:rPr>
              <a:t> </a:t>
            </a:r>
            <a:r>
              <a:rPr lang="en-US" sz="2400" err="1">
                <a:latin typeface="Lato"/>
                <a:ea typeface="Lato"/>
                <a:cs typeface="Lato"/>
              </a:rPr>
              <a:t>liệu</a:t>
            </a:r>
            <a:r>
              <a:rPr lang="en-US" sz="2400">
                <a:latin typeface="Lato"/>
                <a:ea typeface="Lato"/>
                <a:cs typeface="Lato"/>
              </a:rPr>
              <a:t> </a:t>
            </a:r>
            <a:r>
              <a:rPr lang="en-US" sz="2400" err="1">
                <a:latin typeface="Lato"/>
                <a:ea typeface="Lato"/>
                <a:cs typeface="Lato"/>
              </a:rPr>
              <a:t>và</a:t>
            </a:r>
            <a:r>
              <a:rPr lang="en-US" sz="2400">
                <a:latin typeface="Lato"/>
                <a:ea typeface="Lato"/>
                <a:cs typeface="Lato"/>
              </a:rPr>
              <a:t> </a:t>
            </a:r>
            <a:r>
              <a:rPr lang="en-US" sz="2400" err="1">
                <a:latin typeface="Lato"/>
                <a:ea typeface="Lato"/>
                <a:cs typeface="Lato"/>
              </a:rPr>
              <a:t>tiền</a:t>
            </a:r>
            <a:r>
              <a:rPr lang="en-US" sz="2400">
                <a:latin typeface="Lato"/>
                <a:ea typeface="Lato"/>
                <a:cs typeface="Lato"/>
              </a:rPr>
              <a:t> </a:t>
            </a:r>
            <a:r>
              <a:rPr lang="en-US" sz="2400" err="1">
                <a:latin typeface="Lato"/>
                <a:ea typeface="Lato"/>
                <a:cs typeface="Lato"/>
              </a:rPr>
              <a:t>xử</a:t>
            </a:r>
            <a:r>
              <a:rPr lang="en-US" sz="2400">
                <a:latin typeface="Lato"/>
                <a:ea typeface="Lato"/>
                <a:cs typeface="Lato"/>
              </a:rPr>
              <a:t> </a:t>
            </a:r>
            <a:r>
              <a:rPr lang="en-US" sz="2400" err="1">
                <a:latin typeface="Lato"/>
                <a:ea typeface="Lato"/>
                <a:cs typeface="Lato"/>
              </a:rPr>
              <a:t>lý</a:t>
            </a:r>
            <a:r>
              <a:rPr lang="en-US" sz="2400">
                <a:latin typeface="Lato"/>
                <a:ea typeface="Lato"/>
                <a:cs typeface="Lato"/>
              </a:rPr>
              <a:t> </a:t>
            </a:r>
            <a:r>
              <a:rPr lang="en-US" sz="2400" err="1">
                <a:latin typeface="Lato"/>
                <a:ea typeface="Lato"/>
                <a:cs typeface="Lato"/>
              </a:rPr>
              <a:t>dữ</a:t>
            </a:r>
            <a:r>
              <a:rPr lang="en-US" sz="2400">
                <a:latin typeface="Lato"/>
                <a:ea typeface="Lato"/>
                <a:cs typeface="Lato"/>
              </a:rPr>
              <a:t> </a:t>
            </a:r>
            <a:r>
              <a:rPr lang="en-US" sz="2400" err="1">
                <a:latin typeface="Lato"/>
                <a:ea typeface="Lato"/>
                <a:cs typeface="Lato"/>
              </a:rPr>
              <a:t>liệu</a:t>
            </a:r>
            <a:endParaRPr lang="en-US" sz="2400">
              <a:latin typeface="Lato"/>
              <a:ea typeface="Lato"/>
              <a:cs typeface="Lato"/>
            </a:endParaRPr>
          </a:p>
          <a:p>
            <a:pPr marL="514350" indent="-514350">
              <a:buAutoNum type="arabicPeriod"/>
            </a:pPr>
            <a:r>
              <a:rPr lang="en-US" sz="2400" err="1">
                <a:latin typeface="Lato"/>
                <a:ea typeface="Lato"/>
                <a:cs typeface="Lato"/>
              </a:rPr>
              <a:t>Xây</a:t>
            </a:r>
            <a:r>
              <a:rPr lang="en-US" sz="2400">
                <a:latin typeface="Lato"/>
                <a:ea typeface="Lato"/>
                <a:cs typeface="Lato"/>
              </a:rPr>
              <a:t> </a:t>
            </a:r>
            <a:r>
              <a:rPr lang="en-US" sz="2400" err="1">
                <a:latin typeface="Lato"/>
                <a:ea typeface="Lato"/>
                <a:cs typeface="Lato"/>
              </a:rPr>
              <a:t>dựng</a:t>
            </a:r>
            <a:r>
              <a:rPr lang="en-US" sz="2400">
                <a:latin typeface="Lato"/>
                <a:ea typeface="Lato"/>
                <a:cs typeface="Lato"/>
              </a:rPr>
              <a:t> </a:t>
            </a:r>
            <a:r>
              <a:rPr lang="en-US" sz="2400" err="1">
                <a:latin typeface="Lato"/>
                <a:ea typeface="Lato"/>
                <a:cs typeface="Lato"/>
              </a:rPr>
              <a:t>mô</a:t>
            </a:r>
            <a:r>
              <a:rPr lang="en-US" sz="2400">
                <a:latin typeface="Lato"/>
                <a:ea typeface="Lato"/>
                <a:cs typeface="Lato"/>
              </a:rPr>
              <a:t> </a:t>
            </a:r>
            <a:r>
              <a:rPr lang="en-US" sz="2400" err="1">
                <a:latin typeface="Lato"/>
                <a:ea typeface="Lato"/>
                <a:cs typeface="Lato"/>
              </a:rPr>
              <a:t>hình</a:t>
            </a:r>
            <a:r>
              <a:rPr lang="en-US" sz="2400">
                <a:latin typeface="Lato"/>
                <a:ea typeface="Lato"/>
                <a:cs typeface="Lato"/>
              </a:rPr>
              <a:t> </a:t>
            </a:r>
            <a:r>
              <a:rPr lang="en-US" sz="2400" err="1">
                <a:latin typeface="Lato"/>
                <a:ea typeface="Lato"/>
                <a:cs typeface="Lato"/>
              </a:rPr>
              <a:t>dự</a:t>
            </a:r>
            <a:r>
              <a:rPr lang="en-US" sz="2400">
                <a:latin typeface="Lato"/>
                <a:ea typeface="Lato"/>
                <a:cs typeface="Lato"/>
              </a:rPr>
              <a:t> </a:t>
            </a:r>
            <a:r>
              <a:rPr lang="en-US" sz="2400" err="1">
                <a:latin typeface="Lato"/>
                <a:ea typeface="Lato"/>
                <a:cs typeface="Lato"/>
              </a:rPr>
              <a:t>đoán</a:t>
            </a:r>
            <a:endParaRPr lang="en-US" sz="2400">
              <a:latin typeface="Lato"/>
              <a:ea typeface="Lato"/>
              <a:cs typeface="Lato"/>
            </a:endParaRPr>
          </a:p>
          <a:p>
            <a:pPr marL="514350" indent="-514350">
              <a:buAutoNum type="arabicPeriod"/>
            </a:pPr>
            <a:r>
              <a:rPr lang="en-US" sz="2400" err="1">
                <a:latin typeface="Lato"/>
                <a:ea typeface="Lato"/>
                <a:cs typeface="Lato"/>
              </a:rPr>
              <a:t>Xây</a:t>
            </a:r>
            <a:r>
              <a:rPr lang="en-US" sz="2400">
                <a:latin typeface="Lato"/>
                <a:ea typeface="Lato"/>
                <a:cs typeface="Lato"/>
              </a:rPr>
              <a:t> </a:t>
            </a:r>
            <a:r>
              <a:rPr lang="en-US" sz="2400" err="1">
                <a:latin typeface="Lato"/>
                <a:ea typeface="Lato"/>
                <a:cs typeface="Lato"/>
              </a:rPr>
              <a:t>dựng</a:t>
            </a:r>
            <a:r>
              <a:rPr lang="en-US" sz="2400">
                <a:latin typeface="Lato"/>
                <a:ea typeface="Lato"/>
                <a:cs typeface="Lato"/>
              </a:rPr>
              <a:t> </a:t>
            </a:r>
            <a:r>
              <a:rPr lang="en-US" sz="2400" err="1">
                <a:latin typeface="Lato"/>
                <a:ea typeface="Lato"/>
                <a:cs typeface="Lato"/>
              </a:rPr>
              <a:t>bản</a:t>
            </a:r>
            <a:r>
              <a:rPr lang="en-US" sz="2400">
                <a:latin typeface="Lato"/>
                <a:ea typeface="Lato"/>
                <a:cs typeface="Lato"/>
              </a:rPr>
              <a:t> </a:t>
            </a:r>
            <a:r>
              <a:rPr lang="en-US" sz="2400" err="1">
                <a:latin typeface="Lato"/>
                <a:ea typeface="Lato"/>
                <a:cs typeface="Lato"/>
              </a:rPr>
              <a:t>đồ</a:t>
            </a:r>
            <a:r>
              <a:rPr lang="en-US" sz="2400">
                <a:latin typeface="Lato"/>
                <a:ea typeface="Lato"/>
                <a:cs typeface="Lato"/>
              </a:rPr>
              <a:t> </a:t>
            </a:r>
            <a:r>
              <a:rPr lang="en-US" sz="2400" err="1">
                <a:latin typeface="Lato"/>
                <a:ea typeface="Lato"/>
                <a:cs typeface="Lato"/>
              </a:rPr>
              <a:t>vùng</a:t>
            </a:r>
            <a:r>
              <a:rPr lang="en-US" sz="2400">
                <a:latin typeface="Lato"/>
                <a:ea typeface="Lato"/>
                <a:cs typeface="Lato"/>
              </a:rPr>
              <a:t> </a:t>
            </a:r>
            <a:r>
              <a:rPr lang="en-US" sz="2400" err="1">
                <a:latin typeface="Lato"/>
                <a:ea typeface="Lato"/>
                <a:cs typeface="Lato"/>
              </a:rPr>
              <a:t>nuôi</a:t>
            </a:r>
            <a:r>
              <a:rPr lang="en-US" sz="2400">
                <a:latin typeface="Lato"/>
                <a:ea typeface="Lato"/>
                <a:cs typeface="Lato"/>
              </a:rPr>
              <a:t> </a:t>
            </a:r>
            <a:r>
              <a:rPr lang="en-US" sz="2400" err="1">
                <a:latin typeface="Lato"/>
                <a:ea typeface="Lato"/>
                <a:cs typeface="Lato"/>
              </a:rPr>
              <a:t>trồng</a:t>
            </a:r>
            <a:endParaRPr lang="en-US">
              <a:latin typeface="Lato"/>
            </a:endParaRPr>
          </a:p>
        </p:txBody>
      </p:sp>
    </p:spTree>
    <p:extLst>
      <p:ext uri="{BB962C8B-B14F-4D97-AF65-F5344CB8AC3E}">
        <p14:creationId xmlns:p14="http://schemas.microsoft.com/office/powerpoint/2010/main" val="2550096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78AB3-B2A0-0D7D-5120-D4B099FA09B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BDD158-CD88-DE3D-86E2-0E346C7677FB}"/>
              </a:ext>
            </a:extLst>
          </p:cNvPr>
          <p:cNvSpPr>
            <a:spLocks noGrp="1"/>
          </p:cNvSpPr>
          <p:nvPr>
            <p:ph type="sldNum" sz="quarter" idx="12"/>
          </p:nvPr>
        </p:nvSpPr>
        <p:spPr/>
        <p:txBody>
          <a:bodyPr/>
          <a:lstStyle/>
          <a:p>
            <a:fld id="{9EA0BE3B-158A-4EDF-80DC-E394A0D1600F}" type="slidenum">
              <a:rPr lang="en-US" smtClean="0"/>
              <a:pPr/>
              <a:t>4</a:t>
            </a:fld>
            <a:endParaRPr lang="en-US"/>
          </a:p>
        </p:txBody>
      </p:sp>
      <p:sp>
        <p:nvSpPr>
          <p:cNvPr id="3" name="Title 2">
            <a:extLst>
              <a:ext uri="{FF2B5EF4-FFF2-40B4-BE49-F238E27FC236}">
                <a16:creationId xmlns:a16="http://schemas.microsoft.com/office/drawing/2014/main" id="{A0EEE17B-DDEF-3EA6-EBB8-88E775F779C3}"/>
              </a:ext>
            </a:extLst>
          </p:cNvPr>
          <p:cNvSpPr>
            <a:spLocks noGrp="1"/>
          </p:cNvSpPr>
          <p:nvPr>
            <p:ph type="title"/>
          </p:nvPr>
        </p:nvSpPr>
        <p:spPr/>
        <p:txBody>
          <a:bodyPr lIns="91440" tIns="45720" rIns="91440" bIns="45720" anchor="t"/>
          <a:lstStyle/>
          <a:p>
            <a:r>
              <a:rPr lang="en-US">
                <a:latin typeface="Lato"/>
                <a:ea typeface="Lato"/>
                <a:cs typeface="Lato"/>
              </a:rPr>
              <a:t>1. </a:t>
            </a:r>
            <a:r>
              <a:rPr lang="en-US" err="1">
                <a:solidFill>
                  <a:srgbClr val="FFFFFF"/>
                </a:solidFill>
                <a:latin typeface="Lato"/>
                <a:ea typeface="Lato"/>
                <a:cs typeface="Lato"/>
              </a:rPr>
              <a:t>Giới</a:t>
            </a:r>
            <a:r>
              <a:rPr lang="en-US">
                <a:solidFill>
                  <a:srgbClr val="FFFFFF"/>
                </a:solidFill>
                <a:latin typeface="Lato"/>
                <a:ea typeface="Lato"/>
                <a:cs typeface="Lato"/>
              </a:rPr>
              <a:t> </a:t>
            </a:r>
            <a:r>
              <a:rPr lang="en-US" err="1">
                <a:solidFill>
                  <a:srgbClr val="FFFFFF"/>
                </a:solidFill>
                <a:latin typeface="Lato"/>
                <a:ea typeface="Lato"/>
                <a:cs typeface="Lato"/>
              </a:rPr>
              <a:t>thiệu</a:t>
            </a:r>
            <a:r>
              <a:rPr lang="en-US">
                <a:solidFill>
                  <a:srgbClr val="FFFFFF"/>
                </a:solidFill>
                <a:latin typeface="Lato"/>
                <a:ea typeface="Lato"/>
                <a:cs typeface="Lato"/>
              </a:rPr>
              <a:t> </a:t>
            </a:r>
            <a:r>
              <a:rPr lang="en-US" err="1">
                <a:solidFill>
                  <a:srgbClr val="FFFFFF"/>
                </a:solidFill>
                <a:latin typeface="Lato"/>
                <a:ea typeface="Lato"/>
                <a:cs typeface="Lato"/>
              </a:rPr>
              <a:t>đề</a:t>
            </a:r>
            <a:r>
              <a:rPr lang="en-US">
                <a:solidFill>
                  <a:srgbClr val="FFFFFF"/>
                </a:solidFill>
                <a:latin typeface="Lato"/>
                <a:ea typeface="Lato"/>
                <a:cs typeface="Lato"/>
              </a:rPr>
              <a:t> </a:t>
            </a:r>
            <a:r>
              <a:rPr lang="en-US" err="1">
                <a:solidFill>
                  <a:srgbClr val="FFFFFF"/>
                </a:solidFill>
                <a:latin typeface="Lato"/>
                <a:ea typeface="Lato"/>
                <a:cs typeface="Lato"/>
              </a:rPr>
              <a:t>tài</a:t>
            </a:r>
            <a:endParaRPr lang="en-US">
              <a:solidFill>
                <a:srgbClr val="FFFFFF"/>
              </a:solidFill>
              <a:latin typeface="Lato"/>
              <a:ea typeface="Lato"/>
              <a:cs typeface="Lato"/>
            </a:endParaRPr>
          </a:p>
          <a:p>
            <a:endParaRPr lang="en-US">
              <a:latin typeface="Lato"/>
              <a:ea typeface="Lato"/>
              <a:cs typeface="Lato"/>
            </a:endParaRPr>
          </a:p>
        </p:txBody>
      </p:sp>
      <p:sp>
        <p:nvSpPr>
          <p:cNvPr id="4" name="TextBox 3">
            <a:extLst>
              <a:ext uri="{FF2B5EF4-FFF2-40B4-BE49-F238E27FC236}">
                <a16:creationId xmlns:a16="http://schemas.microsoft.com/office/drawing/2014/main" id="{182CBC94-6655-FD63-C4D8-4B3BDC009E16}"/>
              </a:ext>
            </a:extLst>
          </p:cNvPr>
          <p:cNvSpPr txBox="1"/>
          <p:nvPr/>
        </p:nvSpPr>
        <p:spPr>
          <a:xfrm>
            <a:off x="683110" y="6964864"/>
            <a:ext cx="854491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ea typeface="Calibri"/>
                <a:cs typeface="Calibri"/>
              </a:rPr>
              <a:t>Mục</a:t>
            </a:r>
            <a:r>
              <a:rPr lang="en-US" b="1">
                <a:ea typeface="Calibri"/>
                <a:cs typeface="Calibri"/>
              </a:rPr>
              <a:t> </a:t>
            </a:r>
            <a:r>
              <a:rPr lang="en-US" b="1" err="1">
                <a:ea typeface="Calibri"/>
                <a:cs typeface="Calibri"/>
              </a:rPr>
              <a:t>tiêu</a:t>
            </a:r>
            <a:r>
              <a:rPr lang="en-US" b="1">
                <a:ea typeface="Calibri"/>
                <a:cs typeface="Calibri"/>
              </a:rPr>
              <a:t>:</a:t>
            </a:r>
            <a:r>
              <a:rPr lang="en-US">
                <a:ea typeface="Calibri"/>
                <a:cs typeface="Calibri"/>
              </a:rPr>
              <a:t> </a:t>
            </a:r>
            <a:r>
              <a:rPr lang="en-US" err="1">
                <a:ea typeface="+mn-lt"/>
                <a:cs typeface="+mn-lt"/>
              </a:rPr>
              <a:t>Môi</a:t>
            </a:r>
            <a:r>
              <a:rPr lang="en-US">
                <a:ea typeface="+mn-lt"/>
                <a:cs typeface="+mn-lt"/>
              </a:rPr>
              <a:t> </a:t>
            </a:r>
            <a:r>
              <a:rPr lang="en-US" err="1">
                <a:ea typeface="+mn-lt"/>
                <a:cs typeface="+mn-lt"/>
              </a:rPr>
              <a:t>trường</a:t>
            </a:r>
            <a:r>
              <a:rPr lang="en-US">
                <a:ea typeface="+mn-lt"/>
                <a:cs typeface="+mn-lt"/>
              </a:rPr>
              <a:t> </a:t>
            </a:r>
            <a:r>
              <a:rPr lang="en-US" err="1">
                <a:ea typeface="+mn-lt"/>
                <a:cs typeface="+mn-lt"/>
              </a:rPr>
              <a:t>biển</a:t>
            </a:r>
            <a:r>
              <a:rPr lang="en-US">
                <a:ea typeface="+mn-lt"/>
                <a:cs typeface="+mn-lt"/>
              </a:rPr>
              <a:t> </a:t>
            </a:r>
            <a:r>
              <a:rPr lang="en-US" err="1">
                <a:ea typeface="+mn-lt"/>
                <a:cs typeface="+mn-lt"/>
              </a:rPr>
              <a:t>ven</a:t>
            </a:r>
            <a:r>
              <a:rPr lang="en-US">
                <a:ea typeface="+mn-lt"/>
                <a:cs typeface="+mn-lt"/>
              </a:rPr>
              <a:t> </a:t>
            </a:r>
            <a:r>
              <a:rPr lang="en-US" err="1">
                <a:ea typeface="+mn-lt"/>
                <a:cs typeface="+mn-lt"/>
              </a:rPr>
              <a:t>bờ</a:t>
            </a:r>
            <a:r>
              <a:rPr lang="en-US">
                <a:ea typeface="+mn-lt"/>
                <a:cs typeface="+mn-lt"/>
              </a:rPr>
              <a:t> Việt Nam </a:t>
            </a:r>
            <a:r>
              <a:rPr lang="en-US" err="1">
                <a:ea typeface="+mn-lt"/>
                <a:cs typeface="+mn-lt"/>
              </a:rPr>
              <a:t>đóng</a:t>
            </a:r>
            <a:r>
              <a:rPr lang="en-US">
                <a:ea typeface="+mn-lt"/>
                <a:cs typeface="+mn-lt"/>
              </a:rPr>
              <a:t> </a:t>
            </a:r>
            <a:r>
              <a:rPr lang="en-US" err="1">
                <a:ea typeface="+mn-lt"/>
                <a:cs typeface="+mn-lt"/>
              </a:rPr>
              <a:t>vai</a:t>
            </a:r>
            <a:r>
              <a:rPr lang="en-US">
                <a:ea typeface="+mn-lt"/>
                <a:cs typeface="+mn-lt"/>
              </a:rPr>
              <a:t> </a:t>
            </a:r>
            <a:r>
              <a:rPr lang="en-US" err="1">
                <a:ea typeface="+mn-lt"/>
                <a:cs typeface="+mn-lt"/>
              </a:rPr>
              <a:t>trò</a:t>
            </a:r>
            <a:r>
              <a:rPr lang="en-US">
                <a:ea typeface="+mn-lt"/>
                <a:cs typeface="+mn-lt"/>
              </a:rPr>
              <a:t> </a:t>
            </a:r>
            <a:r>
              <a:rPr lang="en-US" err="1">
                <a:ea typeface="+mn-lt"/>
                <a:cs typeface="+mn-lt"/>
              </a:rPr>
              <a:t>quan</a:t>
            </a:r>
            <a:r>
              <a:rPr lang="en-US">
                <a:ea typeface="+mn-lt"/>
                <a:cs typeface="+mn-lt"/>
              </a:rPr>
              <a:t> </a:t>
            </a:r>
            <a:r>
              <a:rPr lang="en-US" err="1">
                <a:ea typeface="+mn-lt"/>
                <a:cs typeface="+mn-lt"/>
              </a:rPr>
              <a:t>trọng</a:t>
            </a:r>
            <a:r>
              <a:rPr lang="en-US">
                <a:ea typeface="+mn-lt"/>
                <a:cs typeface="+mn-lt"/>
              </a:rPr>
              <a:t> </a:t>
            </a:r>
            <a:r>
              <a:rPr lang="en-US" err="1">
                <a:ea typeface="+mn-lt"/>
                <a:cs typeface="+mn-lt"/>
              </a:rPr>
              <a:t>trong</a:t>
            </a:r>
            <a:r>
              <a:rPr lang="en-US">
                <a:ea typeface="+mn-lt"/>
                <a:cs typeface="+mn-lt"/>
              </a:rPr>
              <a:t> </a:t>
            </a:r>
            <a:r>
              <a:rPr lang="en-US" err="1">
                <a:ea typeface="+mn-lt"/>
                <a:cs typeface="+mn-lt"/>
              </a:rPr>
              <a:t>nuôi</a:t>
            </a:r>
            <a:r>
              <a:rPr lang="en-US">
                <a:ea typeface="+mn-lt"/>
                <a:cs typeface="+mn-lt"/>
              </a:rPr>
              <a:t> </a:t>
            </a:r>
            <a:r>
              <a:rPr lang="en-US" err="1">
                <a:ea typeface="+mn-lt"/>
                <a:cs typeface="+mn-lt"/>
              </a:rPr>
              <a:t>trồng</a:t>
            </a:r>
            <a:r>
              <a:rPr lang="en-US">
                <a:ea typeface="+mn-lt"/>
                <a:cs typeface="+mn-lt"/>
              </a:rPr>
              <a:t> </a:t>
            </a:r>
            <a:r>
              <a:rPr lang="en-US" err="1">
                <a:ea typeface="+mn-lt"/>
                <a:cs typeface="+mn-lt"/>
              </a:rPr>
              <a:t>cá</a:t>
            </a:r>
            <a:r>
              <a:rPr lang="en-US">
                <a:ea typeface="+mn-lt"/>
                <a:cs typeface="+mn-lt"/>
              </a:rPr>
              <a:t> </a:t>
            </a:r>
            <a:r>
              <a:rPr lang="en-US" err="1">
                <a:ea typeface="+mn-lt"/>
                <a:cs typeface="+mn-lt"/>
              </a:rPr>
              <a:t>giò</a:t>
            </a:r>
            <a:r>
              <a:rPr lang="en-US">
                <a:ea typeface="+mn-lt"/>
                <a:cs typeface="+mn-lt"/>
              </a:rPr>
              <a:t> </a:t>
            </a:r>
            <a:r>
              <a:rPr lang="en-US" err="1">
                <a:ea typeface="+mn-lt"/>
                <a:cs typeface="+mn-lt"/>
              </a:rPr>
              <a:t>và</a:t>
            </a:r>
            <a:r>
              <a:rPr lang="en-US">
                <a:ea typeface="+mn-lt"/>
                <a:cs typeface="+mn-lt"/>
              </a:rPr>
              <a:t> </a:t>
            </a:r>
            <a:r>
              <a:rPr lang="en-US" err="1">
                <a:ea typeface="+mn-lt"/>
                <a:cs typeface="+mn-lt"/>
              </a:rPr>
              <a:t>hàu</a:t>
            </a:r>
            <a:r>
              <a:rPr lang="en-US">
                <a:ea typeface="+mn-lt"/>
                <a:cs typeface="+mn-lt"/>
              </a:rPr>
              <a:t>, </a:t>
            </a:r>
            <a:r>
              <a:rPr lang="en-US" err="1">
                <a:ea typeface="+mn-lt"/>
                <a:cs typeface="+mn-lt"/>
              </a:rPr>
              <a:t>nhưng</a:t>
            </a:r>
            <a:r>
              <a:rPr lang="en-US">
                <a:ea typeface="+mn-lt"/>
                <a:cs typeface="+mn-lt"/>
              </a:rPr>
              <a:t> </a:t>
            </a:r>
            <a:r>
              <a:rPr lang="en-US" err="1">
                <a:ea typeface="+mn-lt"/>
                <a:cs typeface="+mn-lt"/>
              </a:rPr>
              <a:t>chịu</a:t>
            </a:r>
            <a:r>
              <a:rPr lang="en-US">
                <a:ea typeface="+mn-lt"/>
                <a:cs typeface="+mn-lt"/>
              </a:rPr>
              <a:t> </a:t>
            </a:r>
            <a:r>
              <a:rPr lang="en-US" err="1">
                <a:ea typeface="+mn-lt"/>
                <a:cs typeface="+mn-lt"/>
              </a:rPr>
              <a:t>ảnh</a:t>
            </a:r>
            <a:r>
              <a:rPr lang="en-US">
                <a:ea typeface="+mn-lt"/>
                <a:cs typeface="+mn-lt"/>
              </a:rPr>
              <a:t> </a:t>
            </a:r>
            <a:r>
              <a:rPr lang="en-US" err="1">
                <a:ea typeface="+mn-lt"/>
                <a:cs typeface="+mn-lt"/>
              </a:rPr>
              <a:t>hưởng</a:t>
            </a:r>
            <a:r>
              <a:rPr lang="en-US">
                <a:ea typeface="+mn-lt"/>
                <a:cs typeface="+mn-lt"/>
              </a:rPr>
              <a:t> </a:t>
            </a:r>
            <a:r>
              <a:rPr lang="en-US" err="1">
                <a:ea typeface="+mn-lt"/>
                <a:cs typeface="+mn-lt"/>
              </a:rPr>
              <a:t>lớn</a:t>
            </a:r>
            <a:r>
              <a:rPr lang="en-US">
                <a:ea typeface="+mn-lt"/>
                <a:cs typeface="+mn-lt"/>
              </a:rPr>
              <a:t> </a:t>
            </a:r>
            <a:r>
              <a:rPr lang="en-US" err="1">
                <a:ea typeface="+mn-lt"/>
                <a:cs typeface="+mn-lt"/>
              </a:rPr>
              <a:t>từ</a:t>
            </a:r>
            <a:r>
              <a:rPr lang="en-US">
                <a:ea typeface="+mn-lt"/>
                <a:cs typeface="+mn-lt"/>
              </a:rPr>
              <a:t> </a:t>
            </a:r>
            <a:r>
              <a:rPr lang="en-US" err="1">
                <a:ea typeface="+mn-lt"/>
                <a:cs typeface="+mn-lt"/>
              </a:rPr>
              <a:t>các</a:t>
            </a:r>
            <a:r>
              <a:rPr lang="en-US">
                <a:ea typeface="+mn-lt"/>
                <a:cs typeface="+mn-lt"/>
              </a:rPr>
              <a:t> </a:t>
            </a:r>
            <a:r>
              <a:rPr lang="en-US" err="1">
                <a:ea typeface="+mn-lt"/>
                <a:cs typeface="+mn-lt"/>
              </a:rPr>
              <a:t>yếu</a:t>
            </a:r>
            <a:r>
              <a:rPr lang="en-US">
                <a:ea typeface="+mn-lt"/>
                <a:cs typeface="+mn-lt"/>
              </a:rPr>
              <a:t> </a:t>
            </a:r>
            <a:r>
              <a:rPr lang="en-US" err="1">
                <a:ea typeface="+mn-lt"/>
                <a:cs typeface="+mn-lt"/>
              </a:rPr>
              <a:t>tố</a:t>
            </a:r>
            <a:r>
              <a:rPr lang="en-US">
                <a:ea typeface="+mn-lt"/>
                <a:cs typeface="+mn-lt"/>
              </a:rPr>
              <a:t> </a:t>
            </a:r>
            <a:r>
              <a:rPr lang="en-US" err="1">
                <a:ea typeface="+mn-lt"/>
                <a:cs typeface="+mn-lt"/>
              </a:rPr>
              <a:t>như</a:t>
            </a:r>
            <a:r>
              <a:rPr lang="en-US">
                <a:ea typeface="+mn-lt"/>
                <a:cs typeface="+mn-lt"/>
              </a:rPr>
              <a:t> pH, </a:t>
            </a:r>
            <a:r>
              <a:rPr lang="en-US" err="1">
                <a:ea typeface="+mn-lt"/>
                <a:cs typeface="+mn-lt"/>
              </a:rPr>
              <a:t>độ</a:t>
            </a:r>
            <a:r>
              <a:rPr lang="en-US">
                <a:ea typeface="+mn-lt"/>
                <a:cs typeface="+mn-lt"/>
              </a:rPr>
              <a:t> </a:t>
            </a:r>
            <a:r>
              <a:rPr lang="en-US" err="1">
                <a:ea typeface="+mn-lt"/>
                <a:cs typeface="+mn-lt"/>
              </a:rPr>
              <a:t>mặn</a:t>
            </a:r>
            <a:r>
              <a:rPr lang="en-US">
                <a:ea typeface="+mn-lt"/>
                <a:cs typeface="+mn-lt"/>
              </a:rPr>
              <a:t>, DO, NH₃, H₂S </a:t>
            </a:r>
            <a:r>
              <a:rPr lang="en-US" err="1">
                <a:ea typeface="+mn-lt"/>
                <a:cs typeface="+mn-lt"/>
              </a:rPr>
              <a:t>và</a:t>
            </a:r>
            <a:r>
              <a:rPr lang="en-US">
                <a:ea typeface="+mn-lt"/>
                <a:cs typeface="+mn-lt"/>
              </a:rPr>
              <a:t> </a:t>
            </a:r>
            <a:r>
              <a:rPr lang="en-US" err="1">
                <a:ea typeface="+mn-lt"/>
                <a:cs typeface="+mn-lt"/>
              </a:rPr>
              <a:t>biến</a:t>
            </a:r>
            <a:r>
              <a:rPr lang="en-US">
                <a:ea typeface="+mn-lt"/>
                <a:cs typeface="+mn-lt"/>
              </a:rPr>
              <a:t> </a:t>
            </a:r>
            <a:r>
              <a:rPr lang="en-US" err="1">
                <a:ea typeface="+mn-lt"/>
                <a:cs typeface="+mn-lt"/>
              </a:rPr>
              <a:t>đổi</a:t>
            </a:r>
            <a:r>
              <a:rPr lang="en-US">
                <a:ea typeface="+mn-lt"/>
                <a:cs typeface="+mn-lt"/>
              </a:rPr>
              <a:t> </a:t>
            </a:r>
            <a:r>
              <a:rPr lang="en-US" err="1">
                <a:ea typeface="+mn-lt"/>
                <a:cs typeface="+mn-lt"/>
              </a:rPr>
              <a:t>khí</a:t>
            </a:r>
            <a:r>
              <a:rPr lang="en-US">
                <a:ea typeface="+mn-lt"/>
                <a:cs typeface="+mn-lt"/>
              </a:rPr>
              <a:t> </a:t>
            </a:r>
            <a:r>
              <a:rPr lang="en-US" err="1">
                <a:ea typeface="+mn-lt"/>
                <a:cs typeface="+mn-lt"/>
              </a:rPr>
              <a:t>hậu</a:t>
            </a:r>
            <a:r>
              <a:rPr lang="en-US">
                <a:ea typeface="+mn-lt"/>
                <a:cs typeface="+mn-lt"/>
              </a:rPr>
              <a:t>. </a:t>
            </a:r>
            <a:r>
              <a:rPr lang="en-US" err="1">
                <a:ea typeface="+mn-lt"/>
                <a:cs typeface="+mn-lt"/>
              </a:rPr>
              <a:t>Sự</a:t>
            </a:r>
            <a:r>
              <a:rPr lang="en-US">
                <a:ea typeface="+mn-lt"/>
                <a:cs typeface="+mn-lt"/>
              </a:rPr>
              <a:t> </a:t>
            </a:r>
            <a:r>
              <a:rPr lang="en-US" err="1">
                <a:ea typeface="+mn-lt"/>
                <a:cs typeface="+mn-lt"/>
              </a:rPr>
              <a:t>biến</a:t>
            </a:r>
            <a:r>
              <a:rPr lang="en-US">
                <a:ea typeface="+mn-lt"/>
                <a:cs typeface="+mn-lt"/>
              </a:rPr>
              <a:t> </a:t>
            </a:r>
            <a:r>
              <a:rPr lang="en-US" err="1">
                <a:ea typeface="+mn-lt"/>
                <a:cs typeface="+mn-lt"/>
              </a:rPr>
              <a:t>động</a:t>
            </a:r>
            <a:r>
              <a:rPr lang="en-US">
                <a:ea typeface="+mn-lt"/>
                <a:cs typeface="+mn-lt"/>
              </a:rPr>
              <a:t> </a:t>
            </a:r>
            <a:r>
              <a:rPr lang="en-US" err="1">
                <a:ea typeface="+mn-lt"/>
                <a:cs typeface="+mn-lt"/>
              </a:rPr>
              <a:t>khó</a:t>
            </a:r>
            <a:r>
              <a:rPr lang="en-US">
                <a:ea typeface="+mn-lt"/>
                <a:cs typeface="+mn-lt"/>
              </a:rPr>
              <a:t> </a:t>
            </a:r>
            <a:r>
              <a:rPr lang="en-US" err="1">
                <a:ea typeface="+mn-lt"/>
                <a:cs typeface="+mn-lt"/>
              </a:rPr>
              <a:t>lường</a:t>
            </a:r>
            <a:r>
              <a:rPr lang="en-US">
                <a:ea typeface="+mn-lt"/>
                <a:cs typeface="+mn-lt"/>
              </a:rPr>
              <a:t> </a:t>
            </a:r>
            <a:r>
              <a:rPr lang="en-US" err="1">
                <a:ea typeface="+mn-lt"/>
                <a:cs typeface="+mn-lt"/>
              </a:rPr>
              <a:t>của</a:t>
            </a:r>
            <a:r>
              <a:rPr lang="en-US">
                <a:ea typeface="+mn-lt"/>
                <a:cs typeface="+mn-lt"/>
              </a:rPr>
              <a:t> </a:t>
            </a:r>
            <a:r>
              <a:rPr lang="en-US" err="1">
                <a:ea typeface="+mn-lt"/>
                <a:cs typeface="+mn-lt"/>
              </a:rPr>
              <a:t>các</a:t>
            </a:r>
            <a:r>
              <a:rPr lang="en-US">
                <a:ea typeface="+mn-lt"/>
                <a:cs typeface="+mn-lt"/>
              </a:rPr>
              <a:t> </a:t>
            </a:r>
            <a:r>
              <a:rPr lang="en-US" err="1">
                <a:ea typeface="+mn-lt"/>
                <a:cs typeface="+mn-lt"/>
              </a:rPr>
              <a:t>yếu</a:t>
            </a:r>
            <a:r>
              <a:rPr lang="en-US">
                <a:ea typeface="+mn-lt"/>
                <a:cs typeface="+mn-lt"/>
              </a:rPr>
              <a:t> </a:t>
            </a:r>
            <a:r>
              <a:rPr lang="en-US" err="1">
                <a:ea typeface="+mn-lt"/>
                <a:cs typeface="+mn-lt"/>
              </a:rPr>
              <a:t>tố</a:t>
            </a:r>
            <a:r>
              <a:rPr lang="en-US">
                <a:ea typeface="+mn-lt"/>
                <a:cs typeface="+mn-lt"/>
              </a:rPr>
              <a:t> </a:t>
            </a:r>
            <a:r>
              <a:rPr lang="en-US" err="1">
                <a:ea typeface="+mn-lt"/>
                <a:cs typeface="+mn-lt"/>
              </a:rPr>
              <a:t>này</a:t>
            </a:r>
            <a:r>
              <a:rPr lang="en-US">
                <a:ea typeface="+mn-lt"/>
                <a:cs typeface="+mn-lt"/>
              </a:rPr>
              <a:t> </a:t>
            </a:r>
            <a:r>
              <a:rPr lang="en-US" err="1">
                <a:ea typeface="+mn-lt"/>
                <a:cs typeface="+mn-lt"/>
              </a:rPr>
              <a:t>gây</a:t>
            </a:r>
            <a:r>
              <a:rPr lang="en-US">
                <a:ea typeface="+mn-lt"/>
                <a:cs typeface="+mn-lt"/>
              </a:rPr>
              <a:t> </a:t>
            </a:r>
            <a:r>
              <a:rPr lang="en-US" err="1">
                <a:ea typeface="+mn-lt"/>
                <a:cs typeface="+mn-lt"/>
              </a:rPr>
              <a:t>rủi</a:t>
            </a:r>
            <a:r>
              <a:rPr lang="en-US">
                <a:ea typeface="+mn-lt"/>
                <a:cs typeface="+mn-lt"/>
              </a:rPr>
              <a:t> </a:t>
            </a:r>
            <a:r>
              <a:rPr lang="en-US" err="1">
                <a:ea typeface="+mn-lt"/>
                <a:cs typeface="+mn-lt"/>
              </a:rPr>
              <a:t>ro</a:t>
            </a:r>
            <a:r>
              <a:rPr lang="en-US">
                <a:ea typeface="+mn-lt"/>
                <a:cs typeface="+mn-lt"/>
              </a:rPr>
              <a:t> </a:t>
            </a:r>
            <a:r>
              <a:rPr lang="en-US" err="1">
                <a:ea typeface="+mn-lt"/>
                <a:cs typeface="+mn-lt"/>
              </a:rPr>
              <a:t>cho</a:t>
            </a:r>
            <a:r>
              <a:rPr lang="en-US">
                <a:ea typeface="+mn-lt"/>
                <a:cs typeface="+mn-lt"/>
              </a:rPr>
              <a:t> </a:t>
            </a:r>
            <a:r>
              <a:rPr lang="en-US" err="1">
                <a:ea typeface="+mn-lt"/>
                <a:cs typeface="+mn-lt"/>
              </a:rPr>
              <a:t>sức</a:t>
            </a:r>
            <a:r>
              <a:rPr lang="en-US">
                <a:ea typeface="+mn-lt"/>
                <a:cs typeface="+mn-lt"/>
              </a:rPr>
              <a:t> </a:t>
            </a:r>
            <a:r>
              <a:rPr lang="en-US" err="1">
                <a:ea typeface="+mn-lt"/>
                <a:cs typeface="+mn-lt"/>
              </a:rPr>
              <a:t>khỏe</a:t>
            </a:r>
            <a:r>
              <a:rPr lang="en-US">
                <a:ea typeface="+mn-lt"/>
                <a:cs typeface="+mn-lt"/>
              </a:rPr>
              <a:t> </a:t>
            </a:r>
            <a:r>
              <a:rPr lang="en-US" err="1">
                <a:ea typeface="+mn-lt"/>
                <a:cs typeface="+mn-lt"/>
              </a:rPr>
              <a:t>và</a:t>
            </a:r>
            <a:r>
              <a:rPr lang="en-US">
                <a:ea typeface="+mn-lt"/>
                <a:cs typeface="+mn-lt"/>
              </a:rPr>
              <a:t> </a:t>
            </a:r>
            <a:r>
              <a:rPr lang="en-US" err="1">
                <a:ea typeface="+mn-lt"/>
                <a:cs typeface="+mn-lt"/>
              </a:rPr>
              <a:t>năng</a:t>
            </a:r>
            <a:r>
              <a:rPr lang="en-US">
                <a:ea typeface="+mn-lt"/>
                <a:cs typeface="+mn-lt"/>
              </a:rPr>
              <a:t> </a:t>
            </a:r>
            <a:r>
              <a:rPr lang="en-US" err="1">
                <a:ea typeface="+mn-lt"/>
                <a:cs typeface="+mn-lt"/>
              </a:rPr>
              <a:t>suất</a:t>
            </a:r>
            <a:r>
              <a:rPr lang="en-US">
                <a:ea typeface="+mn-lt"/>
                <a:cs typeface="+mn-lt"/>
              </a:rPr>
              <a:t> </a:t>
            </a:r>
            <a:r>
              <a:rPr lang="en-US" err="1">
                <a:ea typeface="+mn-lt"/>
                <a:cs typeface="+mn-lt"/>
              </a:rPr>
              <a:t>nuôi</a:t>
            </a:r>
            <a:r>
              <a:rPr lang="en-US">
                <a:ea typeface="+mn-lt"/>
                <a:cs typeface="+mn-lt"/>
              </a:rPr>
              <a:t> </a:t>
            </a:r>
            <a:r>
              <a:rPr lang="en-US" err="1">
                <a:ea typeface="+mn-lt"/>
                <a:cs typeface="+mn-lt"/>
              </a:rPr>
              <a:t>trồng</a:t>
            </a:r>
            <a:r>
              <a:rPr lang="en-US">
                <a:ea typeface="+mn-lt"/>
                <a:cs typeface="+mn-lt"/>
              </a:rPr>
              <a:t>. </a:t>
            </a:r>
            <a:r>
              <a:rPr lang="en-US" err="1">
                <a:ea typeface="+mn-lt"/>
                <a:cs typeface="+mn-lt"/>
              </a:rPr>
              <a:t>Đề</a:t>
            </a:r>
            <a:r>
              <a:rPr lang="en-US">
                <a:ea typeface="+mn-lt"/>
                <a:cs typeface="+mn-lt"/>
              </a:rPr>
              <a:t> </a:t>
            </a:r>
            <a:r>
              <a:rPr lang="en-US" err="1">
                <a:ea typeface="+mn-lt"/>
                <a:cs typeface="+mn-lt"/>
              </a:rPr>
              <a:t>tài</a:t>
            </a:r>
            <a:r>
              <a:rPr lang="en-US">
                <a:ea typeface="+mn-lt"/>
                <a:cs typeface="+mn-lt"/>
              </a:rPr>
              <a:t> </a:t>
            </a:r>
            <a:r>
              <a:rPr lang="en-US" err="1">
                <a:ea typeface="+mn-lt"/>
                <a:cs typeface="+mn-lt"/>
              </a:rPr>
              <a:t>hướng</a:t>
            </a:r>
            <a:r>
              <a:rPr lang="en-US">
                <a:ea typeface="+mn-lt"/>
                <a:cs typeface="+mn-lt"/>
              </a:rPr>
              <a:t> </a:t>
            </a:r>
            <a:r>
              <a:rPr lang="en-US" err="1">
                <a:ea typeface="+mn-lt"/>
                <a:cs typeface="+mn-lt"/>
              </a:rPr>
              <a:t>đến</a:t>
            </a:r>
            <a:r>
              <a:rPr lang="en-US">
                <a:ea typeface="+mn-lt"/>
                <a:cs typeface="+mn-lt"/>
              </a:rPr>
              <a:t> </a:t>
            </a:r>
            <a:r>
              <a:rPr lang="en-US" err="1">
                <a:ea typeface="+mn-lt"/>
                <a:cs typeface="+mn-lt"/>
              </a:rPr>
              <a:t>ứng</a:t>
            </a:r>
            <a:r>
              <a:rPr lang="en-US">
                <a:ea typeface="+mn-lt"/>
                <a:cs typeface="+mn-lt"/>
              </a:rPr>
              <a:t> </a:t>
            </a:r>
            <a:r>
              <a:rPr lang="en-US" err="1">
                <a:ea typeface="+mn-lt"/>
                <a:cs typeface="+mn-lt"/>
              </a:rPr>
              <a:t>dụng</a:t>
            </a:r>
            <a:r>
              <a:rPr lang="en-US">
                <a:ea typeface="+mn-lt"/>
                <a:cs typeface="+mn-lt"/>
              </a:rPr>
              <a:t> </a:t>
            </a:r>
            <a:r>
              <a:rPr lang="en-US" err="1">
                <a:ea typeface="+mn-lt"/>
                <a:cs typeface="+mn-lt"/>
              </a:rPr>
              <a:t>học</a:t>
            </a:r>
            <a:r>
              <a:rPr lang="en-US">
                <a:ea typeface="+mn-lt"/>
                <a:cs typeface="+mn-lt"/>
              </a:rPr>
              <a:t> </a:t>
            </a:r>
            <a:r>
              <a:rPr lang="en-US" err="1">
                <a:ea typeface="+mn-lt"/>
                <a:cs typeface="+mn-lt"/>
              </a:rPr>
              <a:t>máy</a:t>
            </a:r>
            <a:r>
              <a:rPr lang="en-US">
                <a:ea typeface="+mn-lt"/>
                <a:cs typeface="+mn-lt"/>
              </a:rPr>
              <a:t> </a:t>
            </a:r>
            <a:r>
              <a:rPr lang="en-US" err="1">
                <a:ea typeface="+mn-lt"/>
                <a:cs typeface="+mn-lt"/>
              </a:rPr>
              <a:t>để</a:t>
            </a:r>
            <a:r>
              <a:rPr lang="en-US">
                <a:ea typeface="+mn-lt"/>
                <a:cs typeface="+mn-lt"/>
              </a:rPr>
              <a:t> </a:t>
            </a:r>
            <a:r>
              <a:rPr lang="en-US" err="1">
                <a:ea typeface="+mn-lt"/>
                <a:cs typeface="+mn-lt"/>
              </a:rPr>
              <a:t>phân</a:t>
            </a:r>
            <a:r>
              <a:rPr lang="en-US">
                <a:ea typeface="+mn-lt"/>
                <a:cs typeface="+mn-lt"/>
              </a:rPr>
              <a:t> </a:t>
            </a:r>
            <a:r>
              <a:rPr lang="en-US" err="1">
                <a:ea typeface="+mn-lt"/>
                <a:cs typeface="+mn-lt"/>
              </a:rPr>
              <a:t>tích</a:t>
            </a:r>
            <a:r>
              <a:rPr lang="en-US">
                <a:ea typeface="+mn-lt"/>
                <a:cs typeface="+mn-lt"/>
              </a:rPr>
              <a:t> </a:t>
            </a:r>
            <a:r>
              <a:rPr lang="en-US" err="1">
                <a:ea typeface="+mn-lt"/>
                <a:cs typeface="+mn-lt"/>
              </a:rPr>
              <a:t>dữ</a:t>
            </a:r>
            <a:r>
              <a:rPr lang="en-US">
                <a:ea typeface="+mn-lt"/>
                <a:cs typeface="+mn-lt"/>
              </a:rPr>
              <a:t> </a:t>
            </a:r>
            <a:r>
              <a:rPr lang="en-US" err="1">
                <a:ea typeface="+mn-lt"/>
                <a:cs typeface="+mn-lt"/>
              </a:rPr>
              <a:t>liệu</a:t>
            </a:r>
            <a:r>
              <a:rPr lang="en-US">
                <a:ea typeface="+mn-lt"/>
                <a:cs typeface="+mn-lt"/>
              </a:rPr>
              <a:t> </a:t>
            </a:r>
            <a:r>
              <a:rPr lang="en-US" err="1">
                <a:ea typeface="+mn-lt"/>
                <a:cs typeface="+mn-lt"/>
              </a:rPr>
              <a:t>quan</a:t>
            </a:r>
            <a:r>
              <a:rPr lang="en-US">
                <a:ea typeface="+mn-lt"/>
                <a:cs typeface="+mn-lt"/>
              </a:rPr>
              <a:t> </a:t>
            </a:r>
            <a:r>
              <a:rPr lang="en-US" err="1">
                <a:ea typeface="+mn-lt"/>
                <a:cs typeface="+mn-lt"/>
              </a:rPr>
              <a:t>trắc</a:t>
            </a:r>
            <a:r>
              <a:rPr lang="en-US">
                <a:ea typeface="+mn-lt"/>
                <a:cs typeface="+mn-lt"/>
              </a:rPr>
              <a:t>, </a:t>
            </a:r>
            <a:r>
              <a:rPr lang="en-US" err="1">
                <a:ea typeface="+mn-lt"/>
                <a:cs typeface="+mn-lt"/>
              </a:rPr>
              <a:t>dự</a:t>
            </a:r>
            <a:r>
              <a:rPr lang="en-US">
                <a:ea typeface="+mn-lt"/>
                <a:cs typeface="+mn-lt"/>
              </a:rPr>
              <a:t> </a:t>
            </a:r>
            <a:r>
              <a:rPr lang="en-US" err="1">
                <a:ea typeface="+mn-lt"/>
                <a:cs typeface="+mn-lt"/>
              </a:rPr>
              <a:t>báo</a:t>
            </a:r>
            <a:r>
              <a:rPr lang="en-US">
                <a:ea typeface="+mn-lt"/>
                <a:cs typeface="+mn-lt"/>
              </a:rPr>
              <a:t> </a:t>
            </a:r>
            <a:r>
              <a:rPr lang="en-US" err="1">
                <a:ea typeface="+mn-lt"/>
                <a:cs typeface="+mn-lt"/>
              </a:rPr>
              <a:t>sớm</a:t>
            </a:r>
            <a:r>
              <a:rPr lang="en-US">
                <a:ea typeface="+mn-lt"/>
                <a:cs typeface="+mn-lt"/>
              </a:rPr>
              <a:t> </a:t>
            </a:r>
            <a:r>
              <a:rPr lang="en-US" err="1">
                <a:ea typeface="+mn-lt"/>
                <a:cs typeface="+mn-lt"/>
              </a:rPr>
              <a:t>rủi</a:t>
            </a:r>
            <a:r>
              <a:rPr lang="en-US">
                <a:ea typeface="+mn-lt"/>
                <a:cs typeface="+mn-lt"/>
              </a:rPr>
              <a:t> </a:t>
            </a:r>
            <a:r>
              <a:rPr lang="en-US" err="1">
                <a:ea typeface="+mn-lt"/>
                <a:cs typeface="+mn-lt"/>
              </a:rPr>
              <a:t>ro</a:t>
            </a:r>
            <a:r>
              <a:rPr lang="en-US">
                <a:ea typeface="+mn-lt"/>
                <a:cs typeface="+mn-lt"/>
              </a:rPr>
              <a:t> </a:t>
            </a:r>
            <a:r>
              <a:rPr lang="en-US" err="1">
                <a:ea typeface="+mn-lt"/>
                <a:cs typeface="+mn-lt"/>
              </a:rPr>
              <a:t>môi</a:t>
            </a:r>
            <a:r>
              <a:rPr lang="en-US">
                <a:ea typeface="+mn-lt"/>
                <a:cs typeface="+mn-lt"/>
              </a:rPr>
              <a:t> </a:t>
            </a:r>
            <a:r>
              <a:rPr lang="en-US" err="1">
                <a:ea typeface="+mn-lt"/>
                <a:cs typeface="+mn-lt"/>
              </a:rPr>
              <a:t>trường</a:t>
            </a:r>
            <a:r>
              <a:rPr lang="en-US">
                <a:ea typeface="+mn-lt"/>
                <a:cs typeface="+mn-lt"/>
              </a:rPr>
              <a:t> </a:t>
            </a:r>
            <a:r>
              <a:rPr lang="en-US" err="1">
                <a:ea typeface="+mn-lt"/>
                <a:cs typeface="+mn-lt"/>
              </a:rPr>
              <a:t>và</a:t>
            </a:r>
            <a:r>
              <a:rPr lang="en-US">
                <a:ea typeface="+mn-lt"/>
                <a:cs typeface="+mn-lt"/>
              </a:rPr>
              <a:t> </a:t>
            </a:r>
            <a:r>
              <a:rPr lang="en-US" err="1">
                <a:ea typeface="+mn-lt"/>
                <a:cs typeface="+mn-lt"/>
              </a:rPr>
              <a:t>xác</a:t>
            </a:r>
            <a:r>
              <a:rPr lang="en-US">
                <a:ea typeface="+mn-lt"/>
                <a:cs typeface="+mn-lt"/>
              </a:rPr>
              <a:t> </a:t>
            </a:r>
            <a:r>
              <a:rPr lang="en-US" err="1">
                <a:ea typeface="+mn-lt"/>
                <a:cs typeface="+mn-lt"/>
              </a:rPr>
              <a:t>định</a:t>
            </a:r>
            <a:r>
              <a:rPr lang="en-US">
                <a:ea typeface="+mn-lt"/>
                <a:cs typeface="+mn-lt"/>
              </a:rPr>
              <a:t> </a:t>
            </a:r>
            <a:r>
              <a:rPr lang="en-US" err="1">
                <a:ea typeface="+mn-lt"/>
                <a:cs typeface="+mn-lt"/>
              </a:rPr>
              <a:t>vùng</a:t>
            </a:r>
            <a:r>
              <a:rPr lang="en-US">
                <a:ea typeface="+mn-lt"/>
                <a:cs typeface="+mn-lt"/>
              </a:rPr>
              <a:t> </a:t>
            </a:r>
            <a:r>
              <a:rPr lang="en-US" err="1">
                <a:ea typeface="+mn-lt"/>
                <a:cs typeface="+mn-lt"/>
              </a:rPr>
              <a:t>nuôi</a:t>
            </a:r>
            <a:r>
              <a:rPr lang="en-US">
                <a:ea typeface="+mn-lt"/>
                <a:cs typeface="+mn-lt"/>
              </a:rPr>
              <a:t> </a:t>
            </a:r>
            <a:r>
              <a:rPr lang="en-US" err="1">
                <a:ea typeface="+mn-lt"/>
                <a:cs typeface="+mn-lt"/>
              </a:rPr>
              <a:t>tối</a:t>
            </a:r>
            <a:r>
              <a:rPr lang="en-US">
                <a:ea typeface="+mn-lt"/>
                <a:cs typeface="+mn-lt"/>
              </a:rPr>
              <a:t> </a:t>
            </a:r>
            <a:r>
              <a:rPr lang="en-US" err="1">
                <a:ea typeface="+mn-lt"/>
                <a:cs typeface="+mn-lt"/>
              </a:rPr>
              <a:t>ưu</a:t>
            </a:r>
            <a:r>
              <a:rPr lang="en-US">
                <a:ea typeface="+mn-lt"/>
                <a:cs typeface="+mn-lt"/>
              </a:rPr>
              <a:t>, </a:t>
            </a:r>
            <a:r>
              <a:rPr lang="en-US" err="1">
                <a:ea typeface="+mn-lt"/>
                <a:cs typeface="+mn-lt"/>
              </a:rPr>
              <a:t>góp</a:t>
            </a:r>
            <a:r>
              <a:rPr lang="en-US">
                <a:ea typeface="+mn-lt"/>
                <a:cs typeface="+mn-lt"/>
              </a:rPr>
              <a:t> </a:t>
            </a:r>
            <a:r>
              <a:rPr lang="en-US" err="1">
                <a:ea typeface="+mn-lt"/>
                <a:cs typeface="+mn-lt"/>
              </a:rPr>
              <a:t>phần</a:t>
            </a:r>
            <a:r>
              <a:rPr lang="en-US">
                <a:ea typeface="+mn-lt"/>
                <a:cs typeface="+mn-lt"/>
              </a:rPr>
              <a:t> </a:t>
            </a:r>
            <a:r>
              <a:rPr lang="en-US" err="1">
                <a:ea typeface="+mn-lt"/>
                <a:cs typeface="+mn-lt"/>
              </a:rPr>
              <a:t>hỗ</a:t>
            </a:r>
            <a:r>
              <a:rPr lang="en-US">
                <a:ea typeface="+mn-lt"/>
                <a:cs typeface="+mn-lt"/>
              </a:rPr>
              <a:t> </a:t>
            </a:r>
            <a:r>
              <a:rPr lang="en-US" err="1">
                <a:ea typeface="+mn-lt"/>
                <a:cs typeface="+mn-lt"/>
              </a:rPr>
              <a:t>trợ</a:t>
            </a:r>
            <a:r>
              <a:rPr lang="en-US">
                <a:ea typeface="+mn-lt"/>
                <a:cs typeface="+mn-lt"/>
              </a:rPr>
              <a:t> </a:t>
            </a:r>
            <a:r>
              <a:rPr lang="en-US" err="1">
                <a:ea typeface="+mn-lt"/>
                <a:cs typeface="+mn-lt"/>
              </a:rPr>
              <a:t>quản</a:t>
            </a:r>
            <a:r>
              <a:rPr lang="en-US">
                <a:ea typeface="+mn-lt"/>
                <a:cs typeface="+mn-lt"/>
              </a:rPr>
              <a:t> </a:t>
            </a:r>
            <a:r>
              <a:rPr lang="en-US" err="1">
                <a:ea typeface="+mn-lt"/>
                <a:cs typeface="+mn-lt"/>
              </a:rPr>
              <a:t>lý</a:t>
            </a:r>
            <a:r>
              <a:rPr lang="en-US">
                <a:ea typeface="+mn-lt"/>
                <a:cs typeface="+mn-lt"/>
              </a:rPr>
              <a:t> </a:t>
            </a:r>
            <a:r>
              <a:rPr lang="en-US" err="1">
                <a:ea typeface="+mn-lt"/>
                <a:cs typeface="+mn-lt"/>
              </a:rPr>
              <a:t>bền</a:t>
            </a:r>
            <a:r>
              <a:rPr lang="en-US">
                <a:ea typeface="+mn-lt"/>
                <a:cs typeface="+mn-lt"/>
              </a:rPr>
              <a:t> </a:t>
            </a:r>
            <a:r>
              <a:rPr lang="en-US" err="1">
                <a:ea typeface="+mn-lt"/>
                <a:cs typeface="+mn-lt"/>
              </a:rPr>
              <a:t>vững</a:t>
            </a:r>
            <a:r>
              <a:rPr lang="en-US">
                <a:ea typeface="+mn-lt"/>
                <a:cs typeface="+mn-lt"/>
              </a:rPr>
              <a:t> </a:t>
            </a:r>
            <a:r>
              <a:rPr lang="en-US" err="1">
                <a:ea typeface="+mn-lt"/>
                <a:cs typeface="+mn-lt"/>
              </a:rPr>
              <a:t>và</a:t>
            </a:r>
            <a:r>
              <a:rPr lang="en-US">
                <a:ea typeface="+mn-lt"/>
                <a:cs typeface="+mn-lt"/>
              </a:rPr>
              <a:t> </a:t>
            </a:r>
            <a:r>
              <a:rPr lang="en-US" err="1">
                <a:ea typeface="+mn-lt"/>
                <a:cs typeface="+mn-lt"/>
              </a:rPr>
              <a:t>ra</a:t>
            </a:r>
            <a:r>
              <a:rPr lang="en-US">
                <a:ea typeface="+mn-lt"/>
                <a:cs typeface="+mn-lt"/>
              </a:rPr>
              <a:t> </a:t>
            </a:r>
            <a:r>
              <a:rPr lang="en-US" err="1">
                <a:ea typeface="+mn-lt"/>
                <a:cs typeface="+mn-lt"/>
              </a:rPr>
              <a:t>quyết</a:t>
            </a:r>
            <a:r>
              <a:rPr lang="en-US">
                <a:ea typeface="+mn-lt"/>
                <a:cs typeface="+mn-lt"/>
              </a:rPr>
              <a:t> </a:t>
            </a:r>
            <a:r>
              <a:rPr lang="en-US" err="1">
                <a:ea typeface="+mn-lt"/>
                <a:cs typeface="+mn-lt"/>
              </a:rPr>
              <a:t>định</a:t>
            </a:r>
            <a:r>
              <a:rPr lang="en-US">
                <a:ea typeface="+mn-lt"/>
                <a:cs typeface="+mn-lt"/>
              </a:rPr>
              <a:t> </a:t>
            </a:r>
            <a:r>
              <a:rPr lang="en-US" err="1">
                <a:ea typeface="+mn-lt"/>
                <a:cs typeface="+mn-lt"/>
              </a:rPr>
              <a:t>kịp</a:t>
            </a:r>
            <a:r>
              <a:rPr lang="en-US">
                <a:ea typeface="+mn-lt"/>
                <a:cs typeface="+mn-lt"/>
              </a:rPr>
              <a:t> </a:t>
            </a:r>
            <a:r>
              <a:rPr lang="en-US" err="1">
                <a:ea typeface="+mn-lt"/>
                <a:cs typeface="+mn-lt"/>
              </a:rPr>
              <a:t>thời</a:t>
            </a:r>
            <a:r>
              <a:rPr lang="en-US">
                <a:ea typeface="+mn-lt"/>
                <a:cs typeface="+mn-lt"/>
              </a:rPr>
              <a:t>.</a:t>
            </a:r>
            <a:endParaRPr lang="en-US"/>
          </a:p>
        </p:txBody>
      </p:sp>
      <p:pic>
        <p:nvPicPr>
          <p:cNvPr id="7" name="Picture 6" descr="A map of the vietnam&#10;&#10;Description automatically generated">
            <a:extLst>
              <a:ext uri="{FF2B5EF4-FFF2-40B4-BE49-F238E27FC236}">
                <a16:creationId xmlns:a16="http://schemas.microsoft.com/office/drawing/2014/main" id="{BC15637A-77B3-4A9E-850E-5A860B084A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468" y="1228778"/>
            <a:ext cx="3035731" cy="4295560"/>
          </a:xfrm>
          <a:prstGeom prst="rect">
            <a:avLst/>
          </a:prstGeom>
        </p:spPr>
      </p:pic>
      <p:pic>
        <p:nvPicPr>
          <p:cNvPr id="9" name="Picture 8" descr="Fish in a pool of water&#10;&#10;Description automatically generated">
            <a:extLst>
              <a:ext uri="{FF2B5EF4-FFF2-40B4-BE49-F238E27FC236}">
                <a16:creationId xmlns:a16="http://schemas.microsoft.com/office/drawing/2014/main" id="{76F47583-C7DF-344F-1311-9A1DEFBAD698}"/>
              </a:ext>
            </a:extLst>
          </p:cNvPr>
          <p:cNvPicPr>
            <a:picLocks noChangeAspect="1"/>
          </p:cNvPicPr>
          <p:nvPr/>
        </p:nvPicPr>
        <p:blipFill rotWithShape="1">
          <a:blip r:embed="rId4">
            <a:extLst>
              <a:ext uri="{28A0092B-C50C-407E-A947-70E740481C1C}">
                <a14:useLocalDpi xmlns:a14="http://schemas.microsoft.com/office/drawing/2010/main" val="0"/>
              </a:ext>
            </a:extLst>
          </a:blip>
          <a:srcRect t="10822"/>
          <a:stretch/>
        </p:blipFill>
        <p:spPr>
          <a:xfrm>
            <a:off x="5127173" y="1196465"/>
            <a:ext cx="3035731" cy="2030400"/>
          </a:xfrm>
          <a:prstGeom prst="rect">
            <a:avLst/>
          </a:prstGeom>
        </p:spPr>
      </p:pic>
      <p:pic>
        <p:nvPicPr>
          <p:cNvPr id="11" name="Picture 10" descr="A group of people on a raft with fish in it&#10;&#10;Description automatically generated">
            <a:extLst>
              <a:ext uri="{FF2B5EF4-FFF2-40B4-BE49-F238E27FC236}">
                <a16:creationId xmlns:a16="http://schemas.microsoft.com/office/drawing/2014/main" id="{B272769B-DA93-52FE-19AA-8D5ED951E151}"/>
              </a:ext>
            </a:extLst>
          </p:cNvPr>
          <p:cNvPicPr>
            <a:picLocks noChangeAspect="1"/>
          </p:cNvPicPr>
          <p:nvPr/>
        </p:nvPicPr>
        <p:blipFill rotWithShape="1">
          <a:blip r:embed="rId5">
            <a:extLst>
              <a:ext uri="{28A0092B-C50C-407E-A947-70E740481C1C}">
                <a14:useLocalDpi xmlns:a14="http://schemas.microsoft.com/office/drawing/2010/main" val="0"/>
              </a:ext>
            </a:extLst>
          </a:blip>
          <a:srcRect l="8930" t="15584" r="2539"/>
          <a:stretch/>
        </p:blipFill>
        <p:spPr>
          <a:xfrm>
            <a:off x="5127173" y="3493012"/>
            <a:ext cx="3035731" cy="2031326"/>
          </a:xfrm>
          <a:prstGeom prst="rect">
            <a:avLst/>
          </a:prstGeom>
        </p:spPr>
      </p:pic>
      <p:sp>
        <p:nvSpPr>
          <p:cNvPr id="12" name="TextBox 11">
            <a:extLst>
              <a:ext uri="{FF2B5EF4-FFF2-40B4-BE49-F238E27FC236}">
                <a16:creationId xmlns:a16="http://schemas.microsoft.com/office/drawing/2014/main" id="{2B6C8B4F-2234-6000-AAEF-62710FAE9193}"/>
              </a:ext>
            </a:extLst>
          </p:cNvPr>
          <p:cNvSpPr txBox="1"/>
          <p:nvPr/>
        </p:nvSpPr>
        <p:spPr>
          <a:xfrm>
            <a:off x="1020848" y="5629222"/>
            <a:ext cx="2694969" cy="523220"/>
          </a:xfrm>
          <a:prstGeom prst="rect">
            <a:avLst/>
          </a:prstGeom>
          <a:noFill/>
        </p:spPr>
        <p:txBody>
          <a:bodyPr wrap="none" rtlCol="0">
            <a:spAutoFit/>
          </a:bodyPr>
          <a:lstStyle/>
          <a:p>
            <a:pPr algn="ctr"/>
            <a:r>
              <a:rPr lang="en-VN" sz="1400" i="1">
                <a:latin typeface="Lato" panose="020F0502020204030203" pitchFamily="34" charset="0"/>
                <a:ea typeface="Lato" panose="020F0502020204030203" pitchFamily="34" charset="0"/>
                <a:cs typeface="Lato" panose="020F0502020204030203" pitchFamily="34" charset="0"/>
              </a:rPr>
              <a:t>Bản đồ biển Việt Nam</a:t>
            </a:r>
          </a:p>
          <a:p>
            <a:pPr algn="ctr"/>
            <a:r>
              <a:rPr lang="en-VN" sz="1400" i="1">
                <a:latin typeface="Lato" panose="020F0502020204030203" pitchFamily="34" charset="0"/>
                <a:ea typeface="Lato" panose="020F0502020204030203" pitchFamily="34" charset="0"/>
                <a:cs typeface="Lato" panose="020F0502020204030203" pitchFamily="34" charset="0"/>
              </a:rPr>
              <a:t>(Nguồn: </a:t>
            </a:r>
            <a:r>
              <a:rPr lang="en-US" sz="1400" i="1">
                <a:latin typeface="Lato" panose="020F0502020204030203" pitchFamily="34" charset="0"/>
                <a:ea typeface="Lato" panose="020F0502020204030203" pitchFamily="34" charset="0"/>
                <a:cs typeface="Lato" panose="020F0502020204030203" pitchFamily="34" charset="0"/>
              </a:rPr>
              <a:t>bandothegioikholon.com)</a:t>
            </a:r>
            <a:endParaRPr lang="en-VN" sz="1400" i="1">
              <a:latin typeface="Lato" panose="020F0502020204030203" pitchFamily="34" charset="0"/>
              <a:ea typeface="Lato" panose="020F0502020204030203" pitchFamily="34" charset="0"/>
              <a:cs typeface="Lato" panose="020F0502020204030203" pitchFamily="34" charset="0"/>
            </a:endParaRPr>
          </a:p>
        </p:txBody>
      </p:sp>
      <p:sp>
        <p:nvSpPr>
          <p:cNvPr id="15" name="TextBox 14">
            <a:extLst>
              <a:ext uri="{FF2B5EF4-FFF2-40B4-BE49-F238E27FC236}">
                <a16:creationId xmlns:a16="http://schemas.microsoft.com/office/drawing/2014/main" id="{15A68BD5-0A6D-26EB-BB7E-68C320A69803}"/>
              </a:ext>
            </a:extLst>
          </p:cNvPr>
          <p:cNvSpPr txBox="1"/>
          <p:nvPr/>
        </p:nvSpPr>
        <p:spPr>
          <a:xfrm>
            <a:off x="5197366" y="5623742"/>
            <a:ext cx="2895344" cy="307777"/>
          </a:xfrm>
          <a:prstGeom prst="rect">
            <a:avLst/>
          </a:prstGeom>
          <a:noFill/>
        </p:spPr>
        <p:txBody>
          <a:bodyPr wrap="none" rtlCol="0">
            <a:spAutoFit/>
          </a:bodyPr>
          <a:lstStyle/>
          <a:p>
            <a:pPr algn="ctr"/>
            <a:r>
              <a:rPr lang="en-US" sz="1400" i="1" err="1">
                <a:latin typeface="Lato" panose="020F0502020204030203" pitchFamily="34" charset="0"/>
                <a:ea typeface="Lato" panose="020F0502020204030203" pitchFamily="34" charset="0"/>
                <a:cs typeface="Lato" panose="020F0502020204030203" pitchFamily="34" charset="0"/>
              </a:rPr>
              <a:t>Nuôi</a:t>
            </a:r>
            <a:r>
              <a:rPr lang="en-US" sz="1400" i="1">
                <a:latin typeface="Lato" panose="020F0502020204030203" pitchFamily="34" charset="0"/>
                <a:ea typeface="Lato" panose="020F0502020204030203" pitchFamily="34" charset="0"/>
                <a:cs typeface="Lato" panose="020F0502020204030203" pitchFamily="34" charset="0"/>
              </a:rPr>
              <a:t> </a:t>
            </a:r>
            <a:r>
              <a:rPr lang="en-US" sz="1400" i="1" err="1">
                <a:latin typeface="Lato" panose="020F0502020204030203" pitchFamily="34" charset="0"/>
                <a:ea typeface="Lato" panose="020F0502020204030203" pitchFamily="34" charset="0"/>
                <a:cs typeface="Lato" panose="020F0502020204030203" pitchFamily="34" charset="0"/>
              </a:rPr>
              <a:t>trồng</a:t>
            </a:r>
            <a:r>
              <a:rPr lang="en-US" sz="1400" i="1">
                <a:latin typeface="Lato" panose="020F0502020204030203" pitchFamily="34" charset="0"/>
                <a:ea typeface="Lato" panose="020F0502020204030203" pitchFamily="34" charset="0"/>
                <a:cs typeface="Lato" panose="020F0502020204030203" pitchFamily="34" charset="0"/>
              </a:rPr>
              <a:t> </a:t>
            </a:r>
            <a:r>
              <a:rPr lang="en-US" sz="1400" i="1" err="1">
                <a:latin typeface="Lato" panose="020F0502020204030203" pitchFamily="34" charset="0"/>
                <a:ea typeface="Lato" panose="020F0502020204030203" pitchFamily="34" charset="0"/>
                <a:cs typeface="Lato" panose="020F0502020204030203" pitchFamily="34" charset="0"/>
              </a:rPr>
              <a:t>cá</a:t>
            </a:r>
            <a:r>
              <a:rPr lang="en-US" sz="1400" i="1">
                <a:latin typeface="Lato" panose="020F0502020204030203" pitchFamily="34" charset="0"/>
                <a:ea typeface="Lato" panose="020F0502020204030203" pitchFamily="34" charset="0"/>
                <a:cs typeface="Lato" panose="020F0502020204030203" pitchFamily="34" charset="0"/>
              </a:rPr>
              <a:t> </a:t>
            </a:r>
            <a:r>
              <a:rPr lang="en-US" sz="1400" i="1" err="1">
                <a:latin typeface="Lato" panose="020F0502020204030203" pitchFamily="34" charset="0"/>
                <a:ea typeface="Lato" panose="020F0502020204030203" pitchFamily="34" charset="0"/>
                <a:cs typeface="Lato" panose="020F0502020204030203" pitchFamily="34" charset="0"/>
              </a:rPr>
              <a:t>giò</a:t>
            </a:r>
            <a:r>
              <a:rPr lang="en-US" sz="1400" i="1">
                <a:latin typeface="Lato" panose="020F0502020204030203" pitchFamily="34" charset="0"/>
                <a:ea typeface="Lato" panose="020F0502020204030203" pitchFamily="34" charset="0"/>
                <a:cs typeface="Lato" panose="020F0502020204030203" pitchFamily="34" charset="0"/>
              </a:rPr>
              <a:t> </a:t>
            </a:r>
            <a:r>
              <a:rPr lang="en-US" sz="1400" i="1" err="1">
                <a:latin typeface="Lato" panose="020F0502020204030203" pitchFamily="34" charset="0"/>
                <a:ea typeface="Lato" panose="020F0502020204030203" pitchFamily="34" charset="0"/>
                <a:cs typeface="Lato" panose="020F0502020204030203" pitchFamily="34" charset="0"/>
              </a:rPr>
              <a:t>và</a:t>
            </a:r>
            <a:r>
              <a:rPr lang="en-US" sz="1400" i="1">
                <a:latin typeface="Lato" panose="020F0502020204030203" pitchFamily="34" charset="0"/>
                <a:ea typeface="Lato" panose="020F0502020204030203" pitchFamily="34" charset="0"/>
                <a:cs typeface="Lato" panose="020F0502020204030203" pitchFamily="34" charset="0"/>
              </a:rPr>
              <a:t> </a:t>
            </a:r>
            <a:r>
              <a:rPr lang="en-US" sz="1400" i="1" err="1">
                <a:latin typeface="Lato" panose="020F0502020204030203" pitchFamily="34" charset="0"/>
                <a:ea typeface="Lato" panose="020F0502020204030203" pitchFamily="34" charset="0"/>
                <a:cs typeface="Lato" panose="020F0502020204030203" pitchFamily="34" charset="0"/>
              </a:rPr>
              <a:t>hàu</a:t>
            </a:r>
            <a:r>
              <a:rPr lang="en-US" sz="1400" i="1">
                <a:latin typeface="Lato" panose="020F0502020204030203" pitchFamily="34" charset="0"/>
                <a:ea typeface="Lato" panose="020F0502020204030203" pitchFamily="34" charset="0"/>
                <a:cs typeface="Lato" panose="020F0502020204030203" pitchFamily="34" charset="0"/>
              </a:rPr>
              <a:t> ở Việt Nam</a:t>
            </a:r>
            <a:endParaRPr lang="en-VN" sz="1400" i="1">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825334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78AB3-B2A0-0D7D-5120-D4B099FA09B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BDD158-CD88-DE3D-86E2-0E346C7677FB}"/>
              </a:ext>
            </a:extLst>
          </p:cNvPr>
          <p:cNvSpPr>
            <a:spLocks noGrp="1"/>
          </p:cNvSpPr>
          <p:nvPr>
            <p:ph type="sldNum" sz="quarter" idx="12"/>
          </p:nvPr>
        </p:nvSpPr>
        <p:spPr/>
        <p:txBody>
          <a:bodyPr/>
          <a:lstStyle/>
          <a:p>
            <a:fld id="{9EA0BE3B-158A-4EDF-80DC-E394A0D1600F}" type="slidenum">
              <a:rPr lang="en-US" smtClean="0"/>
              <a:pPr/>
              <a:t>5</a:t>
            </a:fld>
            <a:endParaRPr lang="en-US"/>
          </a:p>
        </p:txBody>
      </p:sp>
      <p:sp>
        <p:nvSpPr>
          <p:cNvPr id="3" name="Title 2">
            <a:extLst>
              <a:ext uri="{FF2B5EF4-FFF2-40B4-BE49-F238E27FC236}">
                <a16:creationId xmlns:a16="http://schemas.microsoft.com/office/drawing/2014/main" id="{A0EEE17B-DDEF-3EA6-EBB8-88E775F779C3}"/>
              </a:ext>
            </a:extLst>
          </p:cNvPr>
          <p:cNvSpPr>
            <a:spLocks noGrp="1"/>
          </p:cNvSpPr>
          <p:nvPr>
            <p:ph type="title"/>
          </p:nvPr>
        </p:nvSpPr>
        <p:spPr/>
        <p:txBody>
          <a:bodyPr lIns="91440" tIns="45720" rIns="91440" bIns="45720" anchor="t"/>
          <a:lstStyle/>
          <a:p>
            <a:r>
              <a:rPr lang="en-US">
                <a:latin typeface="Lato"/>
                <a:ea typeface="Lato"/>
                <a:cs typeface="Lato"/>
              </a:rPr>
              <a:t>1. </a:t>
            </a:r>
            <a:r>
              <a:rPr lang="en-US" err="1">
                <a:solidFill>
                  <a:srgbClr val="FFFFFF"/>
                </a:solidFill>
                <a:latin typeface="Lato"/>
                <a:ea typeface="Lato"/>
                <a:cs typeface="Lato"/>
              </a:rPr>
              <a:t>Giới</a:t>
            </a:r>
            <a:r>
              <a:rPr lang="en-US">
                <a:solidFill>
                  <a:srgbClr val="FFFFFF"/>
                </a:solidFill>
                <a:latin typeface="Lato"/>
                <a:ea typeface="Lato"/>
                <a:cs typeface="Lato"/>
              </a:rPr>
              <a:t> </a:t>
            </a:r>
            <a:r>
              <a:rPr lang="en-US" err="1">
                <a:solidFill>
                  <a:srgbClr val="FFFFFF"/>
                </a:solidFill>
                <a:latin typeface="Lato"/>
                <a:ea typeface="Lato"/>
                <a:cs typeface="Lato"/>
              </a:rPr>
              <a:t>thiệu</a:t>
            </a:r>
            <a:r>
              <a:rPr lang="en-US">
                <a:solidFill>
                  <a:srgbClr val="FFFFFF"/>
                </a:solidFill>
                <a:latin typeface="Lato"/>
                <a:ea typeface="Lato"/>
                <a:cs typeface="Lato"/>
              </a:rPr>
              <a:t> </a:t>
            </a:r>
            <a:r>
              <a:rPr lang="en-US" err="1">
                <a:solidFill>
                  <a:srgbClr val="FFFFFF"/>
                </a:solidFill>
                <a:latin typeface="Lato"/>
                <a:ea typeface="Lato"/>
                <a:cs typeface="Lato"/>
              </a:rPr>
              <a:t>đề</a:t>
            </a:r>
            <a:r>
              <a:rPr lang="en-US">
                <a:solidFill>
                  <a:srgbClr val="FFFFFF"/>
                </a:solidFill>
                <a:latin typeface="Lato"/>
                <a:ea typeface="Lato"/>
                <a:cs typeface="Lato"/>
              </a:rPr>
              <a:t> </a:t>
            </a:r>
            <a:r>
              <a:rPr lang="en-US" err="1">
                <a:solidFill>
                  <a:srgbClr val="FFFFFF"/>
                </a:solidFill>
                <a:latin typeface="Lato"/>
                <a:ea typeface="Lato"/>
                <a:cs typeface="Lato"/>
              </a:rPr>
              <a:t>tài</a:t>
            </a:r>
            <a:endParaRPr lang="en-US">
              <a:solidFill>
                <a:srgbClr val="FFFFFF"/>
              </a:solidFill>
              <a:latin typeface="Lato"/>
              <a:ea typeface="Lato"/>
              <a:cs typeface="Lato"/>
            </a:endParaRPr>
          </a:p>
          <a:p>
            <a:endParaRPr lang="en-US">
              <a:latin typeface="Lato"/>
              <a:ea typeface="Lato"/>
              <a:cs typeface="Lato"/>
            </a:endParaRPr>
          </a:p>
        </p:txBody>
      </p:sp>
      <p:sp>
        <p:nvSpPr>
          <p:cNvPr id="4" name="TextBox 3">
            <a:extLst>
              <a:ext uri="{FF2B5EF4-FFF2-40B4-BE49-F238E27FC236}">
                <a16:creationId xmlns:a16="http://schemas.microsoft.com/office/drawing/2014/main" id="{182CBC94-6655-FD63-C4D8-4B3BDC009E16}"/>
              </a:ext>
            </a:extLst>
          </p:cNvPr>
          <p:cNvSpPr txBox="1"/>
          <p:nvPr/>
        </p:nvSpPr>
        <p:spPr>
          <a:xfrm>
            <a:off x="683110" y="6964864"/>
            <a:ext cx="854491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ea typeface="Calibri"/>
                <a:cs typeface="Calibri"/>
              </a:rPr>
              <a:t>Mục</a:t>
            </a:r>
            <a:r>
              <a:rPr lang="en-US" b="1">
                <a:ea typeface="Calibri"/>
                <a:cs typeface="Calibri"/>
              </a:rPr>
              <a:t> </a:t>
            </a:r>
            <a:r>
              <a:rPr lang="en-US" b="1" err="1">
                <a:ea typeface="Calibri"/>
                <a:cs typeface="Calibri"/>
              </a:rPr>
              <a:t>tiêu</a:t>
            </a:r>
            <a:r>
              <a:rPr lang="en-US" b="1">
                <a:ea typeface="Calibri"/>
                <a:cs typeface="Calibri"/>
              </a:rPr>
              <a:t>:</a:t>
            </a:r>
            <a:r>
              <a:rPr lang="en-US">
                <a:ea typeface="Calibri"/>
                <a:cs typeface="Calibri"/>
              </a:rPr>
              <a:t> </a:t>
            </a:r>
            <a:r>
              <a:rPr lang="en-US" err="1">
                <a:ea typeface="+mn-lt"/>
                <a:cs typeface="+mn-lt"/>
              </a:rPr>
              <a:t>Môi</a:t>
            </a:r>
            <a:r>
              <a:rPr lang="en-US">
                <a:ea typeface="+mn-lt"/>
                <a:cs typeface="+mn-lt"/>
              </a:rPr>
              <a:t> </a:t>
            </a:r>
            <a:r>
              <a:rPr lang="en-US" err="1">
                <a:ea typeface="+mn-lt"/>
                <a:cs typeface="+mn-lt"/>
              </a:rPr>
              <a:t>trường</a:t>
            </a:r>
            <a:r>
              <a:rPr lang="en-US">
                <a:ea typeface="+mn-lt"/>
                <a:cs typeface="+mn-lt"/>
              </a:rPr>
              <a:t> </a:t>
            </a:r>
            <a:r>
              <a:rPr lang="en-US" err="1">
                <a:ea typeface="+mn-lt"/>
                <a:cs typeface="+mn-lt"/>
              </a:rPr>
              <a:t>biển</a:t>
            </a:r>
            <a:r>
              <a:rPr lang="en-US">
                <a:ea typeface="+mn-lt"/>
                <a:cs typeface="+mn-lt"/>
              </a:rPr>
              <a:t> </a:t>
            </a:r>
            <a:r>
              <a:rPr lang="en-US" err="1">
                <a:ea typeface="+mn-lt"/>
                <a:cs typeface="+mn-lt"/>
              </a:rPr>
              <a:t>ven</a:t>
            </a:r>
            <a:r>
              <a:rPr lang="en-US">
                <a:ea typeface="+mn-lt"/>
                <a:cs typeface="+mn-lt"/>
              </a:rPr>
              <a:t> </a:t>
            </a:r>
            <a:r>
              <a:rPr lang="en-US" err="1">
                <a:ea typeface="+mn-lt"/>
                <a:cs typeface="+mn-lt"/>
              </a:rPr>
              <a:t>bờ</a:t>
            </a:r>
            <a:r>
              <a:rPr lang="en-US">
                <a:ea typeface="+mn-lt"/>
                <a:cs typeface="+mn-lt"/>
              </a:rPr>
              <a:t> </a:t>
            </a:r>
            <a:r>
              <a:rPr lang="en-US" err="1">
                <a:ea typeface="+mn-lt"/>
                <a:cs typeface="+mn-lt"/>
              </a:rPr>
              <a:t>Việt</a:t>
            </a:r>
            <a:r>
              <a:rPr lang="en-US">
                <a:ea typeface="+mn-lt"/>
                <a:cs typeface="+mn-lt"/>
              </a:rPr>
              <a:t> Nam </a:t>
            </a:r>
            <a:r>
              <a:rPr lang="en-US" err="1">
                <a:ea typeface="+mn-lt"/>
                <a:cs typeface="+mn-lt"/>
              </a:rPr>
              <a:t>đóng</a:t>
            </a:r>
            <a:r>
              <a:rPr lang="en-US">
                <a:ea typeface="+mn-lt"/>
                <a:cs typeface="+mn-lt"/>
              </a:rPr>
              <a:t> </a:t>
            </a:r>
            <a:r>
              <a:rPr lang="en-US" err="1">
                <a:ea typeface="+mn-lt"/>
                <a:cs typeface="+mn-lt"/>
              </a:rPr>
              <a:t>vai</a:t>
            </a:r>
            <a:r>
              <a:rPr lang="en-US">
                <a:ea typeface="+mn-lt"/>
                <a:cs typeface="+mn-lt"/>
              </a:rPr>
              <a:t> </a:t>
            </a:r>
            <a:r>
              <a:rPr lang="en-US" err="1">
                <a:ea typeface="+mn-lt"/>
                <a:cs typeface="+mn-lt"/>
              </a:rPr>
              <a:t>trò</a:t>
            </a:r>
            <a:r>
              <a:rPr lang="en-US">
                <a:ea typeface="+mn-lt"/>
                <a:cs typeface="+mn-lt"/>
              </a:rPr>
              <a:t> </a:t>
            </a:r>
            <a:r>
              <a:rPr lang="en-US" err="1">
                <a:ea typeface="+mn-lt"/>
                <a:cs typeface="+mn-lt"/>
              </a:rPr>
              <a:t>quan</a:t>
            </a:r>
            <a:r>
              <a:rPr lang="en-US">
                <a:ea typeface="+mn-lt"/>
                <a:cs typeface="+mn-lt"/>
              </a:rPr>
              <a:t> </a:t>
            </a:r>
            <a:r>
              <a:rPr lang="en-US" err="1">
                <a:ea typeface="+mn-lt"/>
                <a:cs typeface="+mn-lt"/>
              </a:rPr>
              <a:t>trọng</a:t>
            </a:r>
            <a:r>
              <a:rPr lang="en-US">
                <a:ea typeface="+mn-lt"/>
                <a:cs typeface="+mn-lt"/>
              </a:rPr>
              <a:t> </a:t>
            </a:r>
            <a:r>
              <a:rPr lang="en-US" err="1">
                <a:ea typeface="+mn-lt"/>
                <a:cs typeface="+mn-lt"/>
              </a:rPr>
              <a:t>trong</a:t>
            </a:r>
            <a:r>
              <a:rPr lang="en-US">
                <a:ea typeface="+mn-lt"/>
                <a:cs typeface="+mn-lt"/>
              </a:rPr>
              <a:t> </a:t>
            </a:r>
            <a:r>
              <a:rPr lang="en-US" err="1">
                <a:ea typeface="+mn-lt"/>
                <a:cs typeface="+mn-lt"/>
              </a:rPr>
              <a:t>nuôi</a:t>
            </a:r>
            <a:r>
              <a:rPr lang="en-US">
                <a:ea typeface="+mn-lt"/>
                <a:cs typeface="+mn-lt"/>
              </a:rPr>
              <a:t> </a:t>
            </a:r>
            <a:r>
              <a:rPr lang="en-US" err="1">
                <a:ea typeface="+mn-lt"/>
                <a:cs typeface="+mn-lt"/>
              </a:rPr>
              <a:t>trồng</a:t>
            </a:r>
            <a:r>
              <a:rPr lang="en-US">
                <a:ea typeface="+mn-lt"/>
                <a:cs typeface="+mn-lt"/>
              </a:rPr>
              <a:t> </a:t>
            </a:r>
            <a:r>
              <a:rPr lang="en-US" err="1">
                <a:ea typeface="+mn-lt"/>
                <a:cs typeface="+mn-lt"/>
              </a:rPr>
              <a:t>cá</a:t>
            </a:r>
            <a:r>
              <a:rPr lang="en-US">
                <a:ea typeface="+mn-lt"/>
                <a:cs typeface="+mn-lt"/>
              </a:rPr>
              <a:t> </a:t>
            </a:r>
            <a:r>
              <a:rPr lang="en-US" err="1">
                <a:ea typeface="+mn-lt"/>
                <a:cs typeface="+mn-lt"/>
              </a:rPr>
              <a:t>giò</a:t>
            </a:r>
            <a:r>
              <a:rPr lang="en-US">
                <a:ea typeface="+mn-lt"/>
                <a:cs typeface="+mn-lt"/>
              </a:rPr>
              <a:t> </a:t>
            </a:r>
            <a:r>
              <a:rPr lang="en-US" err="1">
                <a:ea typeface="+mn-lt"/>
                <a:cs typeface="+mn-lt"/>
              </a:rPr>
              <a:t>và</a:t>
            </a:r>
            <a:r>
              <a:rPr lang="en-US">
                <a:ea typeface="+mn-lt"/>
                <a:cs typeface="+mn-lt"/>
              </a:rPr>
              <a:t> </a:t>
            </a:r>
            <a:r>
              <a:rPr lang="en-US" err="1">
                <a:ea typeface="+mn-lt"/>
                <a:cs typeface="+mn-lt"/>
              </a:rPr>
              <a:t>hàu</a:t>
            </a:r>
            <a:r>
              <a:rPr lang="en-US">
                <a:ea typeface="+mn-lt"/>
                <a:cs typeface="+mn-lt"/>
              </a:rPr>
              <a:t>, </a:t>
            </a:r>
            <a:r>
              <a:rPr lang="en-US" err="1">
                <a:ea typeface="+mn-lt"/>
                <a:cs typeface="+mn-lt"/>
              </a:rPr>
              <a:t>nhưng</a:t>
            </a:r>
            <a:r>
              <a:rPr lang="en-US">
                <a:ea typeface="+mn-lt"/>
                <a:cs typeface="+mn-lt"/>
              </a:rPr>
              <a:t> </a:t>
            </a:r>
            <a:r>
              <a:rPr lang="en-US" err="1">
                <a:ea typeface="+mn-lt"/>
                <a:cs typeface="+mn-lt"/>
              </a:rPr>
              <a:t>chịu</a:t>
            </a:r>
            <a:r>
              <a:rPr lang="en-US">
                <a:ea typeface="+mn-lt"/>
                <a:cs typeface="+mn-lt"/>
              </a:rPr>
              <a:t> </a:t>
            </a:r>
            <a:r>
              <a:rPr lang="en-US" err="1">
                <a:ea typeface="+mn-lt"/>
                <a:cs typeface="+mn-lt"/>
              </a:rPr>
              <a:t>ảnh</a:t>
            </a:r>
            <a:r>
              <a:rPr lang="en-US">
                <a:ea typeface="+mn-lt"/>
                <a:cs typeface="+mn-lt"/>
              </a:rPr>
              <a:t> </a:t>
            </a:r>
            <a:r>
              <a:rPr lang="en-US" err="1">
                <a:ea typeface="+mn-lt"/>
                <a:cs typeface="+mn-lt"/>
              </a:rPr>
              <a:t>hưởng</a:t>
            </a:r>
            <a:r>
              <a:rPr lang="en-US">
                <a:ea typeface="+mn-lt"/>
                <a:cs typeface="+mn-lt"/>
              </a:rPr>
              <a:t> </a:t>
            </a:r>
            <a:r>
              <a:rPr lang="en-US" err="1">
                <a:ea typeface="+mn-lt"/>
                <a:cs typeface="+mn-lt"/>
              </a:rPr>
              <a:t>lớn</a:t>
            </a:r>
            <a:r>
              <a:rPr lang="en-US">
                <a:ea typeface="+mn-lt"/>
                <a:cs typeface="+mn-lt"/>
              </a:rPr>
              <a:t> </a:t>
            </a:r>
            <a:r>
              <a:rPr lang="en-US" err="1">
                <a:ea typeface="+mn-lt"/>
                <a:cs typeface="+mn-lt"/>
              </a:rPr>
              <a:t>từ</a:t>
            </a:r>
            <a:r>
              <a:rPr lang="en-US">
                <a:ea typeface="+mn-lt"/>
                <a:cs typeface="+mn-lt"/>
              </a:rPr>
              <a:t> </a:t>
            </a:r>
            <a:r>
              <a:rPr lang="en-US" err="1">
                <a:ea typeface="+mn-lt"/>
                <a:cs typeface="+mn-lt"/>
              </a:rPr>
              <a:t>các</a:t>
            </a:r>
            <a:r>
              <a:rPr lang="en-US">
                <a:ea typeface="+mn-lt"/>
                <a:cs typeface="+mn-lt"/>
              </a:rPr>
              <a:t> </a:t>
            </a:r>
            <a:r>
              <a:rPr lang="en-US" err="1">
                <a:ea typeface="+mn-lt"/>
                <a:cs typeface="+mn-lt"/>
              </a:rPr>
              <a:t>yếu</a:t>
            </a:r>
            <a:r>
              <a:rPr lang="en-US">
                <a:ea typeface="+mn-lt"/>
                <a:cs typeface="+mn-lt"/>
              </a:rPr>
              <a:t> </a:t>
            </a:r>
            <a:r>
              <a:rPr lang="en-US" err="1">
                <a:ea typeface="+mn-lt"/>
                <a:cs typeface="+mn-lt"/>
              </a:rPr>
              <a:t>tố</a:t>
            </a:r>
            <a:r>
              <a:rPr lang="en-US">
                <a:ea typeface="+mn-lt"/>
                <a:cs typeface="+mn-lt"/>
              </a:rPr>
              <a:t> </a:t>
            </a:r>
            <a:r>
              <a:rPr lang="en-US" err="1">
                <a:ea typeface="+mn-lt"/>
                <a:cs typeface="+mn-lt"/>
              </a:rPr>
              <a:t>như</a:t>
            </a:r>
            <a:r>
              <a:rPr lang="en-US">
                <a:ea typeface="+mn-lt"/>
                <a:cs typeface="+mn-lt"/>
              </a:rPr>
              <a:t> pH, </a:t>
            </a:r>
            <a:r>
              <a:rPr lang="en-US" err="1">
                <a:ea typeface="+mn-lt"/>
                <a:cs typeface="+mn-lt"/>
              </a:rPr>
              <a:t>độ</a:t>
            </a:r>
            <a:r>
              <a:rPr lang="en-US">
                <a:ea typeface="+mn-lt"/>
                <a:cs typeface="+mn-lt"/>
              </a:rPr>
              <a:t> </a:t>
            </a:r>
            <a:r>
              <a:rPr lang="en-US" err="1">
                <a:ea typeface="+mn-lt"/>
                <a:cs typeface="+mn-lt"/>
              </a:rPr>
              <a:t>mặn</a:t>
            </a:r>
            <a:r>
              <a:rPr lang="en-US">
                <a:ea typeface="+mn-lt"/>
                <a:cs typeface="+mn-lt"/>
              </a:rPr>
              <a:t>, DO, NH₃, H₂S </a:t>
            </a:r>
            <a:r>
              <a:rPr lang="en-US" err="1">
                <a:ea typeface="+mn-lt"/>
                <a:cs typeface="+mn-lt"/>
              </a:rPr>
              <a:t>và</a:t>
            </a:r>
            <a:r>
              <a:rPr lang="en-US">
                <a:ea typeface="+mn-lt"/>
                <a:cs typeface="+mn-lt"/>
              </a:rPr>
              <a:t> </a:t>
            </a:r>
            <a:r>
              <a:rPr lang="en-US" err="1">
                <a:ea typeface="+mn-lt"/>
                <a:cs typeface="+mn-lt"/>
              </a:rPr>
              <a:t>biến</a:t>
            </a:r>
            <a:r>
              <a:rPr lang="en-US">
                <a:ea typeface="+mn-lt"/>
                <a:cs typeface="+mn-lt"/>
              </a:rPr>
              <a:t> </a:t>
            </a:r>
            <a:r>
              <a:rPr lang="en-US" err="1">
                <a:ea typeface="+mn-lt"/>
                <a:cs typeface="+mn-lt"/>
              </a:rPr>
              <a:t>đổi</a:t>
            </a:r>
            <a:r>
              <a:rPr lang="en-US">
                <a:ea typeface="+mn-lt"/>
                <a:cs typeface="+mn-lt"/>
              </a:rPr>
              <a:t> </a:t>
            </a:r>
            <a:r>
              <a:rPr lang="en-US" err="1">
                <a:ea typeface="+mn-lt"/>
                <a:cs typeface="+mn-lt"/>
              </a:rPr>
              <a:t>khí</a:t>
            </a:r>
            <a:r>
              <a:rPr lang="en-US">
                <a:ea typeface="+mn-lt"/>
                <a:cs typeface="+mn-lt"/>
              </a:rPr>
              <a:t> </a:t>
            </a:r>
            <a:r>
              <a:rPr lang="en-US" err="1">
                <a:ea typeface="+mn-lt"/>
                <a:cs typeface="+mn-lt"/>
              </a:rPr>
              <a:t>hậu</a:t>
            </a:r>
            <a:r>
              <a:rPr lang="en-US">
                <a:ea typeface="+mn-lt"/>
                <a:cs typeface="+mn-lt"/>
              </a:rPr>
              <a:t>. </a:t>
            </a:r>
            <a:r>
              <a:rPr lang="en-US" err="1">
                <a:ea typeface="+mn-lt"/>
                <a:cs typeface="+mn-lt"/>
              </a:rPr>
              <a:t>Sự</a:t>
            </a:r>
            <a:r>
              <a:rPr lang="en-US">
                <a:ea typeface="+mn-lt"/>
                <a:cs typeface="+mn-lt"/>
              </a:rPr>
              <a:t> </a:t>
            </a:r>
            <a:r>
              <a:rPr lang="en-US" err="1">
                <a:ea typeface="+mn-lt"/>
                <a:cs typeface="+mn-lt"/>
              </a:rPr>
              <a:t>biến</a:t>
            </a:r>
            <a:r>
              <a:rPr lang="en-US">
                <a:ea typeface="+mn-lt"/>
                <a:cs typeface="+mn-lt"/>
              </a:rPr>
              <a:t> </a:t>
            </a:r>
            <a:r>
              <a:rPr lang="en-US" err="1">
                <a:ea typeface="+mn-lt"/>
                <a:cs typeface="+mn-lt"/>
              </a:rPr>
              <a:t>động</a:t>
            </a:r>
            <a:r>
              <a:rPr lang="en-US">
                <a:ea typeface="+mn-lt"/>
                <a:cs typeface="+mn-lt"/>
              </a:rPr>
              <a:t> </a:t>
            </a:r>
            <a:r>
              <a:rPr lang="en-US" err="1">
                <a:ea typeface="+mn-lt"/>
                <a:cs typeface="+mn-lt"/>
              </a:rPr>
              <a:t>khó</a:t>
            </a:r>
            <a:r>
              <a:rPr lang="en-US">
                <a:ea typeface="+mn-lt"/>
                <a:cs typeface="+mn-lt"/>
              </a:rPr>
              <a:t> </a:t>
            </a:r>
            <a:r>
              <a:rPr lang="en-US" err="1">
                <a:ea typeface="+mn-lt"/>
                <a:cs typeface="+mn-lt"/>
              </a:rPr>
              <a:t>lường</a:t>
            </a:r>
            <a:r>
              <a:rPr lang="en-US">
                <a:ea typeface="+mn-lt"/>
                <a:cs typeface="+mn-lt"/>
              </a:rPr>
              <a:t> </a:t>
            </a:r>
            <a:r>
              <a:rPr lang="en-US" err="1">
                <a:ea typeface="+mn-lt"/>
                <a:cs typeface="+mn-lt"/>
              </a:rPr>
              <a:t>của</a:t>
            </a:r>
            <a:r>
              <a:rPr lang="en-US">
                <a:ea typeface="+mn-lt"/>
                <a:cs typeface="+mn-lt"/>
              </a:rPr>
              <a:t> </a:t>
            </a:r>
            <a:r>
              <a:rPr lang="en-US" err="1">
                <a:ea typeface="+mn-lt"/>
                <a:cs typeface="+mn-lt"/>
              </a:rPr>
              <a:t>các</a:t>
            </a:r>
            <a:r>
              <a:rPr lang="en-US">
                <a:ea typeface="+mn-lt"/>
                <a:cs typeface="+mn-lt"/>
              </a:rPr>
              <a:t> </a:t>
            </a:r>
            <a:r>
              <a:rPr lang="en-US" err="1">
                <a:ea typeface="+mn-lt"/>
                <a:cs typeface="+mn-lt"/>
              </a:rPr>
              <a:t>yếu</a:t>
            </a:r>
            <a:r>
              <a:rPr lang="en-US">
                <a:ea typeface="+mn-lt"/>
                <a:cs typeface="+mn-lt"/>
              </a:rPr>
              <a:t> </a:t>
            </a:r>
            <a:r>
              <a:rPr lang="en-US" err="1">
                <a:ea typeface="+mn-lt"/>
                <a:cs typeface="+mn-lt"/>
              </a:rPr>
              <a:t>tố</a:t>
            </a:r>
            <a:r>
              <a:rPr lang="en-US">
                <a:ea typeface="+mn-lt"/>
                <a:cs typeface="+mn-lt"/>
              </a:rPr>
              <a:t> </a:t>
            </a:r>
            <a:r>
              <a:rPr lang="en-US" err="1">
                <a:ea typeface="+mn-lt"/>
                <a:cs typeface="+mn-lt"/>
              </a:rPr>
              <a:t>này</a:t>
            </a:r>
            <a:r>
              <a:rPr lang="en-US">
                <a:ea typeface="+mn-lt"/>
                <a:cs typeface="+mn-lt"/>
              </a:rPr>
              <a:t> </a:t>
            </a:r>
            <a:r>
              <a:rPr lang="en-US" err="1">
                <a:ea typeface="+mn-lt"/>
                <a:cs typeface="+mn-lt"/>
              </a:rPr>
              <a:t>gây</a:t>
            </a:r>
            <a:r>
              <a:rPr lang="en-US">
                <a:ea typeface="+mn-lt"/>
                <a:cs typeface="+mn-lt"/>
              </a:rPr>
              <a:t> </a:t>
            </a:r>
            <a:r>
              <a:rPr lang="en-US" err="1">
                <a:ea typeface="+mn-lt"/>
                <a:cs typeface="+mn-lt"/>
              </a:rPr>
              <a:t>rủi</a:t>
            </a:r>
            <a:r>
              <a:rPr lang="en-US">
                <a:ea typeface="+mn-lt"/>
                <a:cs typeface="+mn-lt"/>
              </a:rPr>
              <a:t> </a:t>
            </a:r>
            <a:r>
              <a:rPr lang="en-US" err="1">
                <a:ea typeface="+mn-lt"/>
                <a:cs typeface="+mn-lt"/>
              </a:rPr>
              <a:t>ro</a:t>
            </a:r>
            <a:r>
              <a:rPr lang="en-US">
                <a:ea typeface="+mn-lt"/>
                <a:cs typeface="+mn-lt"/>
              </a:rPr>
              <a:t> </a:t>
            </a:r>
            <a:r>
              <a:rPr lang="en-US" err="1">
                <a:ea typeface="+mn-lt"/>
                <a:cs typeface="+mn-lt"/>
              </a:rPr>
              <a:t>cho</a:t>
            </a:r>
            <a:r>
              <a:rPr lang="en-US">
                <a:ea typeface="+mn-lt"/>
                <a:cs typeface="+mn-lt"/>
              </a:rPr>
              <a:t> </a:t>
            </a:r>
            <a:r>
              <a:rPr lang="en-US" err="1">
                <a:ea typeface="+mn-lt"/>
                <a:cs typeface="+mn-lt"/>
              </a:rPr>
              <a:t>sức</a:t>
            </a:r>
            <a:r>
              <a:rPr lang="en-US">
                <a:ea typeface="+mn-lt"/>
                <a:cs typeface="+mn-lt"/>
              </a:rPr>
              <a:t> </a:t>
            </a:r>
            <a:r>
              <a:rPr lang="en-US" err="1">
                <a:ea typeface="+mn-lt"/>
                <a:cs typeface="+mn-lt"/>
              </a:rPr>
              <a:t>khỏe</a:t>
            </a:r>
            <a:r>
              <a:rPr lang="en-US">
                <a:ea typeface="+mn-lt"/>
                <a:cs typeface="+mn-lt"/>
              </a:rPr>
              <a:t> </a:t>
            </a:r>
            <a:r>
              <a:rPr lang="en-US" err="1">
                <a:ea typeface="+mn-lt"/>
                <a:cs typeface="+mn-lt"/>
              </a:rPr>
              <a:t>và</a:t>
            </a:r>
            <a:r>
              <a:rPr lang="en-US">
                <a:ea typeface="+mn-lt"/>
                <a:cs typeface="+mn-lt"/>
              </a:rPr>
              <a:t> </a:t>
            </a:r>
            <a:r>
              <a:rPr lang="en-US" err="1">
                <a:ea typeface="+mn-lt"/>
                <a:cs typeface="+mn-lt"/>
              </a:rPr>
              <a:t>năng</a:t>
            </a:r>
            <a:r>
              <a:rPr lang="en-US">
                <a:ea typeface="+mn-lt"/>
                <a:cs typeface="+mn-lt"/>
              </a:rPr>
              <a:t> </a:t>
            </a:r>
            <a:r>
              <a:rPr lang="en-US" err="1">
                <a:ea typeface="+mn-lt"/>
                <a:cs typeface="+mn-lt"/>
              </a:rPr>
              <a:t>suất</a:t>
            </a:r>
            <a:r>
              <a:rPr lang="en-US">
                <a:ea typeface="+mn-lt"/>
                <a:cs typeface="+mn-lt"/>
              </a:rPr>
              <a:t> </a:t>
            </a:r>
            <a:r>
              <a:rPr lang="en-US" err="1">
                <a:ea typeface="+mn-lt"/>
                <a:cs typeface="+mn-lt"/>
              </a:rPr>
              <a:t>nuôi</a:t>
            </a:r>
            <a:r>
              <a:rPr lang="en-US">
                <a:ea typeface="+mn-lt"/>
                <a:cs typeface="+mn-lt"/>
              </a:rPr>
              <a:t> </a:t>
            </a:r>
            <a:r>
              <a:rPr lang="en-US" err="1">
                <a:ea typeface="+mn-lt"/>
                <a:cs typeface="+mn-lt"/>
              </a:rPr>
              <a:t>trồng</a:t>
            </a:r>
            <a:r>
              <a:rPr lang="en-US">
                <a:ea typeface="+mn-lt"/>
                <a:cs typeface="+mn-lt"/>
              </a:rPr>
              <a:t>. </a:t>
            </a:r>
            <a:r>
              <a:rPr lang="en-US" err="1">
                <a:ea typeface="+mn-lt"/>
                <a:cs typeface="+mn-lt"/>
              </a:rPr>
              <a:t>Đề</a:t>
            </a:r>
            <a:r>
              <a:rPr lang="en-US">
                <a:ea typeface="+mn-lt"/>
                <a:cs typeface="+mn-lt"/>
              </a:rPr>
              <a:t> </a:t>
            </a:r>
            <a:r>
              <a:rPr lang="en-US" err="1">
                <a:ea typeface="+mn-lt"/>
                <a:cs typeface="+mn-lt"/>
              </a:rPr>
              <a:t>tài</a:t>
            </a:r>
            <a:r>
              <a:rPr lang="en-US">
                <a:ea typeface="+mn-lt"/>
                <a:cs typeface="+mn-lt"/>
              </a:rPr>
              <a:t> </a:t>
            </a:r>
            <a:r>
              <a:rPr lang="en-US" err="1">
                <a:ea typeface="+mn-lt"/>
                <a:cs typeface="+mn-lt"/>
              </a:rPr>
              <a:t>hướng</a:t>
            </a:r>
            <a:r>
              <a:rPr lang="en-US">
                <a:ea typeface="+mn-lt"/>
                <a:cs typeface="+mn-lt"/>
              </a:rPr>
              <a:t> </a:t>
            </a:r>
            <a:r>
              <a:rPr lang="en-US" err="1">
                <a:ea typeface="+mn-lt"/>
                <a:cs typeface="+mn-lt"/>
              </a:rPr>
              <a:t>đến</a:t>
            </a:r>
            <a:r>
              <a:rPr lang="en-US">
                <a:ea typeface="+mn-lt"/>
                <a:cs typeface="+mn-lt"/>
              </a:rPr>
              <a:t> </a:t>
            </a:r>
            <a:r>
              <a:rPr lang="en-US" err="1">
                <a:ea typeface="+mn-lt"/>
                <a:cs typeface="+mn-lt"/>
              </a:rPr>
              <a:t>ứng</a:t>
            </a:r>
            <a:r>
              <a:rPr lang="en-US">
                <a:ea typeface="+mn-lt"/>
                <a:cs typeface="+mn-lt"/>
              </a:rPr>
              <a:t> </a:t>
            </a:r>
            <a:r>
              <a:rPr lang="en-US" err="1">
                <a:ea typeface="+mn-lt"/>
                <a:cs typeface="+mn-lt"/>
              </a:rPr>
              <a:t>dụng</a:t>
            </a:r>
            <a:r>
              <a:rPr lang="en-US">
                <a:ea typeface="+mn-lt"/>
                <a:cs typeface="+mn-lt"/>
              </a:rPr>
              <a:t> </a:t>
            </a:r>
            <a:r>
              <a:rPr lang="en-US" err="1">
                <a:ea typeface="+mn-lt"/>
                <a:cs typeface="+mn-lt"/>
              </a:rPr>
              <a:t>học</a:t>
            </a:r>
            <a:r>
              <a:rPr lang="en-US">
                <a:ea typeface="+mn-lt"/>
                <a:cs typeface="+mn-lt"/>
              </a:rPr>
              <a:t> </a:t>
            </a:r>
            <a:r>
              <a:rPr lang="en-US" err="1">
                <a:ea typeface="+mn-lt"/>
                <a:cs typeface="+mn-lt"/>
              </a:rPr>
              <a:t>máy</a:t>
            </a:r>
            <a:r>
              <a:rPr lang="en-US">
                <a:ea typeface="+mn-lt"/>
                <a:cs typeface="+mn-lt"/>
              </a:rPr>
              <a:t> </a:t>
            </a:r>
            <a:r>
              <a:rPr lang="en-US" err="1">
                <a:ea typeface="+mn-lt"/>
                <a:cs typeface="+mn-lt"/>
              </a:rPr>
              <a:t>để</a:t>
            </a:r>
            <a:r>
              <a:rPr lang="en-US">
                <a:ea typeface="+mn-lt"/>
                <a:cs typeface="+mn-lt"/>
              </a:rPr>
              <a:t> </a:t>
            </a:r>
            <a:r>
              <a:rPr lang="en-US" err="1">
                <a:ea typeface="+mn-lt"/>
                <a:cs typeface="+mn-lt"/>
              </a:rPr>
              <a:t>phân</a:t>
            </a:r>
            <a:r>
              <a:rPr lang="en-US">
                <a:ea typeface="+mn-lt"/>
                <a:cs typeface="+mn-lt"/>
              </a:rPr>
              <a:t> </a:t>
            </a:r>
            <a:r>
              <a:rPr lang="en-US" err="1">
                <a:ea typeface="+mn-lt"/>
                <a:cs typeface="+mn-lt"/>
              </a:rPr>
              <a:t>tích</a:t>
            </a:r>
            <a:r>
              <a:rPr lang="en-US">
                <a:ea typeface="+mn-lt"/>
                <a:cs typeface="+mn-lt"/>
              </a:rPr>
              <a:t> </a:t>
            </a:r>
            <a:r>
              <a:rPr lang="en-US" err="1">
                <a:ea typeface="+mn-lt"/>
                <a:cs typeface="+mn-lt"/>
              </a:rPr>
              <a:t>dữ</a:t>
            </a:r>
            <a:r>
              <a:rPr lang="en-US">
                <a:ea typeface="+mn-lt"/>
                <a:cs typeface="+mn-lt"/>
              </a:rPr>
              <a:t> </a:t>
            </a:r>
            <a:r>
              <a:rPr lang="en-US" err="1">
                <a:ea typeface="+mn-lt"/>
                <a:cs typeface="+mn-lt"/>
              </a:rPr>
              <a:t>liệu</a:t>
            </a:r>
            <a:r>
              <a:rPr lang="en-US">
                <a:ea typeface="+mn-lt"/>
                <a:cs typeface="+mn-lt"/>
              </a:rPr>
              <a:t> </a:t>
            </a:r>
            <a:r>
              <a:rPr lang="en-US" err="1">
                <a:ea typeface="+mn-lt"/>
                <a:cs typeface="+mn-lt"/>
              </a:rPr>
              <a:t>quan</a:t>
            </a:r>
            <a:r>
              <a:rPr lang="en-US">
                <a:ea typeface="+mn-lt"/>
                <a:cs typeface="+mn-lt"/>
              </a:rPr>
              <a:t> </a:t>
            </a:r>
            <a:r>
              <a:rPr lang="en-US" err="1">
                <a:ea typeface="+mn-lt"/>
                <a:cs typeface="+mn-lt"/>
              </a:rPr>
              <a:t>trắc</a:t>
            </a:r>
            <a:r>
              <a:rPr lang="en-US">
                <a:ea typeface="+mn-lt"/>
                <a:cs typeface="+mn-lt"/>
              </a:rPr>
              <a:t>, </a:t>
            </a:r>
            <a:r>
              <a:rPr lang="en-US" err="1">
                <a:ea typeface="+mn-lt"/>
                <a:cs typeface="+mn-lt"/>
              </a:rPr>
              <a:t>dự</a:t>
            </a:r>
            <a:r>
              <a:rPr lang="en-US">
                <a:ea typeface="+mn-lt"/>
                <a:cs typeface="+mn-lt"/>
              </a:rPr>
              <a:t> </a:t>
            </a:r>
            <a:r>
              <a:rPr lang="en-US" err="1">
                <a:ea typeface="+mn-lt"/>
                <a:cs typeface="+mn-lt"/>
              </a:rPr>
              <a:t>báo</a:t>
            </a:r>
            <a:r>
              <a:rPr lang="en-US">
                <a:ea typeface="+mn-lt"/>
                <a:cs typeface="+mn-lt"/>
              </a:rPr>
              <a:t> </a:t>
            </a:r>
            <a:r>
              <a:rPr lang="en-US" err="1">
                <a:ea typeface="+mn-lt"/>
                <a:cs typeface="+mn-lt"/>
              </a:rPr>
              <a:t>sớm</a:t>
            </a:r>
            <a:r>
              <a:rPr lang="en-US">
                <a:ea typeface="+mn-lt"/>
                <a:cs typeface="+mn-lt"/>
              </a:rPr>
              <a:t> </a:t>
            </a:r>
            <a:r>
              <a:rPr lang="en-US" err="1">
                <a:ea typeface="+mn-lt"/>
                <a:cs typeface="+mn-lt"/>
              </a:rPr>
              <a:t>rủi</a:t>
            </a:r>
            <a:r>
              <a:rPr lang="en-US">
                <a:ea typeface="+mn-lt"/>
                <a:cs typeface="+mn-lt"/>
              </a:rPr>
              <a:t> </a:t>
            </a:r>
            <a:r>
              <a:rPr lang="en-US" err="1">
                <a:ea typeface="+mn-lt"/>
                <a:cs typeface="+mn-lt"/>
              </a:rPr>
              <a:t>ro</a:t>
            </a:r>
            <a:r>
              <a:rPr lang="en-US">
                <a:ea typeface="+mn-lt"/>
                <a:cs typeface="+mn-lt"/>
              </a:rPr>
              <a:t> </a:t>
            </a:r>
            <a:r>
              <a:rPr lang="en-US" err="1">
                <a:ea typeface="+mn-lt"/>
                <a:cs typeface="+mn-lt"/>
              </a:rPr>
              <a:t>môi</a:t>
            </a:r>
            <a:r>
              <a:rPr lang="en-US">
                <a:ea typeface="+mn-lt"/>
                <a:cs typeface="+mn-lt"/>
              </a:rPr>
              <a:t> </a:t>
            </a:r>
            <a:r>
              <a:rPr lang="en-US" err="1">
                <a:ea typeface="+mn-lt"/>
                <a:cs typeface="+mn-lt"/>
              </a:rPr>
              <a:t>trường</a:t>
            </a:r>
            <a:r>
              <a:rPr lang="en-US">
                <a:ea typeface="+mn-lt"/>
                <a:cs typeface="+mn-lt"/>
              </a:rPr>
              <a:t> </a:t>
            </a:r>
            <a:r>
              <a:rPr lang="en-US" err="1">
                <a:ea typeface="+mn-lt"/>
                <a:cs typeface="+mn-lt"/>
              </a:rPr>
              <a:t>và</a:t>
            </a:r>
            <a:r>
              <a:rPr lang="en-US">
                <a:ea typeface="+mn-lt"/>
                <a:cs typeface="+mn-lt"/>
              </a:rPr>
              <a:t> </a:t>
            </a:r>
            <a:r>
              <a:rPr lang="en-US" err="1">
                <a:ea typeface="+mn-lt"/>
                <a:cs typeface="+mn-lt"/>
              </a:rPr>
              <a:t>xác</a:t>
            </a:r>
            <a:r>
              <a:rPr lang="en-US">
                <a:ea typeface="+mn-lt"/>
                <a:cs typeface="+mn-lt"/>
              </a:rPr>
              <a:t> </a:t>
            </a:r>
            <a:r>
              <a:rPr lang="en-US" err="1">
                <a:ea typeface="+mn-lt"/>
                <a:cs typeface="+mn-lt"/>
              </a:rPr>
              <a:t>định</a:t>
            </a:r>
            <a:r>
              <a:rPr lang="en-US">
                <a:ea typeface="+mn-lt"/>
                <a:cs typeface="+mn-lt"/>
              </a:rPr>
              <a:t> </a:t>
            </a:r>
            <a:r>
              <a:rPr lang="en-US" err="1">
                <a:ea typeface="+mn-lt"/>
                <a:cs typeface="+mn-lt"/>
              </a:rPr>
              <a:t>vùng</a:t>
            </a:r>
            <a:r>
              <a:rPr lang="en-US">
                <a:ea typeface="+mn-lt"/>
                <a:cs typeface="+mn-lt"/>
              </a:rPr>
              <a:t> </a:t>
            </a:r>
            <a:r>
              <a:rPr lang="en-US" err="1">
                <a:ea typeface="+mn-lt"/>
                <a:cs typeface="+mn-lt"/>
              </a:rPr>
              <a:t>nuôi</a:t>
            </a:r>
            <a:r>
              <a:rPr lang="en-US">
                <a:ea typeface="+mn-lt"/>
                <a:cs typeface="+mn-lt"/>
              </a:rPr>
              <a:t> </a:t>
            </a:r>
            <a:r>
              <a:rPr lang="en-US" err="1">
                <a:ea typeface="+mn-lt"/>
                <a:cs typeface="+mn-lt"/>
              </a:rPr>
              <a:t>tối</a:t>
            </a:r>
            <a:r>
              <a:rPr lang="en-US">
                <a:ea typeface="+mn-lt"/>
                <a:cs typeface="+mn-lt"/>
              </a:rPr>
              <a:t> </a:t>
            </a:r>
            <a:r>
              <a:rPr lang="en-US" err="1">
                <a:ea typeface="+mn-lt"/>
                <a:cs typeface="+mn-lt"/>
              </a:rPr>
              <a:t>ưu</a:t>
            </a:r>
            <a:r>
              <a:rPr lang="en-US">
                <a:ea typeface="+mn-lt"/>
                <a:cs typeface="+mn-lt"/>
              </a:rPr>
              <a:t>, </a:t>
            </a:r>
            <a:r>
              <a:rPr lang="en-US" err="1">
                <a:ea typeface="+mn-lt"/>
                <a:cs typeface="+mn-lt"/>
              </a:rPr>
              <a:t>góp</a:t>
            </a:r>
            <a:r>
              <a:rPr lang="en-US">
                <a:ea typeface="+mn-lt"/>
                <a:cs typeface="+mn-lt"/>
              </a:rPr>
              <a:t> </a:t>
            </a:r>
            <a:r>
              <a:rPr lang="en-US" err="1">
                <a:ea typeface="+mn-lt"/>
                <a:cs typeface="+mn-lt"/>
              </a:rPr>
              <a:t>phần</a:t>
            </a:r>
            <a:r>
              <a:rPr lang="en-US">
                <a:ea typeface="+mn-lt"/>
                <a:cs typeface="+mn-lt"/>
              </a:rPr>
              <a:t> </a:t>
            </a:r>
            <a:r>
              <a:rPr lang="en-US" err="1">
                <a:ea typeface="+mn-lt"/>
                <a:cs typeface="+mn-lt"/>
              </a:rPr>
              <a:t>hỗ</a:t>
            </a:r>
            <a:r>
              <a:rPr lang="en-US">
                <a:ea typeface="+mn-lt"/>
                <a:cs typeface="+mn-lt"/>
              </a:rPr>
              <a:t> </a:t>
            </a:r>
            <a:r>
              <a:rPr lang="en-US" err="1">
                <a:ea typeface="+mn-lt"/>
                <a:cs typeface="+mn-lt"/>
              </a:rPr>
              <a:t>trợ</a:t>
            </a:r>
            <a:r>
              <a:rPr lang="en-US">
                <a:ea typeface="+mn-lt"/>
                <a:cs typeface="+mn-lt"/>
              </a:rPr>
              <a:t> </a:t>
            </a:r>
            <a:r>
              <a:rPr lang="en-US" err="1">
                <a:ea typeface="+mn-lt"/>
                <a:cs typeface="+mn-lt"/>
              </a:rPr>
              <a:t>quản</a:t>
            </a:r>
            <a:r>
              <a:rPr lang="en-US">
                <a:ea typeface="+mn-lt"/>
                <a:cs typeface="+mn-lt"/>
              </a:rPr>
              <a:t> </a:t>
            </a:r>
            <a:r>
              <a:rPr lang="en-US" err="1">
                <a:ea typeface="+mn-lt"/>
                <a:cs typeface="+mn-lt"/>
              </a:rPr>
              <a:t>lý</a:t>
            </a:r>
            <a:r>
              <a:rPr lang="en-US">
                <a:ea typeface="+mn-lt"/>
                <a:cs typeface="+mn-lt"/>
              </a:rPr>
              <a:t> </a:t>
            </a:r>
            <a:r>
              <a:rPr lang="en-US" err="1">
                <a:ea typeface="+mn-lt"/>
                <a:cs typeface="+mn-lt"/>
              </a:rPr>
              <a:t>bền</a:t>
            </a:r>
            <a:r>
              <a:rPr lang="en-US">
                <a:ea typeface="+mn-lt"/>
                <a:cs typeface="+mn-lt"/>
              </a:rPr>
              <a:t> </a:t>
            </a:r>
            <a:r>
              <a:rPr lang="en-US" err="1">
                <a:ea typeface="+mn-lt"/>
                <a:cs typeface="+mn-lt"/>
              </a:rPr>
              <a:t>vững</a:t>
            </a:r>
            <a:r>
              <a:rPr lang="en-US">
                <a:ea typeface="+mn-lt"/>
                <a:cs typeface="+mn-lt"/>
              </a:rPr>
              <a:t> </a:t>
            </a:r>
            <a:r>
              <a:rPr lang="en-US" err="1">
                <a:ea typeface="+mn-lt"/>
                <a:cs typeface="+mn-lt"/>
              </a:rPr>
              <a:t>và</a:t>
            </a:r>
            <a:r>
              <a:rPr lang="en-US">
                <a:ea typeface="+mn-lt"/>
                <a:cs typeface="+mn-lt"/>
              </a:rPr>
              <a:t> </a:t>
            </a:r>
            <a:r>
              <a:rPr lang="en-US" err="1">
                <a:ea typeface="+mn-lt"/>
                <a:cs typeface="+mn-lt"/>
              </a:rPr>
              <a:t>ra</a:t>
            </a:r>
            <a:r>
              <a:rPr lang="en-US">
                <a:ea typeface="+mn-lt"/>
                <a:cs typeface="+mn-lt"/>
              </a:rPr>
              <a:t> </a:t>
            </a:r>
            <a:r>
              <a:rPr lang="en-US" err="1">
                <a:ea typeface="+mn-lt"/>
                <a:cs typeface="+mn-lt"/>
              </a:rPr>
              <a:t>quyết</a:t>
            </a:r>
            <a:r>
              <a:rPr lang="en-US">
                <a:ea typeface="+mn-lt"/>
                <a:cs typeface="+mn-lt"/>
              </a:rPr>
              <a:t> </a:t>
            </a:r>
            <a:r>
              <a:rPr lang="en-US" err="1">
                <a:ea typeface="+mn-lt"/>
                <a:cs typeface="+mn-lt"/>
              </a:rPr>
              <a:t>định</a:t>
            </a:r>
            <a:r>
              <a:rPr lang="en-US">
                <a:ea typeface="+mn-lt"/>
                <a:cs typeface="+mn-lt"/>
              </a:rPr>
              <a:t> </a:t>
            </a:r>
            <a:r>
              <a:rPr lang="en-US" err="1">
                <a:ea typeface="+mn-lt"/>
                <a:cs typeface="+mn-lt"/>
              </a:rPr>
              <a:t>kịp</a:t>
            </a:r>
            <a:r>
              <a:rPr lang="en-US">
                <a:ea typeface="+mn-lt"/>
                <a:cs typeface="+mn-lt"/>
              </a:rPr>
              <a:t> </a:t>
            </a:r>
            <a:r>
              <a:rPr lang="en-US" err="1">
                <a:ea typeface="+mn-lt"/>
                <a:cs typeface="+mn-lt"/>
              </a:rPr>
              <a:t>thời</a:t>
            </a:r>
            <a:r>
              <a:rPr lang="en-US">
                <a:ea typeface="+mn-lt"/>
                <a:cs typeface="+mn-lt"/>
              </a:rPr>
              <a:t>.</a:t>
            </a:r>
            <a:endParaRPr lang="en-US"/>
          </a:p>
        </p:txBody>
      </p:sp>
      <p:sp>
        <p:nvSpPr>
          <p:cNvPr id="12" name="TextBox 11">
            <a:extLst>
              <a:ext uri="{FF2B5EF4-FFF2-40B4-BE49-F238E27FC236}">
                <a16:creationId xmlns:a16="http://schemas.microsoft.com/office/drawing/2014/main" id="{2B6C8B4F-2234-6000-AAEF-62710FAE9193}"/>
              </a:ext>
            </a:extLst>
          </p:cNvPr>
          <p:cNvSpPr txBox="1"/>
          <p:nvPr/>
        </p:nvSpPr>
        <p:spPr>
          <a:xfrm>
            <a:off x="219217" y="5402229"/>
            <a:ext cx="3959738" cy="307777"/>
          </a:xfrm>
          <a:prstGeom prst="rect">
            <a:avLst/>
          </a:prstGeom>
          <a:noFill/>
        </p:spPr>
        <p:txBody>
          <a:bodyPr wrap="none" rtlCol="0">
            <a:spAutoFit/>
          </a:bodyPr>
          <a:lstStyle/>
          <a:p>
            <a:pPr algn="ctr"/>
            <a:r>
              <a:rPr lang="en-VN" sz="1400" i="1">
                <a:latin typeface="Lato" panose="020F0502020204030203" pitchFamily="34" charset="0"/>
                <a:ea typeface="Lato" panose="020F0502020204030203" pitchFamily="34" charset="0"/>
                <a:cs typeface="Lato" panose="020F0502020204030203" pitchFamily="34" charset="0"/>
              </a:rPr>
              <a:t>Biểu đồ nhiệt độ bề mặt đại dương (Nguồn: </a:t>
            </a:r>
            <a:r>
              <a:rPr lang="en-US" sz="1400" i="1">
                <a:latin typeface="Lato" panose="020F0502020204030203" pitchFamily="34" charset="0"/>
                <a:ea typeface="Lato" panose="020F0502020204030203" pitchFamily="34" charset="0"/>
                <a:cs typeface="Lato" panose="020F0502020204030203" pitchFamily="34" charset="0"/>
              </a:rPr>
              <a:t>NOAA)</a:t>
            </a:r>
            <a:endParaRPr lang="en-VN" sz="1400" i="1">
              <a:latin typeface="Lato" panose="020F0502020204030203" pitchFamily="34" charset="0"/>
              <a:ea typeface="Lato" panose="020F0502020204030203" pitchFamily="34" charset="0"/>
              <a:cs typeface="Lato" panose="020F0502020204030203" pitchFamily="34" charset="0"/>
            </a:endParaRPr>
          </a:p>
        </p:txBody>
      </p:sp>
      <p:pic>
        <p:nvPicPr>
          <p:cNvPr id="6" name="Picture 5" descr="A diagram of a fish and oysters&#10;&#10;Description automatically generated">
            <a:extLst>
              <a:ext uri="{FF2B5EF4-FFF2-40B4-BE49-F238E27FC236}">
                <a16:creationId xmlns:a16="http://schemas.microsoft.com/office/drawing/2014/main" id="{D6D21F7B-5463-FB4F-86D6-9F75D63728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020" y="1245893"/>
            <a:ext cx="3178628" cy="2119086"/>
          </a:xfrm>
          <a:prstGeom prst="rect">
            <a:avLst/>
          </a:prstGeom>
        </p:spPr>
      </p:pic>
      <p:pic>
        <p:nvPicPr>
          <p:cNvPr id="10" name="Picture 9" descr="A graph showing the temperature of the year&#10;&#10;Description automatically generated">
            <a:extLst>
              <a:ext uri="{FF2B5EF4-FFF2-40B4-BE49-F238E27FC236}">
                <a16:creationId xmlns:a16="http://schemas.microsoft.com/office/drawing/2014/main" id="{7520AAD0-4981-E296-3851-AF9E4DD3EB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877" y="3434971"/>
            <a:ext cx="3178628" cy="1897266"/>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4A781C0-0F1B-0058-DDFD-CE73270C0B8F}"/>
                  </a:ext>
                </a:extLst>
              </p:cNvPr>
              <p:cNvSpPr txBox="1"/>
              <p:nvPr/>
            </p:nvSpPr>
            <p:spPr>
              <a:xfrm>
                <a:off x="4113378" y="1579680"/>
                <a:ext cx="4795545" cy="3139321"/>
              </a:xfrm>
              <a:prstGeom prst="rect">
                <a:avLst/>
              </a:prstGeom>
              <a:noFill/>
            </p:spPr>
            <p:txBody>
              <a:bodyPr wrap="square" rtlCol="0">
                <a:spAutoFit/>
              </a:bodyPr>
              <a:lstStyle/>
              <a:p>
                <a:r>
                  <a:rPr lang="vi-VN">
                    <a:latin typeface="Lato" panose="020F0502020204030203" pitchFamily="34" charset="0"/>
                    <a:ea typeface="Lato" panose="020F0502020204030203" pitchFamily="34" charset="0"/>
                    <a:cs typeface="Lato" panose="020F0502020204030203" pitchFamily="34" charset="0"/>
                  </a:rPr>
                  <a:t>Các thông số như oxy hòa tan, pH, nhiệt độ, độ mặn hay các chất ô nhiễm đều ảnh hưởng trực tiếp đến việc nuôi trồng cá giò và hàu.</a:t>
                </a:r>
              </a:p>
              <a:p>
                <a:endParaRPr lang="vi-VN">
                  <a:latin typeface="Lato" panose="020F0502020204030203" pitchFamily="34" charset="0"/>
                  <a:ea typeface="Lato" panose="020F0502020204030203" pitchFamily="34" charset="0"/>
                  <a:cs typeface="Lato" panose="020F0502020204030203" pitchFamily="34" charset="0"/>
                </a:endParaRPr>
              </a:p>
              <a:p>
                <a:r>
                  <a:rPr lang="vi-VN">
                    <a:latin typeface="Lato" panose="020F0502020204030203" pitchFamily="34" charset="0"/>
                    <a:ea typeface="Lato" panose="020F0502020204030203" pitchFamily="34" charset="0"/>
                    <a:cs typeface="Lato" panose="020F0502020204030203" pitchFamily="34" charset="0"/>
                  </a:rPr>
                  <a:t>Tuy nhiên, môi trường biển ven bờ ngày càng biến động mạnh và khó dự đoán. </a:t>
                </a:r>
                <a:endParaRPr lang="en-US" i="1">
                  <a:latin typeface="Cambria Math" panose="02040503050406030204" pitchFamily="18" charset="0"/>
                  <a:ea typeface="Cambria Math" panose="02040503050406030204" pitchFamily="18" charset="0"/>
                  <a:cs typeface="Lato" panose="020F0502020204030203" pitchFamily="34" charset="0"/>
                </a:endParaRPr>
              </a:p>
              <a:p>
                <a14:m>
                  <m:oMath xmlns:m="http://schemas.openxmlformats.org/officeDocument/2006/math">
                    <m:r>
                      <a:rPr lang="vi-VN" i="1" smtClean="0">
                        <a:latin typeface="Cambria Math" panose="02040503050406030204" pitchFamily="18" charset="0"/>
                        <a:ea typeface="Cambria Math" panose="02040503050406030204" pitchFamily="18" charset="0"/>
                        <a:cs typeface="Lato" panose="020F0502020204030203" pitchFamily="34" charset="0"/>
                      </a:rPr>
                      <m:t>→</m:t>
                    </m:r>
                  </m:oMath>
                </a14:m>
                <a:r>
                  <a:rPr lang="vi-VN">
                    <a:latin typeface="Lato" panose="020F0502020204030203" pitchFamily="34" charset="0"/>
                    <a:ea typeface="Lato" panose="020F0502020204030203" pitchFamily="34" charset="0"/>
                    <a:cs typeface="Lato" panose="020F0502020204030203" pitchFamily="34" charset="0"/>
                  </a:rPr>
                  <a:t> Cần có những phương pháp dự báo và đánh giá môi trường kịp thời</a:t>
                </a:r>
              </a:p>
              <a:p>
                <a:endParaRPr lang="vi-VN">
                  <a:latin typeface="Lato" panose="020F0502020204030203" pitchFamily="34" charset="0"/>
                  <a:ea typeface="Lato" panose="020F0502020204030203" pitchFamily="34" charset="0"/>
                  <a:cs typeface="Lato" panose="020F0502020204030203" pitchFamily="34" charset="0"/>
                </a:endParaRPr>
              </a:p>
              <a:p>
                <a:endParaRPr lang="vi-VN">
                  <a:latin typeface="Lato" panose="020F0502020204030203" pitchFamily="34" charset="0"/>
                  <a:ea typeface="Lato" panose="020F0502020204030203" pitchFamily="34" charset="0"/>
                  <a:cs typeface="Lato" panose="020F0502020204030203" pitchFamily="34" charset="0"/>
                </a:endParaRPr>
              </a:p>
              <a:p>
                <a:endParaRPr lang="en-VN">
                  <a:latin typeface="Lato" panose="020F0502020204030203" pitchFamily="34" charset="0"/>
                  <a:ea typeface="Lato" panose="020F0502020204030203" pitchFamily="34" charset="0"/>
                  <a:cs typeface="Lato" panose="020F0502020204030203" pitchFamily="34" charset="0"/>
                </a:endParaRPr>
              </a:p>
            </p:txBody>
          </p:sp>
        </mc:Choice>
        <mc:Fallback xmlns="">
          <p:sp>
            <p:nvSpPr>
              <p:cNvPr id="14" name="TextBox 13">
                <a:extLst>
                  <a:ext uri="{FF2B5EF4-FFF2-40B4-BE49-F238E27FC236}">
                    <a16:creationId xmlns:a16="http://schemas.microsoft.com/office/drawing/2014/main" id="{54A781C0-0F1B-0058-DDFD-CE73270C0B8F}"/>
                  </a:ext>
                </a:extLst>
              </p:cNvPr>
              <p:cNvSpPr txBox="1">
                <a:spLocks noRot="1" noChangeAspect="1" noMove="1" noResize="1" noEditPoints="1" noAdjustHandles="1" noChangeArrowheads="1" noChangeShapeType="1" noTextEdit="1"/>
              </p:cNvSpPr>
              <p:nvPr/>
            </p:nvSpPr>
            <p:spPr>
              <a:xfrm>
                <a:off x="4113378" y="1579680"/>
                <a:ext cx="4795545" cy="3139321"/>
              </a:xfrm>
              <a:prstGeom prst="rect">
                <a:avLst/>
              </a:prstGeom>
              <a:blipFill>
                <a:blip r:embed="rId5"/>
                <a:stretch>
                  <a:fillRect l="-1145" t="-777" r="-1399"/>
                </a:stretch>
              </a:blipFill>
            </p:spPr>
            <p:txBody>
              <a:bodyPr/>
              <a:lstStyle/>
              <a:p>
                <a:r>
                  <a:rPr lang="en-US">
                    <a:noFill/>
                  </a:rPr>
                  <a:t> </a:t>
                </a:r>
              </a:p>
            </p:txBody>
          </p:sp>
        </mc:Fallback>
      </mc:AlternateContent>
    </p:spTree>
    <p:extLst>
      <p:ext uri="{BB962C8B-B14F-4D97-AF65-F5344CB8AC3E}">
        <p14:creationId xmlns:p14="http://schemas.microsoft.com/office/powerpoint/2010/main" val="761914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78AB3-B2A0-0D7D-5120-D4B099FA09B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BDD158-CD88-DE3D-86E2-0E346C7677FB}"/>
              </a:ext>
            </a:extLst>
          </p:cNvPr>
          <p:cNvSpPr>
            <a:spLocks noGrp="1"/>
          </p:cNvSpPr>
          <p:nvPr>
            <p:ph type="sldNum" sz="quarter" idx="12"/>
          </p:nvPr>
        </p:nvSpPr>
        <p:spPr/>
        <p:txBody>
          <a:bodyPr/>
          <a:lstStyle/>
          <a:p>
            <a:fld id="{9EA0BE3B-158A-4EDF-80DC-E394A0D1600F}" type="slidenum">
              <a:rPr lang="en-US" smtClean="0"/>
              <a:pPr/>
              <a:t>6</a:t>
            </a:fld>
            <a:endParaRPr lang="en-US"/>
          </a:p>
        </p:txBody>
      </p:sp>
      <p:sp>
        <p:nvSpPr>
          <p:cNvPr id="3" name="Title 2">
            <a:extLst>
              <a:ext uri="{FF2B5EF4-FFF2-40B4-BE49-F238E27FC236}">
                <a16:creationId xmlns:a16="http://schemas.microsoft.com/office/drawing/2014/main" id="{A0EEE17B-DDEF-3EA6-EBB8-88E775F779C3}"/>
              </a:ext>
            </a:extLst>
          </p:cNvPr>
          <p:cNvSpPr>
            <a:spLocks noGrp="1"/>
          </p:cNvSpPr>
          <p:nvPr>
            <p:ph type="title"/>
          </p:nvPr>
        </p:nvSpPr>
        <p:spPr/>
        <p:txBody>
          <a:bodyPr lIns="91440" tIns="45720" rIns="91440" bIns="45720" anchor="t"/>
          <a:lstStyle/>
          <a:p>
            <a:r>
              <a:rPr lang="en-US">
                <a:latin typeface="Lato"/>
                <a:ea typeface="Lato"/>
                <a:cs typeface="Lato"/>
              </a:rPr>
              <a:t>1. </a:t>
            </a:r>
            <a:r>
              <a:rPr lang="en-US" err="1">
                <a:solidFill>
                  <a:srgbClr val="FFFFFF"/>
                </a:solidFill>
                <a:latin typeface="Lato"/>
                <a:ea typeface="Lato"/>
                <a:cs typeface="Lato"/>
              </a:rPr>
              <a:t>Giới</a:t>
            </a:r>
            <a:r>
              <a:rPr lang="en-US">
                <a:solidFill>
                  <a:srgbClr val="FFFFFF"/>
                </a:solidFill>
                <a:latin typeface="Lato"/>
                <a:ea typeface="Lato"/>
                <a:cs typeface="Lato"/>
              </a:rPr>
              <a:t> </a:t>
            </a:r>
            <a:r>
              <a:rPr lang="en-US" err="1">
                <a:solidFill>
                  <a:srgbClr val="FFFFFF"/>
                </a:solidFill>
                <a:latin typeface="Lato"/>
                <a:ea typeface="Lato"/>
                <a:cs typeface="Lato"/>
              </a:rPr>
              <a:t>thiệu</a:t>
            </a:r>
            <a:r>
              <a:rPr lang="en-US">
                <a:solidFill>
                  <a:srgbClr val="FFFFFF"/>
                </a:solidFill>
                <a:latin typeface="Lato"/>
                <a:ea typeface="Lato"/>
                <a:cs typeface="Lato"/>
              </a:rPr>
              <a:t> </a:t>
            </a:r>
            <a:r>
              <a:rPr lang="en-US" err="1">
                <a:solidFill>
                  <a:srgbClr val="FFFFFF"/>
                </a:solidFill>
                <a:latin typeface="Lato"/>
                <a:ea typeface="Lato"/>
                <a:cs typeface="Lato"/>
              </a:rPr>
              <a:t>đề</a:t>
            </a:r>
            <a:r>
              <a:rPr lang="en-US">
                <a:solidFill>
                  <a:srgbClr val="FFFFFF"/>
                </a:solidFill>
                <a:latin typeface="Lato"/>
                <a:ea typeface="Lato"/>
                <a:cs typeface="Lato"/>
              </a:rPr>
              <a:t> </a:t>
            </a:r>
            <a:r>
              <a:rPr lang="en-US" err="1">
                <a:solidFill>
                  <a:srgbClr val="FFFFFF"/>
                </a:solidFill>
                <a:latin typeface="Lato"/>
                <a:ea typeface="Lato"/>
                <a:cs typeface="Lato"/>
              </a:rPr>
              <a:t>tài</a:t>
            </a:r>
            <a:endParaRPr lang="en-US">
              <a:solidFill>
                <a:srgbClr val="FFFFFF"/>
              </a:solidFill>
              <a:latin typeface="Lato"/>
              <a:ea typeface="Lato"/>
              <a:cs typeface="Lato"/>
            </a:endParaRPr>
          </a:p>
          <a:p>
            <a:endParaRPr lang="en-US">
              <a:latin typeface="Lato"/>
              <a:ea typeface="Lato"/>
              <a:cs typeface="Lato"/>
            </a:endParaRPr>
          </a:p>
        </p:txBody>
      </p:sp>
      <p:sp>
        <p:nvSpPr>
          <p:cNvPr id="14" name="TextBox 13">
            <a:extLst>
              <a:ext uri="{FF2B5EF4-FFF2-40B4-BE49-F238E27FC236}">
                <a16:creationId xmlns:a16="http://schemas.microsoft.com/office/drawing/2014/main" id="{54A781C0-0F1B-0058-DDFD-CE73270C0B8F}"/>
              </a:ext>
            </a:extLst>
          </p:cNvPr>
          <p:cNvSpPr txBox="1"/>
          <p:nvPr/>
        </p:nvSpPr>
        <p:spPr>
          <a:xfrm>
            <a:off x="235077" y="1515552"/>
            <a:ext cx="4795545" cy="3416320"/>
          </a:xfrm>
          <a:prstGeom prst="rect">
            <a:avLst/>
          </a:prstGeom>
          <a:noFill/>
        </p:spPr>
        <p:txBody>
          <a:bodyPr wrap="square" lIns="91440" tIns="45720" rIns="91440" bIns="45720" rtlCol="0" anchor="t">
            <a:spAutoFit/>
          </a:bodyPr>
          <a:lstStyle/>
          <a:p>
            <a:r>
              <a:rPr lang="vi-VN">
                <a:latin typeface="Lato" panose="020F0502020204030203" pitchFamily="34" charset="0"/>
                <a:ea typeface="Lato" panose="020F0502020204030203" pitchFamily="34" charset="0"/>
                <a:cs typeface="Lato" panose="020F0502020204030203" pitchFamily="34" charset="0"/>
              </a:rPr>
              <a:t>Đề tài lựa chọn hướng tiếp cận dựa trên phân tích dữ liệu và học máy. Thông qua khai thác dữ liệu quan trắc lịch sử, mô hình học được các quy luật ẩn và hỗ trợ dự báo tương lai.</a:t>
            </a:r>
          </a:p>
          <a:p>
            <a:r>
              <a:rPr lang="vi-VN">
                <a:latin typeface="Lato" panose="020F0502020204030203" pitchFamily="34" charset="0"/>
                <a:ea typeface="Lato" panose="020F0502020204030203" pitchFamily="34" charset="0"/>
                <a:cs typeface="Lato" panose="020F0502020204030203" pitchFamily="34" charset="0"/>
              </a:rPr>
              <a:t>Nội dung thực hiện:</a:t>
            </a:r>
          </a:p>
          <a:p>
            <a:pPr marL="285750" indent="-285750">
              <a:buFont typeface="Arial"/>
              <a:buChar char="•"/>
            </a:pPr>
            <a:r>
              <a:rPr lang="vi-VN">
                <a:latin typeface="Lato" panose="020F0502020204030203" pitchFamily="34" charset="0"/>
                <a:ea typeface="Lato" panose="020F0502020204030203" pitchFamily="34" charset="0"/>
                <a:cs typeface="Lato" panose="020F0502020204030203" pitchFamily="34" charset="0"/>
              </a:rPr>
              <a:t>Tiền xử lý dữ liệu</a:t>
            </a:r>
          </a:p>
          <a:p>
            <a:pPr marL="285750" indent="-285750">
              <a:buFont typeface="Arial"/>
              <a:buChar char="•"/>
            </a:pPr>
            <a:r>
              <a:rPr lang="vi-VN">
                <a:latin typeface="Lato" panose="020F0502020204030203" pitchFamily="34" charset="0"/>
                <a:ea typeface="Lato" panose="020F0502020204030203" pitchFamily="34" charset="0"/>
                <a:cs typeface="Lato" panose="020F0502020204030203" pitchFamily="34" charset="0"/>
              </a:rPr>
              <a:t>Xây dựng mô hình dự đoán môi trường theo quý</a:t>
            </a:r>
          </a:p>
          <a:p>
            <a:pPr marL="285750" indent="-285750">
              <a:buFont typeface="Arial"/>
              <a:buChar char="•"/>
            </a:pPr>
            <a:r>
              <a:rPr lang="vi-VN">
                <a:latin typeface="Lato" panose="020F0502020204030203" pitchFamily="34" charset="0"/>
                <a:ea typeface="Lato" panose="020F0502020204030203" pitchFamily="34" charset="0"/>
                <a:cs typeface="Lato" panose="020F0502020204030203" pitchFamily="34" charset="0"/>
              </a:rPr>
              <a:t>Tính chỉ số HSI</a:t>
            </a:r>
          </a:p>
          <a:p>
            <a:pPr marL="285750" indent="-285750">
              <a:buFont typeface="Arial"/>
              <a:buChar char="•"/>
            </a:pPr>
            <a:r>
              <a:rPr lang="vi-VN">
                <a:latin typeface="Lato" panose="020F0502020204030203" pitchFamily="34" charset="0"/>
                <a:ea typeface="Lato" panose="020F0502020204030203" pitchFamily="34" charset="0"/>
                <a:cs typeface="Lato" panose="020F0502020204030203" pitchFamily="34" charset="0"/>
              </a:rPr>
              <a:t>Đánh giá vùng nuôi</a:t>
            </a:r>
          </a:p>
          <a:p>
            <a:endParaRPr lang="vi-VN">
              <a:latin typeface="Lato" panose="020F0502020204030203" pitchFamily="34" charset="0"/>
              <a:ea typeface="Lato" panose="020F0502020204030203" pitchFamily="34" charset="0"/>
              <a:cs typeface="Lato" panose="020F0502020204030203" pitchFamily="34" charset="0"/>
            </a:endParaRPr>
          </a:p>
          <a:p>
            <a:endParaRPr lang="en-VN">
              <a:latin typeface="Lato" panose="020F0502020204030203" pitchFamily="34" charset="0"/>
              <a:ea typeface="Lato" panose="020F0502020204030203" pitchFamily="34" charset="0"/>
              <a:cs typeface="Lato" panose="020F0502020204030203" pitchFamily="34" charset="0"/>
            </a:endParaRPr>
          </a:p>
        </p:txBody>
      </p:sp>
      <p:pic>
        <p:nvPicPr>
          <p:cNvPr id="9" name="Graphic 8">
            <a:extLst>
              <a:ext uri="{FF2B5EF4-FFF2-40B4-BE49-F238E27FC236}">
                <a16:creationId xmlns:a16="http://schemas.microsoft.com/office/drawing/2014/main" id="{26586679-2F17-E3A1-44CA-936DE5C740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06768" y="1515552"/>
            <a:ext cx="4121229" cy="2749930"/>
          </a:xfrm>
          <a:prstGeom prst="rect">
            <a:avLst/>
          </a:prstGeom>
        </p:spPr>
      </p:pic>
    </p:spTree>
    <p:extLst>
      <p:ext uri="{BB962C8B-B14F-4D97-AF65-F5344CB8AC3E}">
        <p14:creationId xmlns:p14="http://schemas.microsoft.com/office/powerpoint/2010/main" val="986260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6C02-56A9-E7A6-AD91-0CF39063E2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BBE6D9-9617-6C05-9003-E6506F33C0E6}"/>
              </a:ext>
            </a:extLst>
          </p:cNvPr>
          <p:cNvSpPr>
            <a:spLocks noGrp="1"/>
          </p:cNvSpPr>
          <p:nvPr>
            <p:ph type="sldNum" sz="quarter" idx="12"/>
          </p:nvPr>
        </p:nvSpPr>
        <p:spPr/>
        <p:txBody>
          <a:bodyPr/>
          <a:lstStyle/>
          <a:p>
            <a:fld id="{9EA0BE3B-158A-4EDF-80DC-E394A0D1600F}" type="slidenum">
              <a:rPr lang="en-US" smtClean="0"/>
              <a:pPr/>
              <a:t>7</a:t>
            </a:fld>
            <a:endParaRPr lang="en-US"/>
          </a:p>
        </p:txBody>
      </p:sp>
      <p:sp>
        <p:nvSpPr>
          <p:cNvPr id="3" name="Title 2">
            <a:extLst>
              <a:ext uri="{FF2B5EF4-FFF2-40B4-BE49-F238E27FC236}">
                <a16:creationId xmlns:a16="http://schemas.microsoft.com/office/drawing/2014/main" id="{EB38421F-2238-EC63-FB1E-62A1145CEE3F}"/>
              </a:ext>
            </a:extLst>
          </p:cNvPr>
          <p:cNvSpPr>
            <a:spLocks noGrp="1"/>
          </p:cNvSpPr>
          <p:nvPr>
            <p:ph type="title"/>
          </p:nvPr>
        </p:nvSpPr>
        <p:spPr/>
        <p:txBody>
          <a:bodyPr lIns="91440" tIns="45720" rIns="91440" bIns="45720" anchor="t"/>
          <a:lstStyle/>
          <a:p>
            <a:r>
              <a:rPr lang="en-US">
                <a:latin typeface="Lato"/>
                <a:ea typeface="Lato"/>
                <a:cs typeface="Lato"/>
              </a:rPr>
              <a:t>2. </a:t>
            </a:r>
            <a:r>
              <a:rPr lang="en-US" err="1">
                <a:latin typeface="Lato"/>
                <a:ea typeface="Lato"/>
                <a:cs typeface="Lato"/>
              </a:rPr>
              <a:t>Bộ</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r>
              <a:rPr lang="en-US">
                <a:latin typeface="Lato"/>
                <a:ea typeface="Lato"/>
                <a:cs typeface="Lato"/>
              </a:rPr>
              <a:t> </a:t>
            </a:r>
            <a:r>
              <a:rPr lang="en-US" err="1">
                <a:latin typeface="Lato"/>
                <a:ea typeface="Lato"/>
                <a:cs typeface="Lato"/>
              </a:rPr>
              <a:t>và</a:t>
            </a:r>
            <a:r>
              <a:rPr lang="en-US">
                <a:latin typeface="Lato"/>
                <a:ea typeface="Lato"/>
                <a:cs typeface="Lato"/>
              </a:rPr>
              <a:t> </a:t>
            </a:r>
            <a:r>
              <a:rPr lang="en-US" err="1">
                <a:latin typeface="Lato"/>
                <a:ea typeface="Lato"/>
                <a:cs typeface="Lato"/>
              </a:rPr>
              <a:t>tiền</a:t>
            </a:r>
            <a:r>
              <a:rPr lang="en-US">
                <a:latin typeface="Lato"/>
                <a:ea typeface="Lato"/>
                <a:cs typeface="Lato"/>
              </a:rPr>
              <a:t> </a:t>
            </a:r>
            <a:r>
              <a:rPr lang="en-US" err="1">
                <a:latin typeface="Lato"/>
                <a:ea typeface="Lato"/>
                <a:cs typeface="Lato"/>
              </a:rPr>
              <a:t>xử</a:t>
            </a:r>
            <a:r>
              <a:rPr lang="en-US">
                <a:latin typeface="Lato"/>
                <a:ea typeface="Lato"/>
                <a:cs typeface="Lato"/>
              </a:rPr>
              <a:t> </a:t>
            </a:r>
            <a:r>
              <a:rPr lang="en-US" err="1">
                <a:latin typeface="Lato"/>
                <a:ea typeface="Lato"/>
                <a:cs typeface="Lato"/>
              </a:rPr>
              <a:t>lý</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endParaRPr lang="en-US">
              <a:latin typeface="Lato"/>
            </a:endParaRPr>
          </a:p>
          <a:p>
            <a:endParaRPr lang="en-US">
              <a:latin typeface="Lato"/>
              <a:ea typeface="Lato"/>
              <a:cs typeface="Lato"/>
            </a:endParaRPr>
          </a:p>
        </p:txBody>
      </p:sp>
      <p:pic>
        <p:nvPicPr>
          <p:cNvPr id="6" name="Picture 5" descr="A table of chemical formulas&#10;&#10;Description automatically generated with medium confidence">
            <a:extLst>
              <a:ext uri="{FF2B5EF4-FFF2-40B4-BE49-F238E27FC236}">
                <a16:creationId xmlns:a16="http://schemas.microsoft.com/office/drawing/2014/main" id="{42931126-F0D8-FA0D-E487-26BE042604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862" y="1384928"/>
            <a:ext cx="3876898" cy="4256455"/>
          </a:xfrm>
          <a:prstGeom prst="rect">
            <a:avLst/>
          </a:prstGeom>
        </p:spPr>
      </p:pic>
      <p:pic>
        <p:nvPicPr>
          <p:cNvPr id="8" name="Picture 7" descr="A table of text with numbers and letters&#10;&#10;Description automatically generated with medium confidence">
            <a:extLst>
              <a:ext uri="{FF2B5EF4-FFF2-40B4-BE49-F238E27FC236}">
                <a16:creationId xmlns:a16="http://schemas.microsoft.com/office/drawing/2014/main" id="{1539DCDF-74A3-CF16-F6B0-4AD1732963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7006" y="1384928"/>
            <a:ext cx="3797963" cy="4256455"/>
          </a:xfrm>
          <a:prstGeom prst="rect">
            <a:avLst/>
          </a:prstGeom>
        </p:spPr>
      </p:pic>
      <p:sp>
        <p:nvSpPr>
          <p:cNvPr id="10" name="TextBox 9">
            <a:extLst>
              <a:ext uri="{FF2B5EF4-FFF2-40B4-BE49-F238E27FC236}">
                <a16:creationId xmlns:a16="http://schemas.microsoft.com/office/drawing/2014/main" id="{30B4CF73-B259-8A73-FE7C-049AC3910E76}"/>
              </a:ext>
            </a:extLst>
          </p:cNvPr>
          <p:cNvSpPr txBox="1"/>
          <p:nvPr/>
        </p:nvSpPr>
        <p:spPr>
          <a:xfrm>
            <a:off x="235077" y="847285"/>
            <a:ext cx="3074881" cy="369332"/>
          </a:xfrm>
          <a:prstGeom prst="rect">
            <a:avLst/>
          </a:prstGeom>
          <a:noFill/>
        </p:spPr>
        <p:txBody>
          <a:bodyPr wrap="none" rtlCol="0">
            <a:spAutoFit/>
          </a:bodyPr>
          <a:lstStyle/>
          <a:p>
            <a:r>
              <a:rPr lang="en-US" b="1" err="1">
                <a:latin typeface="Lato" panose="020F0502020204030203" pitchFamily="34" charset="0"/>
                <a:ea typeface="Lato" panose="020F0502020204030203" pitchFamily="34" charset="0"/>
                <a:cs typeface="Lato" panose="020F0502020204030203" pitchFamily="34" charset="0"/>
              </a:rPr>
              <a:t>Bộ</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tiêu</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chí</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cho</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cá</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giò</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và</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hàu</a:t>
            </a:r>
            <a:endParaRPr lang="en-VN" b="1">
              <a:latin typeface="Lato" panose="020F0502020204030203" pitchFamily="34" charset="0"/>
              <a:ea typeface="Lato" panose="020F0502020204030203" pitchFamily="34" charset="0"/>
              <a:cs typeface="Lato" panose="020F0502020204030203" pitchFamily="34" charset="0"/>
            </a:endParaRPr>
          </a:p>
        </p:txBody>
      </p:sp>
      <p:sp>
        <p:nvSpPr>
          <p:cNvPr id="12" name="TextBox 11">
            <a:extLst>
              <a:ext uri="{FF2B5EF4-FFF2-40B4-BE49-F238E27FC236}">
                <a16:creationId xmlns:a16="http://schemas.microsoft.com/office/drawing/2014/main" id="{01B17ABC-3AA2-AFB2-CFFE-78A55BAFBAA2}"/>
              </a:ext>
            </a:extLst>
          </p:cNvPr>
          <p:cNvSpPr txBox="1"/>
          <p:nvPr/>
        </p:nvSpPr>
        <p:spPr>
          <a:xfrm>
            <a:off x="1190305" y="5798977"/>
            <a:ext cx="6763390" cy="307777"/>
          </a:xfrm>
          <a:prstGeom prst="rect">
            <a:avLst/>
          </a:prstGeom>
          <a:noFill/>
        </p:spPr>
        <p:txBody>
          <a:bodyPr wrap="none" rtlCol="0">
            <a:spAutoFit/>
          </a:bodyPr>
          <a:lstStyle/>
          <a:p>
            <a:r>
              <a:rPr lang="en-VN" sz="1400" i="1">
                <a:latin typeface="Lato" panose="020F0502020204030203" pitchFamily="34" charset="0"/>
                <a:ea typeface="Lato" panose="020F0502020204030203" pitchFamily="34" charset="0"/>
                <a:cs typeface="Lato" panose="020F0502020204030203" pitchFamily="34" charset="0"/>
              </a:rPr>
              <a:t>(Ngưỡng an toàn nuôi trồng hàu (phải) và cá giò (trái) theo </a:t>
            </a:r>
            <a:r>
              <a:rPr lang="en-US" sz="1400" i="1">
                <a:latin typeface="Lato" panose="020F0502020204030203" pitchFamily="34" charset="0"/>
                <a:ea typeface="Lato" panose="020F0502020204030203" pitchFamily="34" charset="0"/>
                <a:cs typeface="Lato" panose="020F0502020204030203" pitchFamily="34" charset="0"/>
              </a:rPr>
              <a:t>QCVN 10-MT:2015/BTNMT) </a:t>
            </a:r>
            <a:endParaRPr lang="en-VN" sz="1400" i="1">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620922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6C02-56A9-E7A6-AD91-0CF39063E2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BBE6D9-9617-6C05-9003-E6506F33C0E6}"/>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3" name="Title 2">
            <a:extLst>
              <a:ext uri="{FF2B5EF4-FFF2-40B4-BE49-F238E27FC236}">
                <a16:creationId xmlns:a16="http://schemas.microsoft.com/office/drawing/2014/main" id="{EB38421F-2238-EC63-FB1E-62A1145CEE3F}"/>
              </a:ext>
            </a:extLst>
          </p:cNvPr>
          <p:cNvSpPr>
            <a:spLocks noGrp="1"/>
          </p:cNvSpPr>
          <p:nvPr>
            <p:ph type="title"/>
          </p:nvPr>
        </p:nvSpPr>
        <p:spPr/>
        <p:txBody>
          <a:bodyPr lIns="91440" tIns="45720" rIns="91440" bIns="45720" anchor="t"/>
          <a:lstStyle/>
          <a:p>
            <a:r>
              <a:rPr lang="en-US">
                <a:latin typeface="Lato"/>
                <a:ea typeface="Lato"/>
                <a:cs typeface="Lato"/>
              </a:rPr>
              <a:t>2. </a:t>
            </a:r>
            <a:r>
              <a:rPr lang="en-US" err="1">
                <a:latin typeface="Lato"/>
                <a:ea typeface="Lato"/>
                <a:cs typeface="Lato"/>
              </a:rPr>
              <a:t>Bộ</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r>
              <a:rPr lang="en-US">
                <a:latin typeface="Lato"/>
                <a:ea typeface="Lato"/>
                <a:cs typeface="Lato"/>
              </a:rPr>
              <a:t> </a:t>
            </a:r>
            <a:r>
              <a:rPr lang="en-US" err="1">
                <a:latin typeface="Lato"/>
                <a:ea typeface="Lato"/>
                <a:cs typeface="Lato"/>
              </a:rPr>
              <a:t>và</a:t>
            </a:r>
            <a:r>
              <a:rPr lang="en-US">
                <a:latin typeface="Lato"/>
                <a:ea typeface="Lato"/>
                <a:cs typeface="Lato"/>
              </a:rPr>
              <a:t> </a:t>
            </a:r>
            <a:r>
              <a:rPr lang="en-US" err="1">
                <a:latin typeface="Lato"/>
                <a:ea typeface="Lato"/>
                <a:cs typeface="Lato"/>
              </a:rPr>
              <a:t>tiền</a:t>
            </a:r>
            <a:r>
              <a:rPr lang="en-US">
                <a:latin typeface="Lato"/>
                <a:ea typeface="Lato"/>
                <a:cs typeface="Lato"/>
              </a:rPr>
              <a:t> </a:t>
            </a:r>
            <a:r>
              <a:rPr lang="en-US" err="1">
                <a:latin typeface="Lato"/>
                <a:ea typeface="Lato"/>
                <a:cs typeface="Lato"/>
              </a:rPr>
              <a:t>xử</a:t>
            </a:r>
            <a:r>
              <a:rPr lang="en-US">
                <a:latin typeface="Lato"/>
                <a:ea typeface="Lato"/>
                <a:cs typeface="Lato"/>
              </a:rPr>
              <a:t> </a:t>
            </a:r>
            <a:r>
              <a:rPr lang="en-US" err="1">
                <a:latin typeface="Lato"/>
                <a:ea typeface="Lato"/>
                <a:cs typeface="Lato"/>
              </a:rPr>
              <a:t>lý</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endParaRPr lang="en-US">
              <a:latin typeface="Lato"/>
            </a:endParaRPr>
          </a:p>
          <a:p>
            <a:endParaRPr lang="en-US">
              <a:latin typeface="Lato"/>
              <a:ea typeface="Lato"/>
              <a:cs typeface="Lato"/>
            </a:endParaRPr>
          </a:p>
        </p:txBody>
      </p:sp>
      <p:sp>
        <p:nvSpPr>
          <p:cNvPr id="10" name="TextBox 9">
            <a:extLst>
              <a:ext uri="{FF2B5EF4-FFF2-40B4-BE49-F238E27FC236}">
                <a16:creationId xmlns:a16="http://schemas.microsoft.com/office/drawing/2014/main" id="{30B4CF73-B259-8A73-FE7C-049AC3910E76}"/>
              </a:ext>
            </a:extLst>
          </p:cNvPr>
          <p:cNvSpPr txBox="1"/>
          <p:nvPr/>
        </p:nvSpPr>
        <p:spPr>
          <a:xfrm>
            <a:off x="235077" y="847285"/>
            <a:ext cx="1385316" cy="369332"/>
          </a:xfrm>
          <a:prstGeom prst="rect">
            <a:avLst/>
          </a:prstGeom>
          <a:noFill/>
        </p:spPr>
        <p:txBody>
          <a:bodyPr wrap="none" rtlCol="0">
            <a:spAutoFit/>
          </a:bodyPr>
          <a:lstStyle/>
          <a:p>
            <a:r>
              <a:rPr lang="en-US" b="1">
                <a:latin typeface="Lato" panose="020F0502020204030203" pitchFamily="34" charset="0"/>
                <a:ea typeface="Lato" panose="020F0502020204030203" pitchFamily="34" charset="0"/>
                <a:cs typeface="Lato" panose="020F0502020204030203" pitchFamily="34" charset="0"/>
              </a:rPr>
              <a:t>HK Dataset</a:t>
            </a:r>
            <a:endParaRPr lang="en-VN" b="1">
              <a:latin typeface="Lato" panose="020F0502020204030203" pitchFamily="34" charset="0"/>
              <a:ea typeface="Lato" panose="020F0502020204030203" pitchFamily="34" charset="0"/>
              <a:cs typeface="Lato" panose="020F0502020204030203" pitchFamily="34" charset="0"/>
            </a:endParaRPr>
          </a:p>
        </p:txBody>
      </p:sp>
      <p:pic>
        <p:nvPicPr>
          <p:cNvPr id="5" name="Picture 4" descr="A map of the eastern water&#10;&#10;Description automatically generated">
            <a:extLst>
              <a:ext uri="{FF2B5EF4-FFF2-40B4-BE49-F238E27FC236}">
                <a16:creationId xmlns:a16="http://schemas.microsoft.com/office/drawing/2014/main" id="{BA5824BE-F3A6-EC52-1187-DDBBEE8E61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814584"/>
            <a:ext cx="4328373" cy="3062810"/>
          </a:xfrm>
          <a:prstGeom prst="rect">
            <a:avLst/>
          </a:prstGeom>
        </p:spPr>
      </p:pic>
      <p:sp>
        <p:nvSpPr>
          <p:cNvPr id="7" name="TextBox 6">
            <a:extLst>
              <a:ext uri="{FF2B5EF4-FFF2-40B4-BE49-F238E27FC236}">
                <a16:creationId xmlns:a16="http://schemas.microsoft.com/office/drawing/2014/main" id="{62195FDF-0C04-1DEC-6D58-87EBC67A37CD}"/>
              </a:ext>
            </a:extLst>
          </p:cNvPr>
          <p:cNvSpPr txBox="1"/>
          <p:nvPr/>
        </p:nvSpPr>
        <p:spPr>
          <a:xfrm>
            <a:off x="235077" y="1461714"/>
            <a:ext cx="3723588" cy="3293209"/>
          </a:xfrm>
          <a:prstGeom prst="rect">
            <a:avLst/>
          </a:prstGeom>
          <a:noFill/>
        </p:spPr>
        <p:txBody>
          <a:bodyPr wrap="square" rtlCol="0">
            <a:spAutoFit/>
          </a:bodyPr>
          <a:lstStyle/>
          <a:p>
            <a:r>
              <a:rPr lang="vi-VN" sz="1600">
                <a:latin typeface="Lato" panose="020F0502020204030203" pitchFamily="34" charset="0"/>
                <a:ea typeface="Lato" panose="020F0502020204030203" pitchFamily="34" charset="0"/>
                <a:cs typeface="Lato" panose="020F0502020204030203" pitchFamily="34" charset="0"/>
              </a:rPr>
              <a:t>HK Dataset là bộ dữ liệu phản ánh chất lượng biển tại một số khu vực</a:t>
            </a:r>
          </a:p>
          <a:p>
            <a:r>
              <a:rPr lang="vi-VN" sz="1600">
                <a:latin typeface="Lato" panose="020F0502020204030203" pitchFamily="34" charset="0"/>
                <a:ea typeface="Lato" panose="020F0502020204030203" pitchFamily="34" charset="0"/>
                <a:cs typeface="Lato" panose="020F0502020204030203" pitchFamily="34" charset="0"/>
              </a:rPr>
              <a:t>biển khác nhau của Hồng Kông. </a:t>
            </a:r>
          </a:p>
          <a:p>
            <a:r>
              <a:rPr lang="vi-VN" sz="1600">
                <a:latin typeface="Lato" panose="020F0502020204030203" pitchFamily="34" charset="0"/>
                <a:ea typeface="Lato" panose="020F0502020204030203" pitchFamily="34" charset="0"/>
                <a:cs typeface="Lato" panose="020F0502020204030203" pitchFamily="34" charset="0"/>
              </a:rPr>
              <a:t>Mỗi thư mục khu vực chứa hai tệp dữ liệu dạng CSV:</a:t>
            </a:r>
          </a:p>
          <a:p>
            <a:r>
              <a:rPr lang="vi-VN" sz="1600">
                <a:latin typeface="Lato" panose="020F0502020204030203" pitchFamily="34" charset="0"/>
                <a:ea typeface="Lato" panose="020F0502020204030203" pitchFamily="34" charset="0"/>
                <a:cs typeface="Lato" panose="020F0502020204030203" pitchFamily="34" charset="0"/>
              </a:rPr>
              <a:t>• </a:t>
            </a:r>
            <a:r>
              <a:rPr lang="vi-VN" sz="1600" i="1">
                <a:latin typeface="Lato" panose="020F0502020204030203" pitchFamily="34" charset="0"/>
                <a:ea typeface="Lato" panose="020F0502020204030203" pitchFamily="34" charset="0"/>
                <a:cs typeface="Lato" panose="020F0502020204030203" pitchFamily="34" charset="0"/>
              </a:rPr>
              <a:t>marine_water_quality.csv</a:t>
            </a:r>
            <a:r>
              <a:rPr lang="vi-VN" sz="1600">
                <a:latin typeface="Lato" panose="020F0502020204030203" pitchFamily="34" charset="0"/>
                <a:ea typeface="Lato" panose="020F0502020204030203" pitchFamily="34" charset="0"/>
                <a:cs typeface="Lato" panose="020F0502020204030203" pitchFamily="34" charset="0"/>
              </a:rPr>
              <a:t>: Dữ liệu chất lượng nước biển, bao gồm các thông số vật lý, hóa học và sinh học như oxy hòa tan, nhiệt độ, độ mặn, pH,… </a:t>
            </a:r>
          </a:p>
          <a:p>
            <a:r>
              <a:rPr lang="vi-VN" sz="1600">
                <a:latin typeface="Lato" panose="020F0502020204030203" pitchFamily="34" charset="0"/>
                <a:ea typeface="Lato" panose="020F0502020204030203" pitchFamily="34" charset="0"/>
                <a:cs typeface="Lato" panose="020F0502020204030203" pitchFamily="34" charset="0"/>
              </a:rPr>
              <a:t>• </a:t>
            </a:r>
            <a:r>
              <a:rPr lang="vi-VN" sz="1600" i="1">
                <a:latin typeface="Lato" panose="020F0502020204030203" pitchFamily="34" charset="0"/>
                <a:ea typeface="Lato" panose="020F0502020204030203" pitchFamily="34" charset="0"/>
                <a:cs typeface="Lato" panose="020F0502020204030203" pitchFamily="34" charset="0"/>
              </a:rPr>
              <a:t>marine_sedi_quality.csv</a:t>
            </a:r>
            <a:r>
              <a:rPr lang="vi-VN" sz="1600">
                <a:latin typeface="Lato" panose="020F0502020204030203" pitchFamily="34" charset="0"/>
                <a:ea typeface="Lato" panose="020F0502020204030203" pitchFamily="34" charset="0"/>
                <a:cs typeface="Lato" panose="020F0502020204030203" pitchFamily="34" charset="0"/>
              </a:rPr>
              <a:t>: Dữ liệu chất lượng trầm tích biển, phản ánh tình trạng tích tụ kim loại nặng và các chất ô nhiễm.</a:t>
            </a:r>
            <a:endParaRPr lang="en-VN" sz="160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574452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6C02-56A9-E7A6-AD91-0CF39063E2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BBE6D9-9617-6C05-9003-E6506F33C0E6}"/>
              </a:ext>
            </a:extLst>
          </p:cNvPr>
          <p:cNvSpPr>
            <a:spLocks noGrp="1"/>
          </p:cNvSpPr>
          <p:nvPr>
            <p:ph type="sldNum" sz="quarter" idx="12"/>
          </p:nvPr>
        </p:nvSpPr>
        <p:spPr/>
        <p:txBody>
          <a:bodyPr/>
          <a:lstStyle/>
          <a:p>
            <a:fld id="{9EA0BE3B-158A-4EDF-80DC-E394A0D1600F}" type="slidenum">
              <a:rPr lang="en-US" smtClean="0"/>
              <a:pPr/>
              <a:t>9</a:t>
            </a:fld>
            <a:endParaRPr lang="en-US"/>
          </a:p>
        </p:txBody>
      </p:sp>
      <p:sp>
        <p:nvSpPr>
          <p:cNvPr id="3" name="Title 2">
            <a:extLst>
              <a:ext uri="{FF2B5EF4-FFF2-40B4-BE49-F238E27FC236}">
                <a16:creationId xmlns:a16="http://schemas.microsoft.com/office/drawing/2014/main" id="{EB38421F-2238-EC63-FB1E-62A1145CEE3F}"/>
              </a:ext>
            </a:extLst>
          </p:cNvPr>
          <p:cNvSpPr>
            <a:spLocks noGrp="1"/>
          </p:cNvSpPr>
          <p:nvPr>
            <p:ph type="title"/>
          </p:nvPr>
        </p:nvSpPr>
        <p:spPr/>
        <p:txBody>
          <a:bodyPr lIns="91440" tIns="45720" rIns="91440" bIns="45720" anchor="t"/>
          <a:lstStyle/>
          <a:p>
            <a:r>
              <a:rPr lang="en-US">
                <a:latin typeface="Lato"/>
                <a:ea typeface="Lato"/>
                <a:cs typeface="Lato"/>
              </a:rPr>
              <a:t>2. </a:t>
            </a:r>
            <a:r>
              <a:rPr lang="en-US" err="1">
                <a:latin typeface="Lato"/>
                <a:ea typeface="Lato"/>
                <a:cs typeface="Lato"/>
              </a:rPr>
              <a:t>Bộ</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r>
              <a:rPr lang="en-US">
                <a:latin typeface="Lato"/>
                <a:ea typeface="Lato"/>
                <a:cs typeface="Lato"/>
              </a:rPr>
              <a:t> </a:t>
            </a:r>
            <a:r>
              <a:rPr lang="en-US" err="1">
                <a:latin typeface="Lato"/>
                <a:ea typeface="Lato"/>
                <a:cs typeface="Lato"/>
              </a:rPr>
              <a:t>và</a:t>
            </a:r>
            <a:r>
              <a:rPr lang="en-US">
                <a:latin typeface="Lato"/>
                <a:ea typeface="Lato"/>
                <a:cs typeface="Lato"/>
              </a:rPr>
              <a:t> </a:t>
            </a:r>
            <a:r>
              <a:rPr lang="en-US" err="1">
                <a:latin typeface="Lato"/>
                <a:ea typeface="Lato"/>
                <a:cs typeface="Lato"/>
              </a:rPr>
              <a:t>tiền</a:t>
            </a:r>
            <a:r>
              <a:rPr lang="en-US">
                <a:latin typeface="Lato"/>
                <a:ea typeface="Lato"/>
                <a:cs typeface="Lato"/>
              </a:rPr>
              <a:t> </a:t>
            </a:r>
            <a:r>
              <a:rPr lang="en-US" err="1">
                <a:latin typeface="Lato"/>
                <a:ea typeface="Lato"/>
                <a:cs typeface="Lato"/>
              </a:rPr>
              <a:t>xử</a:t>
            </a:r>
            <a:r>
              <a:rPr lang="en-US">
                <a:latin typeface="Lato"/>
                <a:ea typeface="Lato"/>
                <a:cs typeface="Lato"/>
              </a:rPr>
              <a:t> </a:t>
            </a:r>
            <a:r>
              <a:rPr lang="en-US" err="1">
                <a:latin typeface="Lato"/>
                <a:ea typeface="Lato"/>
                <a:cs typeface="Lato"/>
              </a:rPr>
              <a:t>lý</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endParaRPr lang="en-US">
              <a:latin typeface="Lato"/>
            </a:endParaRPr>
          </a:p>
          <a:p>
            <a:endParaRPr lang="en-US">
              <a:latin typeface="Lato"/>
              <a:ea typeface="Lato"/>
              <a:cs typeface="Lato"/>
            </a:endParaRPr>
          </a:p>
        </p:txBody>
      </p:sp>
      <p:sp>
        <p:nvSpPr>
          <p:cNvPr id="10" name="TextBox 9">
            <a:extLst>
              <a:ext uri="{FF2B5EF4-FFF2-40B4-BE49-F238E27FC236}">
                <a16:creationId xmlns:a16="http://schemas.microsoft.com/office/drawing/2014/main" id="{30B4CF73-B259-8A73-FE7C-049AC3910E76}"/>
              </a:ext>
            </a:extLst>
          </p:cNvPr>
          <p:cNvSpPr txBox="1"/>
          <p:nvPr/>
        </p:nvSpPr>
        <p:spPr>
          <a:xfrm>
            <a:off x="235077" y="847285"/>
            <a:ext cx="1385316" cy="369332"/>
          </a:xfrm>
          <a:prstGeom prst="rect">
            <a:avLst/>
          </a:prstGeom>
          <a:noFill/>
        </p:spPr>
        <p:txBody>
          <a:bodyPr wrap="none" rtlCol="0">
            <a:spAutoFit/>
          </a:bodyPr>
          <a:lstStyle/>
          <a:p>
            <a:r>
              <a:rPr lang="en-US" b="1">
                <a:latin typeface="Lato" panose="020F0502020204030203" pitchFamily="34" charset="0"/>
                <a:ea typeface="Lato" panose="020F0502020204030203" pitchFamily="34" charset="0"/>
                <a:cs typeface="Lato" panose="020F0502020204030203" pitchFamily="34" charset="0"/>
              </a:rPr>
              <a:t>HK Dataset</a:t>
            </a:r>
            <a:endParaRPr lang="en-VN" b="1">
              <a:latin typeface="Lato" panose="020F0502020204030203" pitchFamily="34" charset="0"/>
              <a:ea typeface="Lato" panose="020F0502020204030203" pitchFamily="34" charset="0"/>
              <a:cs typeface="Lato" panose="020F0502020204030203" pitchFamily="34" charset="0"/>
            </a:endParaRPr>
          </a:p>
        </p:txBody>
      </p:sp>
      <p:pic>
        <p:nvPicPr>
          <p:cNvPr id="6" name="Picture 5" descr="A graph of oxygen&#10;&#10;Description automatically generated">
            <a:extLst>
              <a:ext uri="{FF2B5EF4-FFF2-40B4-BE49-F238E27FC236}">
                <a16:creationId xmlns:a16="http://schemas.microsoft.com/office/drawing/2014/main" id="{4108D41E-BB09-CFF6-4786-3852B48B39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4089" y="2067408"/>
            <a:ext cx="1813786" cy="1326500"/>
          </a:xfrm>
          <a:prstGeom prst="rect">
            <a:avLst/>
          </a:prstGeom>
        </p:spPr>
      </p:pic>
      <p:pic>
        <p:nvPicPr>
          <p:cNvPr id="9" name="Picture 8" descr="A graph of a number of numbers and a chart of a graph&#10;&#10;Description automatically generated with medium confidence">
            <a:extLst>
              <a:ext uri="{FF2B5EF4-FFF2-40B4-BE49-F238E27FC236}">
                <a16:creationId xmlns:a16="http://schemas.microsoft.com/office/drawing/2014/main" id="{788F1C4F-FACB-B851-64E3-A08430C18A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5002" y="2067408"/>
            <a:ext cx="1849881" cy="1317476"/>
          </a:xfrm>
          <a:prstGeom prst="rect">
            <a:avLst/>
          </a:prstGeom>
        </p:spPr>
      </p:pic>
      <p:pic>
        <p:nvPicPr>
          <p:cNvPr id="12" name="Picture 11" descr="A graph of a temperature&#10;&#10;Description automatically generated">
            <a:extLst>
              <a:ext uri="{FF2B5EF4-FFF2-40B4-BE49-F238E27FC236}">
                <a16:creationId xmlns:a16="http://schemas.microsoft.com/office/drawing/2014/main" id="{FCB9D271-8E42-DC76-0234-C70A45F167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17081" y="2067408"/>
            <a:ext cx="1858905" cy="1335524"/>
          </a:xfrm>
          <a:prstGeom prst="rect">
            <a:avLst/>
          </a:prstGeom>
        </p:spPr>
      </p:pic>
      <p:sp>
        <p:nvSpPr>
          <p:cNvPr id="13" name="TextBox 12">
            <a:extLst>
              <a:ext uri="{FF2B5EF4-FFF2-40B4-BE49-F238E27FC236}">
                <a16:creationId xmlns:a16="http://schemas.microsoft.com/office/drawing/2014/main" id="{27F9D0A8-A722-8F92-9953-15CCFB841D97}"/>
              </a:ext>
            </a:extLst>
          </p:cNvPr>
          <p:cNvSpPr txBox="1"/>
          <p:nvPr/>
        </p:nvSpPr>
        <p:spPr>
          <a:xfrm>
            <a:off x="235077" y="3724091"/>
            <a:ext cx="7909538" cy="1323439"/>
          </a:xfrm>
          <a:prstGeom prst="rect">
            <a:avLst/>
          </a:prstGeom>
          <a:noFill/>
        </p:spPr>
        <p:txBody>
          <a:bodyPr wrap="none" rtlCol="0">
            <a:spAutoFit/>
          </a:bodyPr>
          <a:lstStyle/>
          <a:p>
            <a:r>
              <a:rPr lang="vi-VN" sz="1600">
                <a:latin typeface="Lato" panose="020F0502020204030203" pitchFamily="34" charset="0"/>
                <a:ea typeface="Lato" panose="020F0502020204030203" pitchFamily="34" charset="0"/>
                <a:cs typeface="Lato" panose="020F0502020204030203" pitchFamily="34" charset="0"/>
              </a:rPr>
              <a:t>Sau bước khám phá và trực quan hoá dữ liệu, bộ dữ liệu được tiền xử lý:</a:t>
            </a:r>
          </a:p>
          <a:p>
            <a:pPr marL="285750" indent="-285750">
              <a:buFont typeface="Arial" panose="020B0604020202020204" pitchFamily="34" charset="0"/>
              <a:buChar char="•"/>
            </a:pPr>
            <a:r>
              <a:rPr lang="vi-VN" sz="1600">
                <a:latin typeface="Lato" panose="020F0502020204030203" pitchFamily="34" charset="0"/>
                <a:ea typeface="Lato" panose="020F0502020204030203" pitchFamily="34" charset="0"/>
                <a:cs typeface="Lato" panose="020F0502020204030203" pitchFamily="34" charset="0"/>
              </a:rPr>
              <a:t>Tên các cột được đưa về dạng chuẩn, loại bỏ ký tự đặc biệt. </a:t>
            </a:r>
          </a:p>
          <a:p>
            <a:pPr marL="285750" indent="-285750">
              <a:buFont typeface="Arial" panose="020B0604020202020204" pitchFamily="34" charset="0"/>
              <a:buChar char="•"/>
            </a:pPr>
            <a:r>
              <a:rPr lang="vi-VN" sz="1600">
                <a:latin typeface="Lato" panose="020F0502020204030203" pitchFamily="34" charset="0"/>
                <a:ea typeface="Lato" panose="020F0502020204030203" pitchFamily="34" charset="0"/>
                <a:cs typeface="Lato" panose="020F0502020204030203" pitchFamily="34" charset="0"/>
              </a:rPr>
              <a:t>Xử lý các bản ghi chứa giá trị đặc biệt như &lt;0.01 bằng cách lấy một nửa ngưỡng.</a:t>
            </a:r>
          </a:p>
          <a:p>
            <a:endParaRPr lang="vi-VN" sz="1600">
              <a:latin typeface="Lato" panose="020F0502020204030203" pitchFamily="34" charset="0"/>
              <a:ea typeface="Lato" panose="020F0502020204030203" pitchFamily="34" charset="0"/>
              <a:cs typeface="Lato" panose="020F0502020204030203" pitchFamily="34" charset="0"/>
            </a:endParaRPr>
          </a:p>
          <a:p>
            <a:endParaRPr lang="vi-VN" sz="1600">
              <a:latin typeface="Lato" panose="020F0502020204030203" pitchFamily="34" charset="0"/>
              <a:ea typeface="Lato" panose="020F0502020204030203" pitchFamily="34" charset="0"/>
              <a:cs typeface="Lato" panose="020F0502020204030203" pitchFamily="34" charset="0"/>
            </a:endParaRPr>
          </a:p>
        </p:txBody>
      </p:sp>
      <p:sp>
        <p:nvSpPr>
          <p:cNvPr id="14" name="TextBox 13">
            <a:extLst>
              <a:ext uri="{FF2B5EF4-FFF2-40B4-BE49-F238E27FC236}">
                <a16:creationId xmlns:a16="http://schemas.microsoft.com/office/drawing/2014/main" id="{DB43D8B4-CE29-CF4B-13AC-16EAF1AC2103}"/>
              </a:ext>
            </a:extLst>
          </p:cNvPr>
          <p:cNvSpPr txBox="1"/>
          <p:nvPr/>
        </p:nvSpPr>
        <p:spPr>
          <a:xfrm>
            <a:off x="235077" y="1320049"/>
            <a:ext cx="8537134" cy="584775"/>
          </a:xfrm>
          <a:prstGeom prst="rect">
            <a:avLst/>
          </a:prstGeom>
          <a:noFill/>
        </p:spPr>
        <p:txBody>
          <a:bodyPr wrap="square" rtlCol="0">
            <a:spAutoFit/>
          </a:bodyPr>
          <a:lstStyle/>
          <a:p>
            <a:r>
              <a:rPr lang="vi-VN" sz="1600">
                <a:latin typeface="Lato" panose="020F0502020204030203" pitchFamily="34" charset="0"/>
                <a:ea typeface="Lato" panose="020F0502020204030203" pitchFamily="34" charset="0"/>
                <a:cs typeface="Lato" panose="020F0502020204030203" pitchFamily="34" charset="0"/>
              </a:rPr>
              <a:t>Dự án sử dụng file </a:t>
            </a:r>
            <a:r>
              <a:rPr lang="vi-VN" sz="1600" i="1">
                <a:latin typeface="Lato" panose="020F0502020204030203" pitchFamily="34" charset="0"/>
                <a:ea typeface="Lato" panose="020F0502020204030203" pitchFamily="34" charset="0"/>
                <a:cs typeface="Lato" panose="020F0502020204030203" pitchFamily="34" charset="0"/>
              </a:rPr>
              <a:t>marine_water_quality.csv </a:t>
            </a:r>
            <a:r>
              <a:rPr lang="vi-VN" sz="1600">
                <a:latin typeface="Lato" panose="020F0502020204030203" pitchFamily="34" charset="0"/>
                <a:ea typeface="Lato" panose="020F0502020204030203" pitchFamily="34" charset="0"/>
                <a:cs typeface="Lato" panose="020F0502020204030203" pitchFamily="34" charset="0"/>
              </a:rPr>
              <a:t>do chứa các trường dữ liệu liên quan trực tiếp đến bộ tiêu chí của cá giò và hàu.</a:t>
            </a:r>
            <a:endParaRPr lang="en-VN" sz="1600">
              <a:latin typeface="Lato" panose="020F0502020204030203" pitchFamily="34" charset="0"/>
              <a:ea typeface="Lato" panose="020F0502020204030203" pitchFamily="34" charset="0"/>
              <a:cs typeface="Lato" panose="020F0502020204030203" pitchFamily="34" charset="0"/>
            </a:endParaRPr>
          </a:p>
        </p:txBody>
      </p:sp>
      <p:sp>
        <p:nvSpPr>
          <p:cNvPr id="15" name="TextBox 14">
            <a:extLst>
              <a:ext uri="{FF2B5EF4-FFF2-40B4-BE49-F238E27FC236}">
                <a16:creationId xmlns:a16="http://schemas.microsoft.com/office/drawing/2014/main" id="{E0884708-3CFB-BA3C-6ABE-8A3B43594EB8}"/>
              </a:ext>
            </a:extLst>
          </p:cNvPr>
          <p:cNvSpPr txBox="1"/>
          <p:nvPr/>
        </p:nvSpPr>
        <p:spPr>
          <a:xfrm>
            <a:off x="235077" y="4636898"/>
            <a:ext cx="7470315" cy="830997"/>
          </a:xfrm>
          <a:prstGeom prst="rect">
            <a:avLst/>
          </a:prstGeom>
          <a:noFill/>
        </p:spPr>
        <p:txBody>
          <a:bodyPr wrap="none" rtlCol="0">
            <a:spAutoFit/>
          </a:bodyPr>
          <a:lstStyle/>
          <a:p>
            <a:r>
              <a:rPr lang="vi-VN" sz="1600">
                <a:latin typeface="Lato" panose="020F0502020204030203" pitchFamily="34" charset="0"/>
                <a:ea typeface="Lato" panose="020F0502020204030203" pitchFamily="34" charset="0"/>
                <a:cs typeface="Lato" panose="020F0502020204030203" pitchFamily="34" charset="0"/>
              </a:rPr>
              <a:t>Dữ liệu được chia thành hai bộ riêng biệt:</a:t>
            </a:r>
          </a:p>
          <a:p>
            <a:r>
              <a:rPr lang="vi-VN" sz="1600">
                <a:latin typeface="Lato" panose="020F0502020204030203" pitchFamily="34" charset="0"/>
                <a:ea typeface="Lato" panose="020F0502020204030203" pitchFamily="34" charset="0"/>
                <a:cs typeface="Lato" panose="020F0502020204030203" pitchFamily="34" charset="0"/>
              </a:rPr>
              <a:t>• Bộ dữ liệu cá giò (cobia), sử dụng các bản ghi ở tầng trung, thêm trường PO4.</a:t>
            </a:r>
          </a:p>
          <a:p>
            <a:r>
              <a:rPr lang="vi-VN" sz="1600">
                <a:latin typeface="Lato" panose="020F0502020204030203" pitchFamily="34" charset="0"/>
                <a:ea typeface="Lato" panose="020F0502020204030203" pitchFamily="34" charset="0"/>
                <a:cs typeface="Lato" panose="020F0502020204030203" pitchFamily="34" charset="0"/>
              </a:rPr>
              <a:t>• Bộ dữ liệu hàu (oyster), sử dụng các bản ghi ở tầng mặt, thêm trường H2S.</a:t>
            </a:r>
          </a:p>
        </p:txBody>
      </p:sp>
    </p:spTree>
    <p:extLst>
      <p:ext uri="{BB962C8B-B14F-4D97-AF65-F5344CB8AC3E}">
        <p14:creationId xmlns:p14="http://schemas.microsoft.com/office/powerpoint/2010/main" val="659349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6C02-56A9-E7A6-AD91-0CF39063E2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BBE6D9-9617-6C05-9003-E6506F33C0E6}"/>
              </a:ext>
            </a:extLst>
          </p:cNvPr>
          <p:cNvSpPr>
            <a:spLocks noGrp="1"/>
          </p:cNvSpPr>
          <p:nvPr>
            <p:ph type="sldNum" sz="quarter" idx="12"/>
          </p:nvPr>
        </p:nvSpPr>
        <p:spPr/>
        <p:txBody>
          <a:bodyPr/>
          <a:lstStyle/>
          <a:p>
            <a:fld id="{9EA0BE3B-158A-4EDF-80DC-E394A0D1600F}" type="slidenum">
              <a:rPr lang="en-US" smtClean="0"/>
              <a:pPr/>
              <a:t>10</a:t>
            </a:fld>
            <a:endParaRPr lang="en-US"/>
          </a:p>
        </p:txBody>
      </p:sp>
      <p:sp>
        <p:nvSpPr>
          <p:cNvPr id="3" name="Title 2">
            <a:extLst>
              <a:ext uri="{FF2B5EF4-FFF2-40B4-BE49-F238E27FC236}">
                <a16:creationId xmlns:a16="http://schemas.microsoft.com/office/drawing/2014/main" id="{EB38421F-2238-EC63-FB1E-62A1145CEE3F}"/>
              </a:ext>
            </a:extLst>
          </p:cNvPr>
          <p:cNvSpPr>
            <a:spLocks noGrp="1"/>
          </p:cNvSpPr>
          <p:nvPr>
            <p:ph type="title"/>
          </p:nvPr>
        </p:nvSpPr>
        <p:spPr/>
        <p:txBody>
          <a:bodyPr lIns="91440" tIns="45720" rIns="91440" bIns="45720" anchor="t"/>
          <a:lstStyle/>
          <a:p>
            <a:r>
              <a:rPr lang="en-US">
                <a:latin typeface="Lato"/>
                <a:ea typeface="Lato"/>
                <a:cs typeface="Lato"/>
              </a:rPr>
              <a:t>2. </a:t>
            </a:r>
            <a:r>
              <a:rPr lang="en-US" err="1">
                <a:latin typeface="Lato"/>
                <a:ea typeface="Lato"/>
                <a:cs typeface="Lato"/>
              </a:rPr>
              <a:t>Bộ</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r>
              <a:rPr lang="en-US">
                <a:latin typeface="Lato"/>
                <a:ea typeface="Lato"/>
                <a:cs typeface="Lato"/>
              </a:rPr>
              <a:t> </a:t>
            </a:r>
            <a:r>
              <a:rPr lang="en-US" err="1">
                <a:latin typeface="Lato"/>
                <a:ea typeface="Lato"/>
                <a:cs typeface="Lato"/>
              </a:rPr>
              <a:t>và</a:t>
            </a:r>
            <a:r>
              <a:rPr lang="en-US">
                <a:latin typeface="Lato"/>
                <a:ea typeface="Lato"/>
                <a:cs typeface="Lato"/>
              </a:rPr>
              <a:t> </a:t>
            </a:r>
            <a:r>
              <a:rPr lang="en-US" err="1">
                <a:latin typeface="Lato"/>
                <a:ea typeface="Lato"/>
                <a:cs typeface="Lato"/>
              </a:rPr>
              <a:t>tiền</a:t>
            </a:r>
            <a:r>
              <a:rPr lang="en-US">
                <a:latin typeface="Lato"/>
                <a:ea typeface="Lato"/>
                <a:cs typeface="Lato"/>
              </a:rPr>
              <a:t> </a:t>
            </a:r>
            <a:r>
              <a:rPr lang="en-US" err="1">
                <a:latin typeface="Lato"/>
                <a:ea typeface="Lato"/>
                <a:cs typeface="Lato"/>
              </a:rPr>
              <a:t>xử</a:t>
            </a:r>
            <a:r>
              <a:rPr lang="en-US">
                <a:latin typeface="Lato"/>
                <a:ea typeface="Lato"/>
                <a:cs typeface="Lato"/>
              </a:rPr>
              <a:t> </a:t>
            </a:r>
            <a:r>
              <a:rPr lang="en-US" err="1">
                <a:latin typeface="Lato"/>
                <a:ea typeface="Lato"/>
                <a:cs typeface="Lato"/>
              </a:rPr>
              <a:t>lý</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endParaRPr lang="en-US">
              <a:latin typeface="Lato"/>
            </a:endParaRPr>
          </a:p>
          <a:p>
            <a:endParaRPr lang="en-US">
              <a:latin typeface="Lato"/>
              <a:ea typeface="Lato"/>
              <a:cs typeface="Lato"/>
            </a:endParaRPr>
          </a:p>
        </p:txBody>
      </p:sp>
      <p:sp>
        <p:nvSpPr>
          <p:cNvPr id="10" name="TextBox 9">
            <a:extLst>
              <a:ext uri="{FF2B5EF4-FFF2-40B4-BE49-F238E27FC236}">
                <a16:creationId xmlns:a16="http://schemas.microsoft.com/office/drawing/2014/main" id="{30B4CF73-B259-8A73-FE7C-049AC3910E76}"/>
              </a:ext>
            </a:extLst>
          </p:cNvPr>
          <p:cNvSpPr txBox="1"/>
          <p:nvPr/>
        </p:nvSpPr>
        <p:spPr>
          <a:xfrm>
            <a:off x="235077" y="847285"/>
            <a:ext cx="4302781" cy="369332"/>
          </a:xfrm>
          <a:prstGeom prst="rect">
            <a:avLst/>
          </a:prstGeom>
          <a:noFill/>
        </p:spPr>
        <p:txBody>
          <a:bodyPr wrap="none" rtlCol="0">
            <a:spAutoFit/>
          </a:bodyPr>
          <a:lstStyle/>
          <a:p>
            <a:r>
              <a:rPr lang="en-US" b="1" err="1">
                <a:latin typeface="Lato" panose="020F0502020204030203" pitchFamily="34" charset="0"/>
                <a:ea typeface="Lato" panose="020F0502020204030203" pitchFamily="34" charset="0"/>
                <a:cs typeface="Lato" panose="020F0502020204030203" pitchFamily="34" charset="0"/>
              </a:rPr>
              <a:t>Bộ</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dữ</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liệu</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môi</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trường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biển</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Quảng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Ninh</a:t>
            </a:r>
            <a:r>
              <a:rPr lang="en-US" b="1">
                <a:latin typeface="Lato" panose="020F0502020204030203" pitchFamily="34" charset="0"/>
                <a:ea typeface="Lato" panose="020F0502020204030203" pitchFamily="34" charset="0"/>
                <a:cs typeface="Lato" panose="020F0502020204030203" pitchFamily="34" charset="0"/>
              </a:rPr>
              <a:t> </a:t>
            </a:r>
            <a:endParaRPr lang="en-VN" b="1">
              <a:latin typeface="Lato" panose="020F0502020204030203" pitchFamily="34" charset="0"/>
              <a:ea typeface="Lato" panose="020F0502020204030203" pitchFamily="34" charset="0"/>
              <a:cs typeface="Lato" panose="020F0502020204030203" pitchFamily="34" charset="0"/>
            </a:endParaRPr>
          </a:p>
        </p:txBody>
      </p:sp>
      <p:sp>
        <p:nvSpPr>
          <p:cNvPr id="5" name="TextBox 4">
            <a:extLst>
              <a:ext uri="{FF2B5EF4-FFF2-40B4-BE49-F238E27FC236}">
                <a16:creationId xmlns:a16="http://schemas.microsoft.com/office/drawing/2014/main" id="{6895E45E-6444-D9CE-F576-6D66C5F94464}"/>
              </a:ext>
            </a:extLst>
          </p:cNvPr>
          <p:cNvSpPr txBox="1"/>
          <p:nvPr/>
        </p:nvSpPr>
        <p:spPr>
          <a:xfrm>
            <a:off x="235077" y="1461714"/>
            <a:ext cx="3723588" cy="3293209"/>
          </a:xfrm>
          <a:prstGeom prst="rect">
            <a:avLst/>
          </a:prstGeom>
          <a:noFill/>
        </p:spPr>
        <p:txBody>
          <a:bodyPr wrap="square" lIns="91440" tIns="45720" rIns="91440" bIns="45720" rtlCol="0" anchor="t">
            <a:spAutoFit/>
          </a:bodyPr>
          <a:lstStyle/>
          <a:p>
            <a:r>
              <a:rPr lang="vi-VN" sz="1600">
                <a:solidFill>
                  <a:srgbClr val="000000"/>
                </a:solidFill>
                <a:latin typeface="Arial"/>
                <a:ea typeface="+mn-lt"/>
                <a:cs typeface="Arial"/>
              </a:rPr>
              <a:t>Bộ dữ liệu Quảng Ninh </a:t>
            </a:r>
            <a:r>
              <a:rPr lang="vi-VN" sz="1600" err="1">
                <a:solidFill>
                  <a:srgbClr val="000000"/>
                </a:solidFill>
                <a:latin typeface="Arial"/>
                <a:ea typeface="+mn-lt"/>
                <a:cs typeface="Arial"/>
              </a:rPr>
              <a:t>Dataset</a:t>
            </a:r>
            <a:r>
              <a:rPr lang="vi-VN" sz="1600">
                <a:solidFill>
                  <a:srgbClr val="000000"/>
                </a:solidFill>
                <a:latin typeface="Arial"/>
                <a:ea typeface="+mn-lt"/>
                <a:cs typeface="Arial"/>
              </a:rPr>
              <a:t> là bộ dữ liệu phản ánh chất lượng nước biển tại các trạm quan trắc ven biển Quảng Ninh, được thu thập theo quý từ năm 2021 đến 2024. </a:t>
            </a:r>
            <a:endParaRPr lang="en-US">
              <a:solidFill>
                <a:srgbClr val="000000"/>
              </a:solidFill>
              <a:latin typeface="Arial"/>
              <a:ea typeface="Calibri" panose="020F0502020204030204"/>
              <a:cs typeface="Arial"/>
            </a:endParaRPr>
          </a:p>
          <a:p>
            <a:endParaRPr lang="vi-VN" sz="1600">
              <a:solidFill>
                <a:srgbClr val="000000"/>
              </a:solidFill>
              <a:latin typeface="Arial"/>
              <a:ea typeface="+mn-lt"/>
              <a:cs typeface="Arial"/>
            </a:endParaRPr>
          </a:p>
          <a:p>
            <a:r>
              <a:rPr lang="vi-VN" sz="1600">
                <a:solidFill>
                  <a:srgbClr val="000000"/>
                </a:solidFill>
                <a:latin typeface="Arial"/>
                <a:ea typeface="+mn-lt"/>
                <a:cs typeface="Arial"/>
              </a:rPr>
              <a:t>Dữ liệu bao gồm các thông số vật lý (nhiệt độ, độ mặn, </a:t>
            </a:r>
            <a:r>
              <a:rPr lang="vi-VN" sz="1600" err="1">
                <a:solidFill>
                  <a:srgbClr val="000000"/>
                </a:solidFill>
                <a:latin typeface="Arial"/>
                <a:ea typeface="+mn-lt"/>
                <a:cs typeface="Arial"/>
              </a:rPr>
              <a:t>pH</a:t>
            </a:r>
            <a:r>
              <a:rPr lang="vi-VN" sz="1600">
                <a:solidFill>
                  <a:srgbClr val="000000"/>
                </a:solidFill>
                <a:latin typeface="Arial"/>
                <a:ea typeface="+mn-lt"/>
                <a:cs typeface="Arial"/>
              </a:rPr>
              <a:t>, độ trong), hóa học (</a:t>
            </a:r>
            <a:r>
              <a:rPr lang="vi-VN" sz="1600" err="1">
                <a:solidFill>
                  <a:srgbClr val="000000"/>
                </a:solidFill>
                <a:latin typeface="Arial"/>
                <a:ea typeface="+mn-lt"/>
                <a:cs typeface="Arial"/>
              </a:rPr>
              <a:t>oxy</a:t>
            </a:r>
            <a:r>
              <a:rPr lang="vi-VN" sz="1600">
                <a:solidFill>
                  <a:srgbClr val="000000"/>
                </a:solidFill>
                <a:latin typeface="Arial"/>
                <a:ea typeface="+mn-lt"/>
                <a:cs typeface="Arial"/>
              </a:rPr>
              <a:t> hòa tan, </a:t>
            </a:r>
            <a:r>
              <a:rPr lang="vi-VN" sz="1600" err="1">
                <a:solidFill>
                  <a:srgbClr val="000000"/>
                </a:solidFill>
                <a:latin typeface="Arial"/>
                <a:ea typeface="+mn-lt"/>
                <a:cs typeface="Arial"/>
              </a:rPr>
              <a:t>amoni</a:t>
            </a:r>
            <a:r>
              <a:rPr lang="vi-VN" sz="1600">
                <a:solidFill>
                  <a:srgbClr val="000000"/>
                </a:solidFill>
                <a:latin typeface="Arial"/>
                <a:ea typeface="+mn-lt"/>
                <a:cs typeface="Arial"/>
              </a:rPr>
              <a:t>, </a:t>
            </a:r>
            <a:r>
              <a:rPr lang="vi-VN" sz="1600" err="1">
                <a:solidFill>
                  <a:srgbClr val="000000"/>
                </a:solidFill>
                <a:latin typeface="Arial"/>
                <a:ea typeface="+mn-lt"/>
                <a:cs typeface="Arial"/>
              </a:rPr>
              <a:t>phosphat</a:t>
            </a:r>
            <a:r>
              <a:rPr lang="vi-VN" sz="1600">
                <a:solidFill>
                  <a:srgbClr val="000000"/>
                </a:solidFill>
                <a:latin typeface="Arial"/>
                <a:ea typeface="+mn-lt"/>
                <a:cs typeface="Arial"/>
              </a:rPr>
              <a:t>, kim loại nặng như </a:t>
            </a:r>
            <a:r>
              <a:rPr lang="vi-VN" sz="1600" err="1">
                <a:solidFill>
                  <a:srgbClr val="000000"/>
                </a:solidFill>
                <a:latin typeface="Arial"/>
                <a:ea typeface="+mn-lt"/>
                <a:cs typeface="Arial"/>
              </a:rPr>
              <a:t>As</a:t>
            </a:r>
            <a:r>
              <a:rPr lang="vi-VN" sz="1600">
                <a:solidFill>
                  <a:srgbClr val="000000"/>
                </a:solidFill>
                <a:latin typeface="Arial"/>
                <a:ea typeface="+mn-lt"/>
                <a:cs typeface="Arial"/>
              </a:rPr>
              <a:t>, </a:t>
            </a:r>
            <a:r>
              <a:rPr lang="vi-VN" sz="1600" err="1">
                <a:solidFill>
                  <a:srgbClr val="000000"/>
                </a:solidFill>
                <a:latin typeface="Arial"/>
                <a:ea typeface="+mn-lt"/>
                <a:cs typeface="Arial"/>
              </a:rPr>
              <a:t>Cd</a:t>
            </a:r>
            <a:r>
              <a:rPr lang="vi-VN" sz="1600">
                <a:solidFill>
                  <a:srgbClr val="000000"/>
                </a:solidFill>
                <a:latin typeface="Arial"/>
                <a:ea typeface="+mn-lt"/>
                <a:cs typeface="Arial"/>
              </a:rPr>
              <a:t>, </a:t>
            </a:r>
            <a:r>
              <a:rPr lang="vi-VN" sz="1600" err="1">
                <a:solidFill>
                  <a:srgbClr val="000000"/>
                </a:solidFill>
                <a:latin typeface="Arial"/>
                <a:ea typeface="+mn-lt"/>
                <a:cs typeface="Arial"/>
              </a:rPr>
              <a:t>Pb</a:t>
            </a:r>
            <a:r>
              <a:rPr lang="vi-VN" sz="1600">
                <a:solidFill>
                  <a:srgbClr val="000000"/>
                </a:solidFill>
                <a:latin typeface="Arial"/>
                <a:ea typeface="+mn-lt"/>
                <a:cs typeface="Arial"/>
              </a:rPr>
              <a:t>, Cu, </a:t>
            </a:r>
            <a:r>
              <a:rPr lang="vi-VN" sz="1600" err="1">
                <a:solidFill>
                  <a:srgbClr val="000000"/>
                </a:solidFill>
                <a:latin typeface="Arial"/>
                <a:ea typeface="+mn-lt"/>
                <a:cs typeface="Arial"/>
              </a:rPr>
              <a:t>Hg</a:t>
            </a:r>
            <a:r>
              <a:rPr lang="vi-VN" sz="1600">
                <a:solidFill>
                  <a:srgbClr val="000000"/>
                </a:solidFill>
                <a:latin typeface="Arial"/>
                <a:ea typeface="+mn-lt"/>
                <a:cs typeface="Arial"/>
              </a:rPr>
              <a:t>, </a:t>
            </a:r>
            <a:r>
              <a:rPr lang="vi-VN" sz="1600" err="1">
                <a:solidFill>
                  <a:srgbClr val="000000"/>
                </a:solidFill>
                <a:latin typeface="Arial"/>
                <a:ea typeface="+mn-lt"/>
                <a:cs typeface="Arial"/>
              </a:rPr>
              <a:t>Zn</a:t>
            </a:r>
            <a:r>
              <a:rPr lang="vi-VN" sz="1600">
                <a:solidFill>
                  <a:srgbClr val="000000"/>
                </a:solidFill>
                <a:latin typeface="Arial"/>
                <a:ea typeface="+mn-lt"/>
                <a:cs typeface="Arial"/>
              </a:rPr>
              <a:t>, </a:t>
            </a:r>
            <a:r>
              <a:rPr lang="vi-VN" sz="1600" err="1">
                <a:solidFill>
                  <a:srgbClr val="000000"/>
                </a:solidFill>
                <a:latin typeface="Arial"/>
                <a:ea typeface="+mn-lt"/>
                <a:cs typeface="Arial"/>
              </a:rPr>
              <a:t>Cr</a:t>
            </a:r>
            <a:r>
              <a:rPr lang="vi-VN" sz="1600">
                <a:solidFill>
                  <a:srgbClr val="000000"/>
                </a:solidFill>
                <a:latin typeface="Arial"/>
                <a:ea typeface="+mn-lt"/>
                <a:cs typeface="Arial"/>
              </a:rPr>
              <a:t>) và sinh học (</a:t>
            </a:r>
            <a:r>
              <a:rPr lang="vi-VN" sz="1600" err="1">
                <a:solidFill>
                  <a:srgbClr val="000000"/>
                </a:solidFill>
                <a:latin typeface="Arial"/>
                <a:ea typeface="+mn-lt"/>
                <a:cs typeface="Arial"/>
              </a:rPr>
              <a:t>Coliform</a:t>
            </a:r>
            <a:r>
              <a:rPr lang="vi-VN" sz="1600">
                <a:solidFill>
                  <a:srgbClr val="000000"/>
                </a:solidFill>
                <a:latin typeface="Arial"/>
                <a:ea typeface="+mn-lt"/>
                <a:cs typeface="Arial"/>
              </a:rPr>
              <a:t>, TSS) tại nhiều vị trí quan trắc khác nhau (KHM/NB).</a:t>
            </a:r>
            <a:endParaRPr lang="en-US">
              <a:latin typeface="Arial"/>
              <a:ea typeface="Calibri"/>
              <a:cs typeface="Arial"/>
            </a:endParaRPr>
          </a:p>
        </p:txBody>
      </p:sp>
      <p:pic>
        <p:nvPicPr>
          <p:cNvPr id="6" name="Picture 5" descr="Hành trình khám phá bản đồ Móng Cái - Thành phố biển vùng biên | Xanh SM">
            <a:extLst>
              <a:ext uri="{FF2B5EF4-FFF2-40B4-BE49-F238E27FC236}">
                <a16:creationId xmlns:a16="http://schemas.microsoft.com/office/drawing/2014/main" id="{35C5B3B2-1415-B959-CEFA-F7E607FE780E}"/>
              </a:ext>
            </a:extLst>
          </p:cNvPr>
          <p:cNvPicPr>
            <a:picLocks noChangeAspect="1"/>
          </p:cNvPicPr>
          <p:nvPr/>
        </p:nvPicPr>
        <p:blipFill>
          <a:blip r:embed="rId3"/>
          <a:stretch>
            <a:fillRect/>
          </a:stretch>
        </p:blipFill>
        <p:spPr>
          <a:xfrm>
            <a:off x="3962400" y="1458593"/>
            <a:ext cx="4812721" cy="3351994"/>
          </a:xfrm>
          <a:prstGeom prst="rect">
            <a:avLst/>
          </a:prstGeom>
        </p:spPr>
      </p:pic>
    </p:spTree>
    <p:extLst>
      <p:ext uri="{BB962C8B-B14F-4D97-AF65-F5344CB8AC3E}">
        <p14:creationId xmlns:p14="http://schemas.microsoft.com/office/powerpoint/2010/main" val="10729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F1718-7E19-C273-69BA-C261B293FDE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D14F1B-ECEE-A035-27EE-8268A0504CAF}"/>
              </a:ext>
            </a:extLst>
          </p:cNvPr>
          <p:cNvSpPr>
            <a:spLocks noGrp="1"/>
          </p:cNvSpPr>
          <p:nvPr>
            <p:ph type="sldNum" sz="quarter" idx="12"/>
          </p:nvPr>
        </p:nvSpPr>
        <p:spPr/>
        <p:txBody>
          <a:bodyPr/>
          <a:lstStyle/>
          <a:p>
            <a:fld id="{9EA0BE3B-158A-4EDF-80DC-E394A0D1600F}" type="slidenum">
              <a:rPr lang="en-US" smtClean="0"/>
              <a:pPr/>
              <a:t>11</a:t>
            </a:fld>
            <a:endParaRPr lang="en-US"/>
          </a:p>
        </p:txBody>
      </p:sp>
      <p:sp>
        <p:nvSpPr>
          <p:cNvPr id="3" name="Title 2">
            <a:extLst>
              <a:ext uri="{FF2B5EF4-FFF2-40B4-BE49-F238E27FC236}">
                <a16:creationId xmlns:a16="http://schemas.microsoft.com/office/drawing/2014/main" id="{FDDC2145-9FED-2112-238F-98EF0D986710}"/>
              </a:ext>
            </a:extLst>
          </p:cNvPr>
          <p:cNvSpPr>
            <a:spLocks noGrp="1"/>
          </p:cNvSpPr>
          <p:nvPr>
            <p:ph type="title"/>
          </p:nvPr>
        </p:nvSpPr>
        <p:spPr/>
        <p:txBody>
          <a:bodyPr lIns="91440" tIns="45720" rIns="91440" bIns="45720" anchor="t"/>
          <a:lstStyle/>
          <a:p>
            <a:r>
              <a:rPr lang="en-US">
                <a:latin typeface="Lato"/>
                <a:ea typeface="Lato"/>
                <a:cs typeface="Lato"/>
              </a:rPr>
              <a:t>2. </a:t>
            </a:r>
            <a:r>
              <a:rPr lang="en-US" err="1">
                <a:latin typeface="Lato"/>
                <a:ea typeface="Lato"/>
                <a:cs typeface="Lato"/>
              </a:rPr>
              <a:t>Bộ</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r>
              <a:rPr lang="en-US">
                <a:latin typeface="Lato"/>
                <a:ea typeface="Lato"/>
                <a:cs typeface="Lato"/>
              </a:rPr>
              <a:t> </a:t>
            </a:r>
            <a:r>
              <a:rPr lang="en-US" err="1">
                <a:latin typeface="Lato"/>
                <a:ea typeface="Lato"/>
                <a:cs typeface="Lato"/>
              </a:rPr>
              <a:t>và</a:t>
            </a:r>
            <a:r>
              <a:rPr lang="en-US">
                <a:latin typeface="Lato"/>
                <a:ea typeface="Lato"/>
                <a:cs typeface="Lato"/>
              </a:rPr>
              <a:t> </a:t>
            </a:r>
            <a:r>
              <a:rPr lang="en-US" err="1">
                <a:latin typeface="Lato"/>
                <a:ea typeface="Lato"/>
                <a:cs typeface="Lato"/>
              </a:rPr>
              <a:t>tiền</a:t>
            </a:r>
            <a:r>
              <a:rPr lang="en-US">
                <a:latin typeface="Lato"/>
                <a:ea typeface="Lato"/>
                <a:cs typeface="Lato"/>
              </a:rPr>
              <a:t> </a:t>
            </a:r>
            <a:r>
              <a:rPr lang="en-US" err="1">
                <a:latin typeface="Lato"/>
                <a:ea typeface="Lato"/>
                <a:cs typeface="Lato"/>
              </a:rPr>
              <a:t>xử</a:t>
            </a:r>
            <a:r>
              <a:rPr lang="en-US">
                <a:latin typeface="Lato"/>
                <a:ea typeface="Lato"/>
                <a:cs typeface="Lato"/>
              </a:rPr>
              <a:t> </a:t>
            </a:r>
            <a:r>
              <a:rPr lang="en-US" err="1">
                <a:latin typeface="Lato"/>
                <a:ea typeface="Lato"/>
                <a:cs typeface="Lato"/>
              </a:rPr>
              <a:t>lý</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endParaRPr lang="en-US">
              <a:latin typeface="Lato"/>
            </a:endParaRPr>
          </a:p>
          <a:p>
            <a:endParaRPr lang="en-US">
              <a:latin typeface="Lato"/>
              <a:ea typeface="Lato"/>
              <a:cs typeface="Lato"/>
            </a:endParaRPr>
          </a:p>
        </p:txBody>
      </p:sp>
      <p:sp>
        <p:nvSpPr>
          <p:cNvPr id="10" name="TextBox 9">
            <a:extLst>
              <a:ext uri="{FF2B5EF4-FFF2-40B4-BE49-F238E27FC236}">
                <a16:creationId xmlns:a16="http://schemas.microsoft.com/office/drawing/2014/main" id="{6FB3EC6D-7591-B494-BEED-3727955C9E75}"/>
              </a:ext>
            </a:extLst>
          </p:cNvPr>
          <p:cNvSpPr txBox="1"/>
          <p:nvPr/>
        </p:nvSpPr>
        <p:spPr>
          <a:xfrm>
            <a:off x="235077" y="847285"/>
            <a:ext cx="4302781" cy="369332"/>
          </a:xfrm>
          <a:prstGeom prst="rect">
            <a:avLst/>
          </a:prstGeom>
          <a:noFill/>
        </p:spPr>
        <p:txBody>
          <a:bodyPr wrap="none" rtlCol="0">
            <a:spAutoFit/>
          </a:bodyPr>
          <a:lstStyle/>
          <a:p>
            <a:r>
              <a:rPr lang="en-US" b="1" err="1">
                <a:latin typeface="Lato" panose="020F0502020204030203" pitchFamily="34" charset="0"/>
                <a:ea typeface="Lato" panose="020F0502020204030203" pitchFamily="34" charset="0"/>
                <a:cs typeface="Lato" panose="020F0502020204030203" pitchFamily="34" charset="0"/>
              </a:rPr>
              <a:t>Bộ</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dữ</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liệu</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môi</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trường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biển</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Quảng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Ninh</a:t>
            </a:r>
            <a:r>
              <a:rPr lang="en-US" b="1">
                <a:latin typeface="Lato" panose="020F0502020204030203" pitchFamily="34" charset="0"/>
                <a:ea typeface="Lato" panose="020F0502020204030203" pitchFamily="34" charset="0"/>
                <a:cs typeface="Lato" panose="020F0502020204030203" pitchFamily="34" charset="0"/>
              </a:rPr>
              <a:t> </a:t>
            </a:r>
            <a:endParaRPr lang="en-VN" b="1">
              <a:latin typeface="Lato" panose="020F0502020204030203" pitchFamily="34" charset="0"/>
              <a:ea typeface="Lato" panose="020F0502020204030203" pitchFamily="34" charset="0"/>
              <a:cs typeface="Lato" panose="020F0502020204030203" pitchFamily="34" charset="0"/>
            </a:endParaRPr>
          </a:p>
        </p:txBody>
      </p:sp>
      <p:pic>
        <p:nvPicPr>
          <p:cNvPr id="7" name="Picture 6">
            <a:extLst>
              <a:ext uri="{FF2B5EF4-FFF2-40B4-BE49-F238E27FC236}">
                <a16:creationId xmlns:a16="http://schemas.microsoft.com/office/drawing/2014/main" id="{9401376A-DD5B-265F-CAF8-A519C60AA334}"/>
              </a:ext>
            </a:extLst>
          </p:cNvPr>
          <p:cNvPicPr>
            <a:picLocks noChangeAspect="1"/>
          </p:cNvPicPr>
          <p:nvPr/>
        </p:nvPicPr>
        <p:blipFill>
          <a:blip r:embed="rId3"/>
          <a:stretch>
            <a:fillRect/>
          </a:stretch>
        </p:blipFill>
        <p:spPr>
          <a:xfrm>
            <a:off x="585669" y="1216438"/>
            <a:ext cx="7897091" cy="4991900"/>
          </a:xfrm>
          <a:prstGeom prst="rect">
            <a:avLst/>
          </a:prstGeom>
        </p:spPr>
      </p:pic>
    </p:spTree>
    <p:extLst>
      <p:ext uri="{BB962C8B-B14F-4D97-AF65-F5344CB8AC3E}">
        <p14:creationId xmlns:p14="http://schemas.microsoft.com/office/powerpoint/2010/main" val="546121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494B7-F4A7-49B9-91FB-27EE501B6A7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6AFC80-CCCE-6FC8-22EC-34F8F6F4E7CA}"/>
              </a:ext>
            </a:extLst>
          </p:cNvPr>
          <p:cNvSpPr>
            <a:spLocks noGrp="1"/>
          </p:cNvSpPr>
          <p:nvPr>
            <p:ph type="sldNum" sz="quarter" idx="12"/>
          </p:nvPr>
        </p:nvSpPr>
        <p:spPr/>
        <p:txBody>
          <a:bodyPr/>
          <a:lstStyle/>
          <a:p>
            <a:fld id="{9EA0BE3B-158A-4EDF-80DC-E394A0D1600F}" type="slidenum">
              <a:rPr lang="en-US" smtClean="0"/>
              <a:pPr/>
              <a:t>12</a:t>
            </a:fld>
            <a:endParaRPr lang="en-US"/>
          </a:p>
        </p:txBody>
      </p:sp>
      <p:sp>
        <p:nvSpPr>
          <p:cNvPr id="3" name="Title 2">
            <a:extLst>
              <a:ext uri="{FF2B5EF4-FFF2-40B4-BE49-F238E27FC236}">
                <a16:creationId xmlns:a16="http://schemas.microsoft.com/office/drawing/2014/main" id="{86D111BC-7D37-A25F-092F-9DAA3A53802B}"/>
              </a:ext>
            </a:extLst>
          </p:cNvPr>
          <p:cNvSpPr>
            <a:spLocks noGrp="1"/>
          </p:cNvSpPr>
          <p:nvPr>
            <p:ph type="title"/>
          </p:nvPr>
        </p:nvSpPr>
        <p:spPr/>
        <p:txBody>
          <a:bodyPr lIns="91440" tIns="45720" rIns="91440" bIns="45720" anchor="t"/>
          <a:lstStyle/>
          <a:p>
            <a:r>
              <a:rPr lang="en-US">
                <a:latin typeface="Lato"/>
                <a:ea typeface="Lato"/>
                <a:cs typeface="Lato"/>
              </a:rPr>
              <a:t>2. </a:t>
            </a:r>
            <a:r>
              <a:rPr lang="en-US" err="1">
                <a:latin typeface="Lato"/>
                <a:ea typeface="Lato"/>
                <a:cs typeface="Lato"/>
              </a:rPr>
              <a:t>Bộ</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r>
              <a:rPr lang="en-US">
                <a:latin typeface="Lato"/>
                <a:ea typeface="Lato"/>
                <a:cs typeface="Lato"/>
              </a:rPr>
              <a:t> </a:t>
            </a:r>
            <a:r>
              <a:rPr lang="en-US" err="1">
                <a:latin typeface="Lato"/>
                <a:ea typeface="Lato"/>
                <a:cs typeface="Lato"/>
              </a:rPr>
              <a:t>và</a:t>
            </a:r>
            <a:r>
              <a:rPr lang="en-US">
                <a:latin typeface="Lato"/>
                <a:ea typeface="Lato"/>
                <a:cs typeface="Lato"/>
              </a:rPr>
              <a:t> </a:t>
            </a:r>
            <a:r>
              <a:rPr lang="en-US" err="1">
                <a:latin typeface="Lato"/>
                <a:ea typeface="Lato"/>
                <a:cs typeface="Lato"/>
              </a:rPr>
              <a:t>tiền</a:t>
            </a:r>
            <a:r>
              <a:rPr lang="en-US">
                <a:latin typeface="Lato"/>
                <a:ea typeface="Lato"/>
                <a:cs typeface="Lato"/>
              </a:rPr>
              <a:t> </a:t>
            </a:r>
            <a:r>
              <a:rPr lang="en-US" err="1">
                <a:latin typeface="Lato"/>
                <a:ea typeface="Lato"/>
                <a:cs typeface="Lato"/>
              </a:rPr>
              <a:t>xử</a:t>
            </a:r>
            <a:r>
              <a:rPr lang="en-US">
                <a:latin typeface="Lato"/>
                <a:ea typeface="Lato"/>
                <a:cs typeface="Lato"/>
              </a:rPr>
              <a:t> </a:t>
            </a:r>
            <a:r>
              <a:rPr lang="en-US" err="1">
                <a:latin typeface="Lato"/>
                <a:ea typeface="Lato"/>
                <a:cs typeface="Lato"/>
              </a:rPr>
              <a:t>lý</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endParaRPr lang="en-US">
              <a:latin typeface="Lato"/>
            </a:endParaRPr>
          </a:p>
          <a:p>
            <a:endParaRPr lang="en-US">
              <a:latin typeface="Lato"/>
              <a:ea typeface="Lato"/>
              <a:cs typeface="Lato"/>
            </a:endParaRPr>
          </a:p>
        </p:txBody>
      </p:sp>
      <p:sp>
        <p:nvSpPr>
          <p:cNvPr id="10" name="TextBox 9">
            <a:extLst>
              <a:ext uri="{FF2B5EF4-FFF2-40B4-BE49-F238E27FC236}">
                <a16:creationId xmlns:a16="http://schemas.microsoft.com/office/drawing/2014/main" id="{E33EE066-D250-CB4E-0FB3-7A2B04347706}"/>
              </a:ext>
            </a:extLst>
          </p:cNvPr>
          <p:cNvSpPr txBox="1"/>
          <p:nvPr/>
        </p:nvSpPr>
        <p:spPr>
          <a:xfrm>
            <a:off x="235077" y="847285"/>
            <a:ext cx="4302781" cy="369332"/>
          </a:xfrm>
          <a:prstGeom prst="rect">
            <a:avLst/>
          </a:prstGeom>
          <a:noFill/>
        </p:spPr>
        <p:txBody>
          <a:bodyPr wrap="none" rtlCol="0">
            <a:spAutoFit/>
          </a:bodyPr>
          <a:lstStyle/>
          <a:p>
            <a:r>
              <a:rPr lang="en-US" b="1" err="1">
                <a:latin typeface="Lato" panose="020F0502020204030203" pitchFamily="34" charset="0"/>
                <a:ea typeface="Lato" panose="020F0502020204030203" pitchFamily="34" charset="0"/>
                <a:cs typeface="Lato" panose="020F0502020204030203" pitchFamily="34" charset="0"/>
              </a:rPr>
              <a:t>Bộ</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dữ</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liệu</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môi</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trường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biển</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Quảng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Ninh</a:t>
            </a:r>
            <a:r>
              <a:rPr lang="en-US" b="1">
                <a:latin typeface="Lato" panose="020F0502020204030203" pitchFamily="34" charset="0"/>
                <a:ea typeface="Lato" panose="020F0502020204030203" pitchFamily="34" charset="0"/>
                <a:cs typeface="Lato" panose="020F0502020204030203" pitchFamily="34" charset="0"/>
              </a:rPr>
              <a:t> </a:t>
            </a:r>
            <a:endParaRPr lang="en-VN" b="1">
              <a:latin typeface="Lato" panose="020F0502020204030203" pitchFamily="34" charset="0"/>
              <a:ea typeface="Lato" panose="020F0502020204030203" pitchFamily="34" charset="0"/>
              <a:cs typeface="Lato" panose="020F0502020204030203" pitchFamily="34" charset="0"/>
            </a:endParaRPr>
          </a:p>
        </p:txBody>
      </p:sp>
      <p:pic>
        <p:nvPicPr>
          <p:cNvPr id="5" name="Picture 4">
            <a:extLst>
              <a:ext uri="{FF2B5EF4-FFF2-40B4-BE49-F238E27FC236}">
                <a16:creationId xmlns:a16="http://schemas.microsoft.com/office/drawing/2014/main" id="{B06054C7-C440-9FB9-42C5-D58F7E5C30A4}"/>
              </a:ext>
            </a:extLst>
          </p:cNvPr>
          <p:cNvPicPr>
            <a:picLocks noChangeAspect="1"/>
          </p:cNvPicPr>
          <p:nvPr/>
        </p:nvPicPr>
        <p:blipFill>
          <a:blip r:embed="rId3"/>
          <a:stretch>
            <a:fillRect/>
          </a:stretch>
        </p:blipFill>
        <p:spPr>
          <a:xfrm>
            <a:off x="502227" y="1221344"/>
            <a:ext cx="8044296" cy="5021446"/>
          </a:xfrm>
          <a:prstGeom prst="rect">
            <a:avLst/>
          </a:prstGeom>
        </p:spPr>
      </p:pic>
    </p:spTree>
    <p:extLst>
      <p:ext uri="{BB962C8B-B14F-4D97-AF65-F5344CB8AC3E}">
        <p14:creationId xmlns:p14="http://schemas.microsoft.com/office/powerpoint/2010/main" val="2081939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4940A-733B-5ABC-944E-180BB11CFC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A51EE4-7289-9570-6A4D-59FB08AF837D}"/>
              </a:ext>
            </a:extLst>
          </p:cNvPr>
          <p:cNvSpPr>
            <a:spLocks noGrp="1"/>
          </p:cNvSpPr>
          <p:nvPr>
            <p:ph type="sldNum" sz="quarter" idx="12"/>
          </p:nvPr>
        </p:nvSpPr>
        <p:spPr/>
        <p:txBody>
          <a:bodyPr/>
          <a:lstStyle/>
          <a:p>
            <a:fld id="{9EA0BE3B-158A-4EDF-80DC-E394A0D1600F}" type="slidenum">
              <a:rPr lang="en-US" smtClean="0"/>
              <a:pPr/>
              <a:t>13</a:t>
            </a:fld>
            <a:endParaRPr lang="en-US"/>
          </a:p>
        </p:txBody>
      </p:sp>
      <p:sp>
        <p:nvSpPr>
          <p:cNvPr id="3" name="Title 2">
            <a:extLst>
              <a:ext uri="{FF2B5EF4-FFF2-40B4-BE49-F238E27FC236}">
                <a16:creationId xmlns:a16="http://schemas.microsoft.com/office/drawing/2014/main" id="{55E0ACE0-6127-FDEE-7F51-12664EAADDF7}"/>
              </a:ext>
            </a:extLst>
          </p:cNvPr>
          <p:cNvSpPr>
            <a:spLocks noGrp="1"/>
          </p:cNvSpPr>
          <p:nvPr>
            <p:ph type="title"/>
          </p:nvPr>
        </p:nvSpPr>
        <p:spPr/>
        <p:txBody>
          <a:bodyPr lIns="91440" tIns="45720" rIns="91440" bIns="45720" anchor="t"/>
          <a:lstStyle/>
          <a:p>
            <a:r>
              <a:rPr lang="en-US">
                <a:latin typeface="Lato"/>
                <a:ea typeface="Lato"/>
                <a:cs typeface="Lato"/>
              </a:rPr>
              <a:t>2. </a:t>
            </a:r>
            <a:r>
              <a:rPr lang="en-US" err="1">
                <a:latin typeface="Lato"/>
                <a:ea typeface="Lato"/>
                <a:cs typeface="Lato"/>
              </a:rPr>
              <a:t>Bộ</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r>
              <a:rPr lang="en-US">
                <a:latin typeface="Lato"/>
                <a:ea typeface="Lato"/>
                <a:cs typeface="Lato"/>
              </a:rPr>
              <a:t> </a:t>
            </a:r>
            <a:r>
              <a:rPr lang="en-US" err="1">
                <a:latin typeface="Lato"/>
                <a:ea typeface="Lato"/>
                <a:cs typeface="Lato"/>
              </a:rPr>
              <a:t>và</a:t>
            </a:r>
            <a:r>
              <a:rPr lang="en-US">
                <a:latin typeface="Lato"/>
                <a:ea typeface="Lato"/>
                <a:cs typeface="Lato"/>
              </a:rPr>
              <a:t> </a:t>
            </a:r>
            <a:r>
              <a:rPr lang="en-US" err="1">
                <a:latin typeface="Lato"/>
                <a:ea typeface="Lato"/>
                <a:cs typeface="Lato"/>
              </a:rPr>
              <a:t>tiền</a:t>
            </a:r>
            <a:r>
              <a:rPr lang="en-US">
                <a:latin typeface="Lato"/>
                <a:ea typeface="Lato"/>
                <a:cs typeface="Lato"/>
              </a:rPr>
              <a:t> </a:t>
            </a:r>
            <a:r>
              <a:rPr lang="en-US" err="1">
                <a:latin typeface="Lato"/>
                <a:ea typeface="Lato"/>
                <a:cs typeface="Lato"/>
              </a:rPr>
              <a:t>xử</a:t>
            </a:r>
            <a:r>
              <a:rPr lang="en-US">
                <a:latin typeface="Lato"/>
                <a:ea typeface="Lato"/>
                <a:cs typeface="Lato"/>
              </a:rPr>
              <a:t> </a:t>
            </a:r>
            <a:r>
              <a:rPr lang="en-US" err="1">
                <a:latin typeface="Lato"/>
                <a:ea typeface="Lato"/>
                <a:cs typeface="Lato"/>
              </a:rPr>
              <a:t>lý</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endParaRPr lang="en-US">
              <a:latin typeface="Lato"/>
            </a:endParaRPr>
          </a:p>
          <a:p>
            <a:endParaRPr lang="en-US">
              <a:latin typeface="Lato"/>
              <a:ea typeface="Lato"/>
              <a:cs typeface="Lato"/>
            </a:endParaRPr>
          </a:p>
        </p:txBody>
      </p:sp>
      <p:sp>
        <p:nvSpPr>
          <p:cNvPr id="10" name="TextBox 9">
            <a:extLst>
              <a:ext uri="{FF2B5EF4-FFF2-40B4-BE49-F238E27FC236}">
                <a16:creationId xmlns:a16="http://schemas.microsoft.com/office/drawing/2014/main" id="{8F2D7E2E-CA5A-3755-8EB9-85D1F0BE6F7F}"/>
              </a:ext>
            </a:extLst>
          </p:cNvPr>
          <p:cNvSpPr txBox="1"/>
          <p:nvPr/>
        </p:nvSpPr>
        <p:spPr>
          <a:xfrm>
            <a:off x="235077" y="847285"/>
            <a:ext cx="4302781" cy="369332"/>
          </a:xfrm>
          <a:prstGeom prst="rect">
            <a:avLst/>
          </a:prstGeom>
          <a:noFill/>
        </p:spPr>
        <p:txBody>
          <a:bodyPr wrap="none" rtlCol="0">
            <a:spAutoFit/>
          </a:bodyPr>
          <a:lstStyle/>
          <a:p>
            <a:r>
              <a:rPr lang="en-US" b="1" err="1">
                <a:latin typeface="Lato" panose="020F0502020204030203" pitchFamily="34" charset="0"/>
                <a:ea typeface="Lato" panose="020F0502020204030203" pitchFamily="34" charset="0"/>
                <a:cs typeface="Lato" panose="020F0502020204030203" pitchFamily="34" charset="0"/>
              </a:rPr>
              <a:t>Bộ</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dữ</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liệu</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môi</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trường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biển</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Quảng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Ninh</a:t>
            </a:r>
            <a:r>
              <a:rPr lang="en-US" b="1">
                <a:latin typeface="Lato" panose="020F0502020204030203" pitchFamily="34" charset="0"/>
                <a:ea typeface="Lato" panose="020F0502020204030203" pitchFamily="34" charset="0"/>
                <a:cs typeface="Lato" panose="020F0502020204030203" pitchFamily="34" charset="0"/>
              </a:rPr>
              <a:t> </a:t>
            </a:r>
            <a:endParaRPr lang="en-VN" b="1">
              <a:latin typeface="Lato" panose="020F0502020204030203" pitchFamily="34" charset="0"/>
              <a:ea typeface="Lato" panose="020F0502020204030203" pitchFamily="34" charset="0"/>
              <a:cs typeface="Lato" panose="020F0502020204030203" pitchFamily="34" charset="0"/>
            </a:endParaRPr>
          </a:p>
        </p:txBody>
      </p:sp>
      <p:pic>
        <p:nvPicPr>
          <p:cNvPr id="4" name="Picture 3">
            <a:extLst>
              <a:ext uri="{FF2B5EF4-FFF2-40B4-BE49-F238E27FC236}">
                <a16:creationId xmlns:a16="http://schemas.microsoft.com/office/drawing/2014/main" id="{91448F94-418C-36D7-437A-B6B4C3C720CB}"/>
              </a:ext>
            </a:extLst>
          </p:cNvPr>
          <p:cNvPicPr>
            <a:picLocks noChangeAspect="1"/>
          </p:cNvPicPr>
          <p:nvPr/>
        </p:nvPicPr>
        <p:blipFill>
          <a:blip r:embed="rId3"/>
          <a:stretch>
            <a:fillRect/>
          </a:stretch>
        </p:blipFill>
        <p:spPr>
          <a:xfrm>
            <a:off x="1847673" y="1220930"/>
            <a:ext cx="5422679" cy="5013615"/>
          </a:xfrm>
          <a:prstGeom prst="rect">
            <a:avLst/>
          </a:prstGeom>
        </p:spPr>
      </p:pic>
    </p:spTree>
    <p:extLst>
      <p:ext uri="{BB962C8B-B14F-4D97-AF65-F5344CB8AC3E}">
        <p14:creationId xmlns:p14="http://schemas.microsoft.com/office/powerpoint/2010/main" val="1951710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876E9-347F-8B42-80B9-4CC45C8CFB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A63CEF-7955-B90B-A570-D6D071F86206}"/>
              </a:ext>
            </a:extLst>
          </p:cNvPr>
          <p:cNvSpPr>
            <a:spLocks noGrp="1"/>
          </p:cNvSpPr>
          <p:nvPr>
            <p:ph type="sldNum" sz="quarter" idx="12"/>
          </p:nvPr>
        </p:nvSpPr>
        <p:spPr/>
        <p:txBody>
          <a:bodyPr/>
          <a:lstStyle/>
          <a:p>
            <a:fld id="{9EA0BE3B-158A-4EDF-80DC-E394A0D1600F}" type="slidenum">
              <a:rPr lang="en-US" smtClean="0"/>
              <a:pPr/>
              <a:t>14</a:t>
            </a:fld>
            <a:endParaRPr lang="en-US"/>
          </a:p>
        </p:txBody>
      </p:sp>
      <p:sp>
        <p:nvSpPr>
          <p:cNvPr id="3" name="Title 2">
            <a:extLst>
              <a:ext uri="{FF2B5EF4-FFF2-40B4-BE49-F238E27FC236}">
                <a16:creationId xmlns:a16="http://schemas.microsoft.com/office/drawing/2014/main" id="{89111D91-CEEE-BA9B-DBF9-33B4148694D3}"/>
              </a:ext>
            </a:extLst>
          </p:cNvPr>
          <p:cNvSpPr>
            <a:spLocks noGrp="1"/>
          </p:cNvSpPr>
          <p:nvPr>
            <p:ph type="title"/>
          </p:nvPr>
        </p:nvSpPr>
        <p:spPr/>
        <p:txBody>
          <a:bodyPr lIns="91440" tIns="45720" rIns="91440" bIns="45720" anchor="t"/>
          <a:lstStyle/>
          <a:p>
            <a:r>
              <a:rPr lang="en-US">
                <a:latin typeface="Lato"/>
                <a:ea typeface="Lato"/>
                <a:cs typeface="Lato"/>
              </a:rPr>
              <a:t>2. </a:t>
            </a:r>
            <a:r>
              <a:rPr lang="en-US" err="1">
                <a:latin typeface="Lato"/>
                <a:ea typeface="Lato"/>
                <a:cs typeface="Lato"/>
              </a:rPr>
              <a:t>Bộ</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r>
              <a:rPr lang="en-US">
                <a:latin typeface="Lato"/>
                <a:ea typeface="Lato"/>
                <a:cs typeface="Lato"/>
              </a:rPr>
              <a:t> </a:t>
            </a:r>
            <a:r>
              <a:rPr lang="en-US" err="1">
                <a:latin typeface="Lato"/>
                <a:ea typeface="Lato"/>
                <a:cs typeface="Lato"/>
              </a:rPr>
              <a:t>và</a:t>
            </a:r>
            <a:r>
              <a:rPr lang="en-US">
                <a:latin typeface="Lato"/>
                <a:ea typeface="Lato"/>
                <a:cs typeface="Lato"/>
              </a:rPr>
              <a:t> </a:t>
            </a:r>
            <a:r>
              <a:rPr lang="en-US" err="1">
                <a:latin typeface="Lato"/>
                <a:ea typeface="Lato"/>
                <a:cs typeface="Lato"/>
              </a:rPr>
              <a:t>tiền</a:t>
            </a:r>
            <a:r>
              <a:rPr lang="en-US">
                <a:latin typeface="Lato"/>
                <a:ea typeface="Lato"/>
                <a:cs typeface="Lato"/>
              </a:rPr>
              <a:t> </a:t>
            </a:r>
            <a:r>
              <a:rPr lang="en-US" err="1">
                <a:latin typeface="Lato"/>
                <a:ea typeface="Lato"/>
                <a:cs typeface="Lato"/>
              </a:rPr>
              <a:t>xử</a:t>
            </a:r>
            <a:r>
              <a:rPr lang="en-US">
                <a:latin typeface="Lato"/>
                <a:ea typeface="Lato"/>
                <a:cs typeface="Lato"/>
              </a:rPr>
              <a:t> </a:t>
            </a:r>
            <a:r>
              <a:rPr lang="en-US" err="1">
                <a:latin typeface="Lato"/>
                <a:ea typeface="Lato"/>
                <a:cs typeface="Lato"/>
              </a:rPr>
              <a:t>lý</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endParaRPr lang="en-US">
              <a:latin typeface="Lato"/>
            </a:endParaRPr>
          </a:p>
          <a:p>
            <a:endParaRPr lang="en-US">
              <a:latin typeface="Lato"/>
              <a:ea typeface="Lato"/>
              <a:cs typeface="Lato"/>
            </a:endParaRPr>
          </a:p>
        </p:txBody>
      </p:sp>
      <p:sp>
        <p:nvSpPr>
          <p:cNvPr id="10" name="TextBox 9">
            <a:extLst>
              <a:ext uri="{FF2B5EF4-FFF2-40B4-BE49-F238E27FC236}">
                <a16:creationId xmlns:a16="http://schemas.microsoft.com/office/drawing/2014/main" id="{A16EB44B-23E7-1F13-E366-54584C8B61C7}"/>
              </a:ext>
            </a:extLst>
          </p:cNvPr>
          <p:cNvSpPr txBox="1"/>
          <p:nvPr/>
        </p:nvSpPr>
        <p:spPr>
          <a:xfrm>
            <a:off x="235077" y="847285"/>
            <a:ext cx="4302781" cy="369332"/>
          </a:xfrm>
          <a:prstGeom prst="rect">
            <a:avLst/>
          </a:prstGeom>
          <a:noFill/>
        </p:spPr>
        <p:txBody>
          <a:bodyPr wrap="none" rtlCol="0">
            <a:spAutoFit/>
          </a:bodyPr>
          <a:lstStyle/>
          <a:p>
            <a:r>
              <a:rPr lang="en-US" b="1" err="1">
                <a:latin typeface="Lato" panose="020F0502020204030203" pitchFamily="34" charset="0"/>
                <a:ea typeface="Lato" panose="020F0502020204030203" pitchFamily="34" charset="0"/>
                <a:cs typeface="Lato" panose="020F0502020204030203" pitchFamily="34" charset="0"/>
              </a:rPr>
              <a:t>Bộ</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dữ</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liệu</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môi</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trường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biển</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Quảng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Ninh</a:t>
            </a:r>
            <a:r>
              <a:rPr lang="en-US" b="1">
                <a:latin typeface="Lato" panose="020F0502020204030203" pitchFamily="34" charset="0"/>
                <a:ea typeface="Lato" panose="020F0502020204030203" pitchFamily="34" charset="0"/>
                <a:cs typeface="Lato" panose="020F0502020204030203" pitchFamily="34" charset="0"/>
              </a:rPr>
              <a:t> </a:t>
            </a:r>
            <a:endParaRPr lang="en-VN" b="1">
              <a:latin typeface="Lato" panose="020F0502020204030203" pitchFamily="34" charset="0"/>
              <a:ea typeface="Lato" panose="020F0502020204030203" pitchFamily="34" charset="0"/>
              <a:cs typeface="Lato" panose="020F0502020204030203" pitchFamily="34" charset="0"/>
            </a:endParaRPr>
          </a:p>
        </p:txBody>
      </p:sp>
      <p:sp>
        <p:nvSpPr>
          <p:cNvPr id="5" name="TextBox 4">
            <a:extLst>
              <a:ext uri="{FF2B5EF4-FFF2-40B4-BE49-F238E27FC236}">
                <a16:creationId xmlns:a16="http://schemas.microsoft.com/office/drawing/2014/main" id="{7579BDBD-8AD3-6FBE-A608-FE39D79474DE}"/>
              </a:ext>
            </a:extLst>
          </p:cNvPr>
          <p:cNvSpPr txBox="1"/>
          <p:nvPr/>
        </p:nvSpPr>
        <p:spPr>
          <a:xfrm>
            <a:off x="235077" y="1357805"/>
            <a:ext cx="8676588" cy="5047536"/>
          </a:xfrm>
          <a:prstGeom prst="rect">
            <a:avLst/>
          </a:prstGeom>
          <a:noFill/>
        </p:spPr>
        <p:txBody>
          <a:bodyPr wrap="square" lIns="91440" tIns="45720" rIns="91440" bIns="45720" rtlCol="0" anchor="t">
            <a:spAutoFit/>
          </a:bodyPr>
          <a:lstStyle/>
          <a:p>
            <a:r>
              <a:rPr lang="vi-VN" sz="1600">
                <a:solidFill>
                  <a:srgbClr val="000000"/>
                </a:solidFill>
                <a:latin typeface="Arial"/>
                <a:ea typeface="+mn-lt"/>
                <a:cs typeface="Arial"/>
              </a:rPr>
              <a:t>Tiền xử lý qua các bước:</a:t>
            </a:r>
            <a:endParaRPr lang="en-US">
              <a:latin typeface="Arial"/>
              <a:cs typeface="Arial"/>
            </a:endParaRPr>
          </a:p>
          <a:p>
            <a:endParaRPr lang="vi-VN" sz="1600">
              <a:latin typeface="Arial"/>
              <a:ea typeface="+mn-lt"/>
              <a:cs typeface="Arial"/>
            </a:endParaRPr>
          </a:p>
          <a:p>
            <a:pPr marL="285750" indent="-285750">
              <a:buFont typeface="Arial"/>
              <a:buChar char="•"/>
            </a:pPr>
            <a:r>
              <a:rPr lang="vi-VN" sz="1600" b="1">
                <a:latin typeface="Arial"/>
                <a:ea typeface="+mn-lt"/>
                <a:cs typeface="Arial"/>
              </a:rPr>
              <a:t>Gộp và sắp xếp:</a:t>
            </a:r>
            <a:r>
              <a:rPr lang="vi-VN" sz="1600">
                <a:latin typeface="Arial"/>
                <a:ea typeface="+mn-lt"/>
                <a:cs typeface="Arial"/>
              </a:rPr>
              <a:t> Gộp dữ liệu từ các </a:t>
            </a:r>
            <a:r>
              <a:rPr lang="vi-VN" sz="1600" err="1">
                <a:latin typeface="Arial"/>
                <a:ea typeface="+mn-lt"/>
                <a:cs typeface="Arial"/>
              </a:rPr>
              <a:t>sheet</a:t>
            </a:r>
            <a:r>
              <a:rPr lang="vi-VN" sz="1600">
                <a:latin typeface="Arial"/>
                <a:ea typeface="+mn-lt"/>
                <a:cs typeface="Arial"/>
              </a:rPr>
              <a:t> theo năm (2021-2024) thành một bộ dữ liệu thống nhất, sắp xếp theo trạm quan trắc, năm và quý để đảm bảo tính nhất quán về thời gian và không gian.</a:t>
            </a:r>
            <a:endParaRPr lang="vi-VN" sz="1600">
              <a:latin typeface="Arial"/>
              <a:cs typeface="Arial"/>
            </a:endParaRPr>
          </a:p>
          <a:p>
            <a:pPr marL="285750" indent="-285750">
              <a:buFont typeface="Arial"/>
              <a:buChar char="•"/>
            </a:pPr>
            <a:endParaRPr lang="vi-VN" sz="1600">
              <a:latin typeface="Arial"/>
              <a:ea typeface="+mn-lt"/>
              <a:cs typeface="Arial"/>
            </a:endParaRPr>
          </a:p>
          <a:p>
            <a:pPr marL="285750" indent="-285750">
              <a:buFont typeface="Arial"/>
              <a:buChar char="•"/>
            </a:pPr>
            <a:r>
              <a:rPr lang="vi-VN" sz="1600" b="1">
                <a:latin typeface="Arial"/>
                <a:ea typeface="+mn-lt"/>
                <a:cs typeface="Arial"/>
              </a:rPr>
              <a:t>Xử lý giá trị </a:t>
            </a:r>
            <a:r>
              <a:rPr lang="vi-VN" sz="1600" b="1" err="1">
                <a:latin typeface="Arial"/>
                <a:ea typeface="+mn-lt"/>
                <a:cs typeface="Arial"/>
              </a:rPr>
              <a:t>left-censored</a:t>
            </a:r>
            <a:r>
              <a:rPr lang="vi-VN" sz="1600" b="1">
                <a:latin typeface="Arial"/>
                <a:ea typeface="+mn-lt"/>
                <a:cs typeface="Arial"/>
              </a:rPr>
              <a:t>:</a:t>
            </a:r>
            <a:r>
              <a:rPr lang="vi-VN" sz="1600">
                <a:latin typeface="Arial"/>
                <a:ea typeface="+mn-lt"/>
                <a:cs typeface="Arial"/>
              </a:rPr>
              <a:t> Xử lý các bản ghi chứa giá trị dưới ngưỡng phát hiện (dạng &lt;LOD, </a:t>
            </a:r>
            <a:r>
              <a:rPr lang="vi-VN" sz="1600" err="1">
                <a:latin typeface="Arial"/>
                <a:ea typeface="+mn-lt"/>
                <a:cs typeface="Arial"/>
              </a:rPr>
              <a:t>v.d</a:t>
            </a:r>
            <a:r>
              <a:rPr lang="vi-VN" sz="1600">
                <a:latin typeface="Arial"/>
                <a:ea typeface="+mn-lt"/>
                <a:cs typeface="Arial"/>
              </a:rPr>
              <a:t> &lt;0.01) bằng phương pháp </a:t>
            </a:r>
            <a:r>
              <a:rPr lang="vi-VN" sz="1600" b="1" err="1">
                <a:latin typeface="Arial"/>
                <a:ea typeface="+mn-lt"/>
                <a:cs typeface="Arial"/>
              </a:rPr>
              <a:t>half-detection</a:t>
            </a:r>
            <a:r>
              <a:rPr lang="vi-VN" sz="1600" b="1">
                <a:latin typeface="Arial"/>
                <a:ea typeface="+mn-lt"/>
                <a:cs typeface="Arial"/>
              </a:rPr>
              <a:t> </a:t>
            </a:r>
            <a:r>
              <a:rPr lang="vi-VN" sz="1600" b="1" err="1">
                <a:latin typeface="Arial"/>
                <a:ea typeface="+mn-lt"/>
                <a:cs typeface="Arial"/>
              </a:rPr>
              <a:t>limit</a:t>
            </a:r>
            <a:r>
              <a:rPr lang="vi-VN" sz="1600">
                <a:latin typeface="Arial"/>
                <a:ea typeface="+mn-lt"/>
                <a:cs typeface="Arial"/>
              </a:rPr>
              <a:t>, tức thay thế bằng một nửa giá trị ngưỡng (ví dụ &lt;0.01 → 0.005) để phục vụ phân tích định lượng.</a:t>
            </a:r>
            <a:endParaRPr lang="vi-VN" sz="1600">
              <a:latin typeface="Arial"/>
              <a:ea typeface="Calibri"/>
              <a:cs typeface="Arial"/>
            </a:endParaRPr>
          </a:p>
          <a:p>
            <a:pPr marL="285750" indent="-285750">
              <a:buFont typeface="Arial"/>
              <a:buChar char="•"/>
            </a:pPr>
            <a:endParaRPr lang="vi-VN" sz="1600">
              <a:latin typeface="Arial"/>
              <a:ea typeface="+mn-lt"/>
              <a:cs typeface="Arial"/>
            </a:endParaRPr>
          </a:p>
          <a:p>
            <a:pPr marL="285750" indent="-285750">
              <a:buFont typeface="Arial"/>
              <a:buChar char="•"/>
            </a:pPr>
            <a:r>
              <a:rPr lang="vi-VN" sz="1600" b="1">
                <a:latin typeface="Arial"/>
                <a:ea typeface="+mn-lt"/>
                <a:cs typeface="Arial"/>
              </a:rPr>
              <a:t>Chuẩn hóa dữ liệu:</a:t>
            </a:r>
            <a:endParaRPr lang="vi-VN" b="1">
              <a:latin typeface="Arial"/>
              <a:ea typeface="+mn-lt"/>
              <a:cs typeface="Arial"/>
            </a:endParaRPr>
          </a:p>
          <a:p>
            <a:pPr marL="742950" lvl="1" indent="-285750">
              <a:buFont typeface="Arial"/>
              <a:buChar char="•"/>
            </a:pPr>
            <a:r>
              <a:rPr lang="vi-VN" sz="1600">
                <a:latin typeface="Arial"/>
                <a:ea typeface="+mn-lt"/>
                <a:cs typeface="Arial"/>
              </a:rPr>
              <a:t>Đổi tên các cột sang dạng chuẩn tiếng Anh (</a:t>
            </a:r>
            <a:r>
              <a:rPr lang="vi-VN" sz="1600" err="1">
                <a:latin typeface="Arial"/>
                <a:ea typeface="+mn-lt"/>
                <a:cs typeface="Arial"/>
              </a:rPr>
              <a:t>v.d</a:t>
            </a:r>
            <a:r>
              <a:rPr lang="vi-VN" sz="1600">
                <a:latin typeface="Arial"/>
                <a:ea typeface="+mn-lt"/>
                <a:cs typeface="Arial"/>
              </a:rPr>
              <a:t>: "KHM" → "</a:t>
            </a:r>
            <a:r>
              <a:rPr lang="vi-VN" sz="1600" err="1">
                <a:latin typeface="Arial"/>
                <a:ea typeface="+mn-lt"/>
                <a:cs typeface="Arial"/>
              </a:rPr>
              <a:t>Station</a:t>
            </a:r>
            <a:r>
              <a:rPr lang="vi-VN" sz="1600">
                <a:latin typeface="Arial"/>
                <a:ea typeface="+mn-lt"/>
                <a:cs typeface="Arial"/>
              </a:rPr>
              <a:t>", "Quý" → "</a:t>
            </a:r>
            <a:r>
              <a:rPr lang="vi-VN" sz="1600" err="1">
                <a:latin typeface="Arial"/>
                <a:ea typeface="+mn-lt"/>
                <a:cs typeface="Arial"/>
              </a:rPr>
              <a:t>Quarter</a:t>
            </a:r>
            <a:r>
              <a:rPr lang="vi-VN" sz="1600">
                <a:latin typeface="Arial"/>
                <a:ea typeface="+mn-lt"/>
                <a:cs typeface="Arial"/>
              </a:rPr>
              <a:t>", "Nhiệt độ" → "</a:t>
            </a:r>
            <a:r>
              <a:rPr lang="vi-VN" sz="1600" err="1">
                <a:latin typeface="Arial"/>
                <a:ea typeface="+mn-lt"/>
                <a:cs typeface="Arial"/>
              </a:rPr>
              <a:t>Temperature</a:t>
            </a:r>
            <a:r>
              <a:rPr lang="vi-VN" sz="1600">
                <a:latin typeface="Arial"/>
                <a:ea typeface="+mn-lt"/>
                <a:cs typeface="Arial"/>
              </a:rPr>
              <a:t>")</a:t>
            </a:r>
            <a:endParaRPr lang="vi-VN">
              <a:latin typeface="Arial"/>
              <a:cs typeface="Arial"/>
            </a:endParaRPr>
          </a:p>
          <a:p>
            <a:pPr marL="742950" lvl="1" indent="-285750">
              <a:buFont typeface="Arial"/>
              <a:buChar char="•"/>
            </a:pPr>
            <a:r>
              <a:rPr lang="vi-VN" sz="1600">
                <a:latin typeface="Arial"/>
                <a:ea typeface="+mn-lt"/>
                <a:cs typeface="Arial"/>
              </a:rPr>
              <a:t>Kết hợp với dữ liệu tọa độ địa lý (</a:t>
            </a:r>
            <a:r>
              <a:rPr lang="vi-VN" sz="1600" err="1">
                <a:latin typeface="Arial"/>
                <a:ea typeface="+mn-lt"/>
                <a:cs typeface="Arial"/>
              </a:rPr>
              <a:t>lat</a:t>
            </a:r>
            <a:r>
              <a:rPr lang="vi-VN" sz="1600">
                <a:latin typeface="Arial"/>
                <a:ea typeface="+mn-lt"/>
                <a:cs typeface="Arial"/>
              </a:rPr>
              <a:t>, lon) của các trạm quan trắc</a:t>
            </a:r>
            <a:endParaRPr lang="vi-VN">
              <a:latin typeface="Arial"/>
              <a:ea typeface="+mn-lt"/>
              <a:cs typeface="Arial"/>
            </a:endParaRPr>
          </a:p>
          <a:p>
            <a:pPr marL="742950" lvl="1" indent="-285750">
              <a:buFont typeface="Arial"/>
              <a:buChar char="•"/>
            </a:pPr>
            <a:r>
              <a:rPr lang="vi-VN" sz="1600">
                <a:latin typeface="Arial"/>
                <a:ea typeface="+mn-lt"/>
                <a:cs typeface="Arial"/>
              </a:rPr>
              <a:t>Bổ sung các biến môi trường tổng hợp cần thiết cho mô hình như H₂S, BOD5, </a:t>
            </a:r>
            <a:r>
              <a:rPr lang="vi-VN" sz="1600" err="1">
                <a:latin typeface="Arial"/>
                <a:ea typeface="+mn-lt"/>
                <a:cs typeface="Arial"/>
              </a:rPr>
              <a:t>Alkalinity</a:t>
            </a:r>
            <a:r>
              <a:rPr lang="vi-VN" sz="1600">
                <a:latin typeface="Arial"/>
                <a:ea typeface="+mn-lt"/>
                <a:cs typeface="Arial"/>
              </a:rPr>
              <a:t> thông qua các phân phối thống kê phù hợp (</a:t>
            </a:r>
            <a:r>
              <a:rPr lang="vi-VN" sz="1600" err="1">
                <a:latin typeface="Arial"/>
                <a:ea typeface="+mn-lt"/>
                <a:cs typeface="Arial"/>
              </a:rPr>
              <a:t>lognormal</a:t>
            </a:r>
            <a:r>
              <a:rPr lang="vi-VN" sz="1600">
                <a:latin typeface="Arial"/>
                <a:ea typeface="+mn-lt"/>
                <a:cs typeface="Arial"/>
              </a:rPr>
              <a:t>, </a:t>
            </a:r>
            <a:r>
              <a:rPr lang="vi-VN" sz="1600" err="1">
                <a:latin typeface="Arial"/>
                <a:ea typeface="+mn-lt"/>
                <a:cs typeface="Arial"/>
              </a:rPr>
              <a:t>normal</a:t>
            </a:r>
            <a:r>
              <a:rPr lang="vi-VN" sz="1600">
                <a:latin typeface="Arial"/>
                <a:ea typeface="+mn-lt"/>
                <a:cs typeface="Arial"/>
              </a:rPr>
              <a:t>) dựa trên đặc tính của từng thông số.</a:t>
            </a:r>
            <a:endParaRPr lang="vi-VN">
              <a:latin typeface="Arial"/>
              <a:cs typeface="Arial"/>
            </a:endParaRPr>
          </a:p>
          <a:p>
            <a:pPr marL="285750" indent="-285750">
              <a:buFont typeface="Arial"/>
              <a:buChar char="•"/>
            </a:pPr>
            <a:endParaRPr lang="vi-VN" sz="1600">
              <a:latin typeface="Arial" panose="020B0604020202020204" pitchFamily="34" charset="0"/>
              <a:ea typeface="Calibri"/>
              <a:cs typeface="Arial" panose="020B0604020202020204" pitchFamily="34" charset="0"/>
            </a:endParaRPr>
          </a:p>
          <a:p>
            <a:endParaRPr lang="vi-VN">
              <a:latin typeface="Arial" panose="020B0604020202020204" pitchFamily="34" charset="0"/>
              <a:ea typeface="Calibri"/>
              <a:cs typeface="Arial" panose="020B0604020202020204" pitchFamily="34" charset="0"/>
            </a:endParaRPr>
          </a:p>
          <a:p>
            <a:endParaRPr lang="vi-VN" sz="1600">
              <a:latin typeface="Arial"/>
              <a:ea typeface="Calibri"/>
              <a:cs typeface="Arial"/>
            </a:endParaRPr>
          </a:p>
        </p:txBody>
      </p:sp>
    </p:spTree>
    <p:extLst>
      <p:ext uri="{BB962C8B-B14F-4D97-AF65-F5344CB8AC3E}">
        <p14:creationId xmlns:p14="http://schemas.microsoft.com/office/powerpoint/2010/main" val="3670551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6C02-56A9-E7A6-AD91-0CF39063E2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BBE6D9-9617-6C05-9003-E6506F33C0E6}"/>
              </a:ext>
            </a:extLst>
          </p:cNvPr>
          <p:cNvSpPr>
            <a:spLocks noGrp="1"/>
          </p:cNvSpPr>
          <p:nvPr>
            <p:ph type="sldNum" sz="quarter" idx="12"/>
          </p:nvPr>
        </p:nvSpPr>
        <p:spPr/>
        <p:txBody>
          <a:bodyPr/>
          <a:lstStyle/>
          <a:p>
            <a:fld id="{9EA0BE3B-158A-4EDF-80DC-E394A0D1600F}" type="slidenum">
              <a:rPr lang="en-US" smtClean="0"/>
              <a:pPr/>
              <a:t>15</a:t>
            </a:fld>
            <a:endParaRPr lang="en-US"/>
          </a:p>
        </p:txBody>
      </p:sp>
      <p:sp>
        <p:nvSpPr>
          <p:cNvPr id="3" name="Title 2">
            <a:extLst>
              <a:ext uri="{FF2B5EF4-FFF2-40B4-BE49-F238E27FC236}">
                <a16:creationId xmlns:a16="http://schemas.microsoft.com/office/drawing/2014/main" id="{EB38421F-2238-EC63-FB1E-62A1145CEE3F}"/>
              </a:ext>
            </a:extLst>
          </p:cNvPr>
          <p:cNvSpPr>
            <a:spLocks noGrp="1"/>
          </p:cNvSpPr>
          <p:nvPr>
            <p:ph type="title"/>
          </p:nvPr>
        </p:nvSpPr>
        <p:spPr/>
        <p:txBody>
          <a:bodyPr lIns="91440" tIns="45720" rIns="91440" bIns="45720" anchor="t"/>
          <a:lstStyle/>
          <a:p>
            <a:r>
              <a:rPr lang="en-US">
                <a:latin typeface="Lato"/>
                <a:ea typeface="Lato"/>
                <a:cs typeface="Lato"/>
              </a:rPr>
              <a:t>3.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mô</a:t>
            </a:r>
            <a:r>
              <a:rPr lang="en-US">
                <a:latin typeface="Lato"/>
                <a:ea typeface="Lato"/>
                <a:cs typeface="Lato"/>
              </a:rPr>
              <a:t> </a:t>
            </a:r>
            <a:r>
              <a:rPr lang="en-US" err="1">
                <a:latin typeface="Lato"/>
                <a:ea typeface="Lato"/>
                <a:cs typeface="Lato"/>
              </a:rPr>
              <a:t>hình</a:t>
            </a:r>
            <a:r>
              <a:rPr lang="en-US">
                <a:latin typeface="Lato"/>
                <a:ea typeface="Lato"/>
                <a:cs typeface="Lato"/>
              </a:rPr>
              <a:t> </a:t>
            </a:r>
            <a:r>
              <a:rPr lang="en-US" err="1">
                <a:latin typeface="Lato"/>
                <a:ea typeface="Lato"/>
                <a:cs typeface="Lato"/>
              </a:rPr>
              <a:t>dự</a:t>
            </a:r>
            <a:r>
              <a:rPr lang="en-US">
                <a:latin typeface="Lato"/>
                <a:ea typeface="Lato"/>
                <a:cs typeface="Lato"/>
              </a:rPr>
              <a:t> </a:t>
            </a:r>
            <a:r>
              <a:rPr lang="en-US" err="1">
                <a:latin typeface="Lato"/>
                <a:ea typeface="Lato"/>
                <a:cs typeface="Lato"/>
              </a:rPr>
              <a:t>đoán</a:t>
            </a:r>
            <a:endParaRPr lang="en-US">
              <a:latin typeface="Lato"/>
            </a:endParaRPr>
          </a:p>
          <a:p>
            <a:endParaRPr lang="en-US">
              <a:latin typeface="Lato"/>
              <a:ea typeface="Lato"/>
              <a:cs typeface="Lato"/>
            </a:endParaRPr>
          </a:p>
        </p:txBody>
      </p:sp>
      <p:sp>
        <p:nvSpPr>
          <p:cNvPr id="10" name="TextBox 9">
            <a:extLst>
              <a:ext uri="{FF2B5EF4-FFF2-40B4-BE49-F238E27FC236}">
                <a16:creationId xmlns:a16="http://schemas.microsoft.com/office/drawing/2014/main" id="{30B4CF73-B259-8A73-FE7C-049AC3910E76}"/>
              </a:ext>
            </a:extLst>
          </p:cNvPr>
          <p:cNvSpPr txBox="1"/>
          <p:nvPr/>
        </p:nvSpPr>
        <p:spPr>
          <a:xfrm>
            <a:off x="235077" y="847285"/>
            <a:ext cx="2238113" cy="369332"/>
          </a:xfrm>
          <a:prstGeom prst="rect">
            <a:avLst/>
          </a:prstGeom>
          <a:noFill/>
        </p:spPr>
        <p:txBody>
          <a:bodyPr wrap="none" rtlCol="0">
            <a:spAutoFit/>
          </a:bodyPr>
          <a:lstStyle/>
          <a:p>
            <a:r>
              <a:rPr lang="en-US" b="1" err="1">
                <a:latin typeface="Lato" panose="020F0502020204030203" pitchFamily="34" charset="0"/>
                <a:ea typeface="Lato" panose="020F0502020204030203" pitchFamily="34" charset="0"/>
                <a:cs typeface="Lato" panose="020F0502020204030203" pitchFamily="34" charset="0"/>
              </a:rPr>
              <a:t>Tổng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quan</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hệ</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thống</a:t>
            </a:r>
            <a:endParaRPr lang="en-VN" b="1">
              <a:latin typeface="Lato" panose="020F0502020204030203" pitchFamily="34" charset="0"/>
              <a:ea typeface="Lato" panose="020F0502020204030203" pitchFamily="34" charset="0"/>
              <a:cs typeface="Lato" panose="020F0502020204030203" pitchFamily="34" charset="0"/>
            </a:endParaRPr>
          </a:p>
        </p:txBody>
      </p:sp>
      <p:pic>
        <p:nvPicPr>
          <p:cNvPr id="5" name="Picture 4" descr="A diagram of a model&#10;&#10;Description automatically generated">
            <a:extLst>
              <a:ext uri="{FF2B5EF4-FFF2-40B4-BE49-F238E27FC236}">
                <a16:creationId xmlns:a16="http://schemas.microsoft.com/office/drawing/2014/main" id="{CBBC0CAE-B38F-0F89-C8F2-B45AD1291D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82650"/>
            <a:ext cx="9021085" cy="3492699"/>
          </a:xfrm>
          <a:prstGeom prst="rect">
            <a:avLst/>
          </a:prstGeom>
        </p:spPr>
      </p:pic>
    </p:spTree>
    <p:extLst>
      <p:ext uri="{BB962C8B-B14F-4D97-AF65-F5344CB8AC3E}">
        <p14:creationId xmlns:p14="http://schemas.microsoft.com/office/powerpoint/2010/main" val="1728983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F7B8D-3142-39B3-75F2-B12809CE8AA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481D57-156E-06ED-E2FE-5263A2333E88}"/>
              </a:ext>
            </a:extLst>
          </p:cNvPr>
          <p:cNvSpPr>
            <a:spLocks noGrp="1"/>
          </p:cNvSpPr>
          <p:nvPr>
            <p:ph type="sldNum" sz="quarter" idx="12"/>
          </p:nvPr>
        </p:nvSpPr>
        <p:spPr/>
        <p:txBody>
          <a:bodyPr/>
          <a:lstStyle/>
          <a:p>
            <a:fld id="{9EA0BE3B-158A-4EDF-80DC-E394A0D1600F}" type="slidenum">
              <a:rPr lang="en-US" smtClean="0"/>
              <a:pPr/>
              <a:t>16</a:t>
            </a:fld>
            <a:endParaRPr lang="en-US"/>
          </a:p>
        </p:txBody>
      </p:sp>
      <p:sp>
        <p:nvSpPr>
          <p:cNvPr id="3" name="Title 2">
            <a:extLst>
              <a:ext uri="{FF2B5EF4-FFF2-40B4-BE49-F238E27FC236}">
                <a16:creationId xmlns:a16="http://schemas.microsoft.com/office/drawing/2014/main" id="{D07B6BB7-34CD-2852-1B3E-CEEC16B3C53D}"/>
              </a:ext>
            </a:extLst>
          </p:cNvPr>
          <p:cNvSpPr>
            <a:spLocks noGrp="1"/>
          </p:cNvSpPr>
          <p:nvPr>
            <p:ph type="title"/>
          </p:nvPr>
        </p:nvSpPr>
        <p:spPr/>
        <p:txBody>
          <a:bodyPr lIns="91440" tIns="45720" rIns="91440" bIns="45720" anchor="t"/>
          <a:lstStyle/>
          <a:p>
            <a:r>
              <a:rPr lang="en-US">
                <a:latin typeface="Lato"/>
                <a:ea typeface="Lato"/>
                <a:cs typeface="Lato"/>
              </a:rPr>
              <a:t>3.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mô</a:t>
            </a:r>
            <a:r>
              <a:rPr lang="en-US">
                <a:latin typeface="Lato"/>
                <a:ea typeface="Lato"/>
                <a:cs typeface="Lato"/>
              </a:rPr>
              <a:t> </a:t>
            </a:r>
            <a:r>
              <a:rPr lang="en-US" err="1">
                <a:latin typeface="Lato"/>
                <a:ea typeface="Lato"/>
                <a:cs typeface="Lato"/>
              </a:rPr>
              <a:t>hình</a:t>
            </a:r>
            <a:r>
              <a:rPr lang="en-US">
                <a:latin typeface="Lato"/>
                <a:ea typeface="Lato"/>
                <a:cs typeface="Lato"/>
              </a:rPr>
              <a:t> </a:t>
            </a:r>
            <a:r>
              <a:rPr lang="en-US" err="1">
                <a:latin typeface="Lato"/>
                <a:ea typeface="Lato"/>
                <a:cs typeface="Lato"/>
              </a:rPr>
              <a:t>dự</a:t>
            </a:r>
            <a:r>
              <a:rPr lang="en-US">
                <a:latin typeface="Lato"/>
                <a:ea typeface="Lato"/>
                <a:cs typeface="Lato"/>
              </a:rPr>
              <a:t> </a:t>
            </a:r>
            <a:r>
              <a:rPr lang="en-US" err="1">
                <a:latin typeface="Lato"/>
                <a:ea typeface="Lato"/>
                <a:cs typeface="Lato"/>
              </a:rPr>
              <a:t>đoán</a:t>
            </a:r>
            <a:endParaRPr lang="en-US">
              <a:latin typeface="Lato"/>
            </a:endParaRPr>
          </a:p>
          <a:p>
            <a:endParaRPr lang="en-US">
              <a:latin typeface="Lato"/>
              <a:ea typeface="Lato"/>
              <a:cs typeface="Lato"/>
            </a:endParaRPr>
          </a:p>
        </p:txBody>
      </p:sp>
      <p:sp>
        <p:nvSpPr>
          <p:cNvPr id="10" name="TextBox 9">
            <a:extLst>
              <a:ext uri="{FF2B5EF4-FFF2-40B4-BE49-F238E27FC236}">
                <a16:creationId xmlns:a16="http://schemas.microsoft.com/office/drawing/2014/main" id="{5CCD8FE1-19E4-3FD1-5EBF-DA3C7AD1E28F}"/>
              </a:ext>
            </a:extLst>
          </p:cNvPr>
          <p:cNvSpPr txBox="1"/>
          <p:nvPr/>
        </p:nvSpPr>
        <p:spPr>
          <a:xfrm>
            <a:off x="235077" y="847285"/>
            <a:ext cx="1398140" cy="369332"/>
          </a:xfrm>
          <a:prstGeom prst="rect">
            <a:avLst/>
          </a:prstGeom>
          <a:noFill/>
        </p:spPr>
        <p:txBody>
          <a:bodyPr wrap="none" lIns="91440" tIns="45720" rIns="91440" bIns="45720" rtlCol="0" anchor="t">
            <a:spAutoFit/>
          </a:bodyPr>
          <a:lstStyle/>
          <a:p>
            <a:r>
              <a:rPr lang="en-US" b="1">
                <a:latin typeface="Lato"/>
                <a:ea typeface="Lato"/>
                <a:cs typeface="Lato"/>
              </a:rPr>
              <a:t>Base Model</a:t>
            </a:r>
            <a:endParaRPr lang="en-VN" b="1">
              <a:latin typeface="Lato"/>
              <a:ea typeface="Lato"/>
              <a:cs typeface="Lato"/>
            </a:endParaRPr>
          </a:p>
        </p:txBody>
      </p:sp>
      <p:sp>
        <p:nvSpPr>
          <p:cNvPr id="4" name="TextBox 3">
            <a:extLst>
              <a:ext uri="{FF2B5EF4-FFF2-40B4-BE49-F238E27FC236}">
                <a16:creationId xmlns:a16="http://schemas.microsoft.com/office/drawing/2014/main" id="{3F5F4A7F-F2EC-7394-6C5D-E457BE0BF556}"/>
              </a:ext>
            </a:extLst>
          </p:cNvPr>
          <p:cNvSpPr txBox="1"/>
          <p:nvPr/>
        </p:nvSpPr>
        <p:spPr>
          <a:xfrm>
            <a:off x="235077" y="1471163"/>
            <a:ext cx="3730219" cy="923330"/>
          </a:xfrm>
          <a:prstGeom prst="rect">
            <a:avLst/>
          </a:prstGeom>
          <a:noFill/>
        </p:spPr>
        <p:txBody>
          <a:bodyPr wrap="square" rtlCol="0">
            <a:spAutoFit/>
          </a:bodyPr>
          <a:lstStyle/>
          <a:p>
            <a:r>
              <a:rPr lang="en-US" b="1" err="1">
                <a:latin typeface="Lato" panose="020F0502020204030203" pitchFamily="34" charset="0"/>
                <a:ea typeface="Lato" panose="020F0502020204030203" pitchFamily="34" charset="0"/>
                <a:cs typeface="Lato" panose="020F0502020204030203" pitchFamily="34" charset="0"/>
              </a:rPr>
              <a:t>Thuật</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toán</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sử</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dụng</a:t>
            </a:r>
            <a:r>
              <a:rPr lang="en-US" b="1">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XGBoost</a:t>
            </a:r>
            <a:r>
              <a:rPr lang="en-US">
                <a:latin typeface="Lato" panose="020F0502020204030203" pitchFamily="34" charset="0"/>
                <a:ea typeface="Lato" panose="020F0502020204030203" pitchFamily="34" charset="0"/>
                <a:cs typeface="Lato" panose="020F0502020204030203" pitchFamily="34" charset="0"/>
              </a:rPr>
              <a:t> Regressor </a:t>
            </a:r>
            <a:r>
              <a:rPr lang="en-US" err="1">
                <a:latin typeface="Lato" panose="020F0502020204030203" pitchFamily="34" charset="0"/>
                <a:ea typeface="Lato" panose="020F0502020204030203" pitchFamily="34" charset="0"/>
                <a:cs typeface="Lato" panose="020F0502020204030203" pitchFamily="34" charset="0"/>
              </a:rPr>
              <a:t>vì</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khả</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năng</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xử</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lý</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tốt</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dữ</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liệu</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bảng</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và</a:t>
            </a:r>
            <a:r>
              <a:rPr lang="en-US">
                <a:latin typeface="Lato" panose="020F0502020204030203" pitchFamily="34" charset="0"/>
                <a:ea typeface="Lato" panose="020F0502020204030203" pitchFamily="34" charset="0"/>
                <a:cs typeface="Lato" panose="020F0502020204030203" pitchFamily="34" charset="0"/>
              </a:rPr>
              <a:t> phi </a:t>
            </a:r>
            <a:r>
              <a:rPr lang="en-US" err="1">
                <a:latin typeface="Lato" panose="020F0502020204030203" pitchFamily="34" charset="0"/>
                <a:ea typeface="Lato" panose="020F0502020204030203" pitchFamily="34" charset="0"/>
                <a:cs typeface="Lato" panose="020F0502020204030203" pitchFamily="34" charset="0"/>
              </a:rPr>
              <a:t>tuyến</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tính</a:t>
            </a:r>
            <a:r>
              <a:rPr lang="en-US">
                <a:latin typeface="Lato" panose="020F0502020204030203" pitchFamily="34" charset="0"/>
                <a:ea typeface="Lato" panose="020F0502020204030203" pitchFamily="34" charset="0"/>
                <a:cs typeface="Lato" panose="020F0502020204030203" pitchFamily="34" charset="0"/>
              </a:rPr>
              <a:t>.</a:t>
            </a:r>
          </a:p>
        </p:txBody>
      </p:sp>
      <p:pic>
        <p:nvPicPr>
          <p:cNvPr id="6" name="Picture 5">
            <a:extLst>
              <a:ext uri="{FF2B5EF4-FFF2-40B4-BE49-F238E27FC236}">
                <a16:creationId xmlns:a16="http://schemas.microsoft.com/office/drawing/2014/main" id="{71F961FD-72B3-7F62-548A-5B8B4D7F0315}"/>
              </a:ext>
            </a:extLst>
          </p:cNvPr>
          <p:cNvPicPr>
            <a:picLocks noChangeAspect="1"/>
          </p:cNvPicPr>
          <p:nvPr/>
        </p:nvPicPr>
        <p:blipFill>
          <a:blip r:embed="rId3"/>
          <a:stretch>
            <a:fillRect/>
          </a:stretch>
        </p:blipFill>
        <p:spPr>
          <a:xfrm>
            <a:off x="4123508" y="1747058"/>
            <a:ext cx="4785415" cy="3898505"/>
          </a:xfrm>
          <a:prstGeom prst="rect">
            <a:avLst/>
          </a:prstGeom>
        </p:spPr>
      </p:pic>
      <p:sp>
        <p:nvSpPr>
          <p:cNvPr id="7" name="TextBox 6">
            <a:extLst>
              <a:ext uri="{FF2B5EF4-FFF2-40B4-BE49-F238E27FC236}">
                <a16:creationId xmlns:a16="http://schemas.microsoft.com/office/drawing/2014/main" id="{11DD2D90-2297-219D-E605-243967D4769A}"/>
              </a:ext>
            </a:extLst>
          </p:cNvPr>
          <p:cNvSpPr txBox="1"/>
          <p:nvPr/>
        </p:nvSpPr>
        <p:spPr>
          <a:xfrm>
            <a:off x="235077" y="2495981"/>
            <a:ext cx="3648665" cy="1200329"/>
          </a:xfrm>
          <a:prstGeom prst="rect">
            <a:avLst/>
          </a:prstGeom>
          <a:noFill/>
        </p:spPr>
        <p:txBody>
          <a:bodyPr wrap="square" rtlCol="0">
            <a:spAutoFit/>
          </a:bodyPr>
          <a:lstStyle/>
          <a:p>
            <a:r>
              <a:rPr lang="vi-VN" b="1">
                <a:latin typeface="Lato" panose="020F0502020204030203" pitchFamily="34" charset="0"/>
                <a:ea typeface="Lato" panose="020F0502020204030203" pitchFamily="34" charset="0"/>
                <a:cs typeface="Lato" panose="020F0502020204030203" pitchFamily="34" charset="0"/>
              </a:rPr>
              <a:t>Multi</a:t>
            </a:r>
            <a:r>
              <a:rPr lang="en-US" b="1">
                <a:latin typeface="Lato" panose="020F0502020204030203" pitchFamily="34" charset="0"/>
                <a:ea typeface="Lato" panose="020F0502020204030203" pitchFamily="34" charset="0"/>
                <a:cs typeface="Lato" panose="020F0502020204030203" pitchFamily="34" charset="0"/>
              </a:rPr>
              <a:t> </a:t>
            </a:r>
            <a:r>
              <a:rPr lang="vi-VN" b="1">
                <a:latin typeface="Lato" panose="020F0502020204030203" pitchFamily="34" charset="0"/>
                <a:ea typeface="Lato" panose="020F0502020204030203" pitchFamily="34" charset="0"/>
                <a:cs typeface="Lato" panose="020F0502020204030203" pitchFamily="34" charset="0"/>
              </a:rPr>
              <a:t>Output</a:t>
            </a:r>
            <a:r>
              <a:rPr lang="en-US" b="1">
                <a:latin typeface="Lato" panose="020F0502020204030203" pitchFamily="34" charset="0"/>
                <a:ea typeface="Lato" panose="020F0502020204030203" pitchFamily="34" charset="0"/>
                <a:cs typeface="Lato" panose="020F0502020204030203" pitchFamily="34" charset="0"/>
              </a:rPr>
              <a:t> </a:t>
            </a:r>
            <a:r>
              <a:rPr lang="vi-VN" b="1">
                <a:latin typeface="Lato" panose="020F0502020204030203" pitchFamily="34" charset="0"/>
                <a:ea typeface="Lato" panose="020F0502020204030203" pitchFamily="34" charset="0"/>
                <a:cs typeface="Lato" panose="020F0502020204030203" pitchFamily="34" charset="0"/>
              </a:rPr>
              <a:t>Regressor</a:t>
            </a:r>
            <a:r>
              <a:rPr lang="vi-VN">
                <a:latin typeface="Lato" panose="020F0502020204030203" pitchFamily="34" charset="0"/>
                <a:ea typeface="Lato" panose="020F0502020204030203" pitchFamily="34" charset="0"/>
                <a:cs typeface="Lato" panose="020F0502020204030203" pitchFamily="34" charset="0"/>
              </a:rPr>
              <a:t> để dự báo đồng thời nhiều chỉ số môi trường</a:t>
            </a:r>
            <a:r>
              <a:rPr lang="en-US">
                <a:latin typeface="Lato" panose="020F0502020204030203" pitchFamily="34" charset="0"/>
                <a:ea typeface="Lato" panose="020F0502020204030203" pitchFamily="34" charset="0"/>
                <a:cs typeface="Lato" panose="020F0502020204030203" pitchFamily="34" charset="0"/>
              </a:rPr>
              <a:t> </a:t>
            </a:r>
            <a:r>
              <a:rPr lang="vi-VN">
                <a:latin typeface="Lato" panose="020F0502020204030203" pitchFamily="34" charset="0"/>
                <a:ea typeface="Lato" panose="020F0502020204030203" pitchFamily="34" charset="0"/>
                <a:cs typeface="Lato" panose="020F0502020204030203" pitchFamily="34" charset="0"/>
              </a:rPr>
              <a:t>thay vì train từng mô hình lẻ.</a:t>
            </a:r>
            <a:endParaRPr lang="en-US">
              <a:latin typeface="Lato" panose="020F0502020204030203" pitchFamily="34" charset="0"/>
              <a:ea typeface="Lato" panose="020F0502020204030203" pitchFamily="34" charset="0"/>
              <a:cs typeface="Lato" panose="020F0502020204030203" pitchFamily="34" charset="0"/>
            </a:endParaRPr>
          </a:p>
        </p:txBody>
      </p:sp>
      <p:sp>
        <p:nvSpPr>
          <p:cNvPr id="9" name="TextBox 8">
            <a:extLst>
              <a:ext uri="{FF2B5EF4-FFF2-40B4-BE49-F238E27FC236}">
                <a16:creationId xmlns:a16="http://schemas.microsoft.com/office/drawing/2014/main" id="{5C12CC04-3D2F-61CD-9B49-CEE49E1C192A}"/>
              </a:ext>
            </a:extLst>
          </p:cNvPr>
          <p:cNvSpPr txBox="1"/>
          <p:nvPr/>
        </p:nvSpPr>
        <p:spPr>
          <a:xfrm>
            <a:off x="235077" y="3696310"/>
            <a:ext cx="4572000" cy="2554545"/>
          </a:xfrm>
          <a:prstGeom prst="rect">
            <a:avLst/>
          </a:prstGeom>
          <a:noFill/>
        </p:spPr>
        <p:txBody>
          <a:bodyPr wrap="square">
            <a:spAutoFit/>
          </a:bodyPr>
          <a:lstStyle/>
          <a:p>
            <a:r>
              <a:rPr lang="vi-VN" sz="1600" b="1">
                <a:latin typeface="Lato" panose="020F0502020204030203" pitchFamily="34" charset="0"/>
                <a:ea typeface="Lato" panose="020F0502020204030203" pitchFamily="34" charset="0"/>
                <a:cs typeface="Lato" panose="020F0502020204030203" pitchFamily="34" charset="0"/>
              </a:rPr>
              <a:t>Cấu hình tham số</a:t>
            </a:r>
            <a:r>
              <a:rPr lang="en-US" sz="1600" b="1">
                <a:latin typeface="Lato" panose="020F0502020204030203" pitchFamily="34" charset="0"/>
                <a:ea typeface="Lato" panose="020F0502020204030203" pitchFamily="34" charset="0"/>
                <a:cs typeface="Lato" panose="020F0502020204030203" pitchFamily="34" charset="0"/>
              </a:rPr>
              <a:t>:</a:t>
            </a:r>
            <a:endParaRPr lang="vi-VN" sz="160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
            </a:pPr>
            <a:r>
              <a:rPr lang="vi-VN" sz="1600">
                <a:latin typeface="Lato" panose="020F0502020204030203" pitchFamily="34" charset="0"/>
                <a:ea typeface="Lato" panose="020F0502020204030203" pitchFamily="34" charset="0"/>
                <a:cs typeface="Lato" panose="020F0502020204030203" pitchFamily="34" charset="0"/>
              </a:rPr>
              <a:t>n_estimators=1000</a:t>
            </a:r>
            <a:endParaRPr lang="en-US" sz="160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
            </a:pPr>
            <a:r>
              <a:rPr lang="vi-VN" sz="1600">
                <a:latin typeface="Lato" panose="020F0502020204030203" pitchFamily="34" charset="0"/>
                <a:ea typeface="Lato" panose="020F0502020204030203" pitchFamily="34" charset="0"/>
                <a:cs typeface="Lato" panose="020F0502020204030203" pitchFamily="34" charset="0"/>
              </a:rPr>
              <a:t>learning_rate=0.05</a:t>
            </a:r>
          </a:p>
          <a:p>
            <a:pPr marL="285750" indent="-285750">
              <a:buFont typeface="Arial" panose="020B0604020202020204" pitchFamily="34" charset="0"/>
              <a:buChar char=" "/>
            </a:pPr>
            <a:r>
              <a:rPr lang="vi-VN" sz="1600">
                <a:latin typeface="Lato" panose="020F0502020204030203" pitchFamily="34" charset="0"/>
                <a:ea typeface="Lato" panose="020F0502020204030203" pitchFamily="34" charset="0"/>
                <a:cs typeface="Lato" panose="020F0502020204030203" pitchFamily="34" charset="0"/>
              </a:rPr>
              <a:t>max_depth=5</a:t>
            </a:r>
            <a:endParaRPr lang="en-US" sz="160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
            </a:pPr>
            <a:r>
              <a:rPr lang="vi-VN" sz="1600">
                <a:latin typeface="Lato" panose="020F0502020204030203" pitchFamily="34" charset="0"/>
                <a:ea typeface="Lato" panose="020F0502020204030203" pitchFamily="34" charset="0"/>
                <a:cs typeface="Lato" panose="020F0502020204030203" pitchFamily="34" charset="0"/>
              </a:rPr>
              <a:t>(</a:t>
            </a:r>
            <a:r>
              <a:rPr lang="en-US" sz="1600">
                <a:latin typeface="Lato" panose="020F0502020204030203" pitchFamily="34" charset="0"/>
                <a:ea typeface="Lato" panose="020F0502020204030203" pitchFamily="34" charset="0"/>
                <a:cs typeface="Lato" panose="020F0502020204030203" pitchFamily="34" charset="0"/>
              </a:rPr>
              <a:t>T</a:t>
            </a:r>
            <a:r>
              <a:rPr lang="vi-VN" sz="1600">
                <a:latin typeface="Lato" panose="020F0502020204030203" pitchFamily="34" charset="0"/>
                <a:ea typeface="Lato" panose="020F0502020204030203" pitchFamily="34" charset="0"/>
                <a:cs typeface="Lato" panose="020F0502020204030203" pitchFamily="34" charset="0"/>
              </a:rPr>
              <a:t>ránh overfitting)</a:t>
            </a:r>
          </a:p>
          <a:p>
            <a:pPr marL="285750" indent="-285750">
              <a:buFont typeface="Arial" panose="020B0604020202020204" pitchFamily="34" charset="0"/>
              <a:buChar char=" "/>
            </a:pPr>
            <a:endParaRPr lang="en-US" sz="160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
            </a:pPr>
            <a:r>
              <a:rPr lang="vi-VN" sz="1600">
                <a:latin typeface="Lato" panose="020F0502020204030203" pitchFamily="34" charset="0"/>
                <a:ea typeface="Lato" panose="020F0502020204030203" pitchFamily="34" charset="0"/>
                <a:cs typeface="Lato" panose="020F0502020204030203" pitchFamily="34" charset="0"/>
              </a:rPr>
              <a:t>subsample=0.8</a:t>
            </a:r>
            <a:endParaRPr lang="en-US" sz="160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
            </a:pPr>
            <a:r>
              <a:rPr lang="vi-VN" sz="1600">
                <a:latin typeface="Lato" panose="020F0502020204030203" pitchFamily="34" charset="0"/>
                <a:ea typeface="Lato" panose="020F0502020204030203" pitchFamily="34" charset="0"/>
                <a:cs typeface="Lato" panose="020F0502020204030203" pitchFamily="34" charset="0"/>
              </a:rPr>
              <a:t>colsample_bytree=0.8</a:t>
            </a:r>
            <a:endParaRPr lang="en-US" sz="160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
            </a:pPr>
            <a:r>
              <a:rPr lang="vi-VN" sz="1600">
                <a:latin typeface="Lato" panose="020F0502020204030203" pitchFamily="34" charset="0"/>
                <a:ea typeface="Lato" panose="020F0502020204030203" pitchFamily="34" charset="0"/>
                <a:cs typeface="Lato" panose="020F0502020204030203" pitchFamily="34" charset="0"/>
              </a:rPr>
              <a:t>(</a:t>
            </a:r>
            <a:r>
              <a:rPr lang="en-US" sz="1600" err="1">
                <a:latin typeface="Lato" panose="020F0502020204030203" pitchFamily="34" charset="0"/>
                <a:ea typeface="Lato" panose="020F0502020204030203" pitchFamily="34" charset="0"/>
                <a:cs typeface="Lato" panose="020F0502020204030203" pitchFamily="34" charset="0"/>
              </a:rPr>
              <a:t>Ngẫu</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nhiên</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hóa</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dữ</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liệu</a:t>
            </a:r>
            <a:r>
              <a:rPr lang="vi-VN" sz="1600">
                <a:latin typeface="Lato" panose="020F0502020204030203" pitchFamily="34" charset="0"/>
                <a:ea typeface="Lato" panose="020F0502020204030203" pitchFamily="34" charset="0"/>
                <a:cs typeface="Lato" panose="020F0502020204030203" pitchFamily="34" charset="0"/>
              </a:rPr>
              <a:t>)</a:t>
            </a:r>
          </a:p>
          <a:p>
            <a:endParaRPr lang="en-US" sz="160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609256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2369D-EC8A-E91F-5174-C503203DE1B7}"/>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3A5ABDEC-482E-F09F-9E3C-4A59677815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6891" y="1121879"/>
            <a:ext cx="6715432" cy="5199238"/>
          </a:xfrm>
          <a:prstGeom prst="rect">
            <a:avLst/>
          </a:prstGeom>
        </p:spPr>
      </p:pic>
      <p:sp>
        <p:nvSpPr>
          <p:cNvPr id="2" name="Slide Number Placeholder 1">
            <a:extLst>
              <a:ext uri="{FF2B5EF4-FFF2-40B4-BE49-F238E27FC236}">
                <a16:creationId xmlns:a16="http://schemas.microsoft.com/office/drawing/2014/main" id="{EE5A798D-782F-4B85-F543-B1D89454C12F}"/>
              </a:ext>
            </a:extLst>
          </p:cNvPr>
          <p:cNvSpPr>
            <a:spLocks noGrp="1"/>
          </p:cNvSpPr>
          <p:nvPr>
            <p:ph type="sldNum" sz="quarter" idx="12"/>
          </p:nvPr>
        </p:nvSpPr>
        <p:spPr/>
        <p:txBody>
          <a:bodyPr/>
          <a:lstStyle/>
          <a:p>
            <a:fld id="{9EA0BE3B-158A-4EDF-80DC-E394A0D1600F}" type="slidenum">
              <a:rPr lang="en-US" smtClean="0"/>
              <a:pPr/>
              <a:t>17</a:t>
            </a:fld>
            <a:endParaRPr lang="en-US"/>
          </a:p>
        </p:txBody>
      </p:sp>
      <p:sp>
        <p:nvSpPr>
          <p:cNvPr id="3" name="Title 2">
            <a:extLst>
              <a:ext uri="{FF2B5EF4-FFF2-40B4-BE49-F238E27FC236}">
                <a16:creationId xmlns:a16="http://schemas.microsoft.com/office/drawing/2014/main" id="{ABDE031E-6F6C-3687-9258-89F48F32DB05}"/>
              </a:ext>
            </a:extLst>
          </p:cNvPr>
          <p:cNvSpPr>
            <a:spLocks noGrp="1"/>
          </p:cNvSpPr>
          <p:nvPr>
            <p:ph type="title"/>
          </p:nvPr>
        </p:nvSpPr>
        <p:spPr/>
        <p:txBody>
          <a:bodyPr lIns="91440" tIns="45720" rIns="91440" bIns="45720" anchor="t"/>
          <a:lstStyle/>
          <a:p>
            <a:r>
              <a:rPr lang="en-US">
                <a:latin typeface="Lato"/>
                <a:ea typeface="Lato"/>
                <a:cs typeface="Lato"/>
              </a:rPr>
              <a:t>3.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mô</a:t>
            </a:r>
            <a:r>
              <a:rPr lang="en-US">
                <a:latin typeface="Lato"/>
                <a:ea typeface="Lato"/>
                <a:cs typeface="Lato"/>
              </a:rPr>
              <a:t> </a:t>
            </a:r>
            <a:r>
              <a:rPr lang="en-US" err="1">
                <a:latin typeface="Lato"/>
                <a:ea typeface="Lato"/>
                <a:cs typeface="Lato"/>
              </a:rPr>
              <a:t>hình</a:t>
            </a:r>
            <a:r>
              <a:rPr lang="en-US">
                <a:latin typeface="Lato"/>
                <a:ea typeface="Lato"/>
                <a:cs typeface="Lato"/>
              </a:rPr>
              <a:t> </a:t>
            </a:r>
            <a:r>
              <a:rPr lang="en-US" err="1">
                <a:latin typeface="Lato"/>
                <a:ea typeface="Lato"/>
                <a:cs typeface="Lato"/>
              </a:rPr>
              <a:t>dự</a:t>
            </a:r>
            <a:r>
              <a:rPr lang="en-US">
                <a:latin typeface="Lato"/>
                <a:ea typeface="Lato"/>
                <a:cs typeface="Lato"/>
              </a:rPr>
              <a:t> </a:t>
            </a:r>
            <a:r>
              <a:rPr lang="en-US" err="1">
                <a:latin typeface="Lato"/>
                <a:ea typeface="Lato"/>
                <a:cs typeface="Lato"/>
              </a:rPr>
              <a:t>đoán</a:t>
            </a:r>
            <a:endParaRPr lang="en-US">
              <a:latin typeface="Lato"/>
            </a:endParaRPr>
          </a:p>
          <a:p>
            <a:endParaRPr lang="en-US">
              <a:latin typeface="Lato"/>
              <a:ea typeface="Lato"/>
              <a:cs typeface="Lato"/>
            </a:endParaRPr>
          </a:p>
        </p:txBody>
      </p:sp>
      <p:sp>
        <p:nvSpPr>
          <p:cNvPr id="5" name="TextBox 4">
            <a:extLst>
              <a:ext uri="{FF2B5EF4-FFF2-40B4-BE49-F238E27FC236}">
                <a16:creationId xmlns:a16="http://schemas.microsoft.com/office/drawing/2014/main" id="{78CB7B80-E241-2975-EE1A-B1A9F6047F59}"/>
              </a:ext>
            </a:extLst>
          </p:cNvPr>
          <p:cNvSpPr txBox="1"/>
          <p:nvPr/>
        </p:nvSpPr>
        <p:spPr>
          <a:xfrm>
            <a:off x="117987" y="830980"/>
            <a:ext cx="7885472" cy="400110"/>
          </a:xfrm>
          <a:prstGeom prst="rect">
            <a:avLst/>
          </a:prstGeom>
          <a:noFill/>
        </p:spPr>
        <p:txBody>
          <a:bodyPr wrap="square" rtlCol="0">
            <a:spAutoFit/>
          </a:bodyPr>
          <a:lstStyle/>
          <a:p>
            <a:r>
              <a:rPr lang="en-US" sz="2000" b="1" err="1">
                <a:latin typeface="Lato" panose="020F0502020204030203" pitchFamily="34" charset="0"/>
                <a:ea typeface="Lato" panose="020F0502020204030203" pitchFamily="34" charset="0"/>
                <a:cs typeface="Lato" panose="020F0502020204030203" pitchFamily="34" charset="0"/>
              </a:rPr>
              <a:t>Kỹ</a:t>
            </a:r>
            <a:r>
              <a:rPr lang="en-US" sz="2000" b="1">
                <a:latin typeface="Lato" panose="020F0502020204030203" pitchFamily="34" charset="0"/>
                <a:ea typeface="Lato" panose="020F0502020204030203" pitchFamily="34" charset="0"/>
                <a:cs typeface="Lato" panose="020F0502020204030203" pitchFamily="34" charset="0"/>
              </a:rPr>
              <a:t> </a:t>
            </a:r>
            <a:r>
              <a:rPr lang="en-US" sz="2000" b="1" err="1">
                <a:latin typeface="Lato" panose="020F0502020204030203" pitchFamily="34" charset="0"/>
                <a:ea typeface="Lato" panose="020F0502020204030203" pitchFamily="34" charset="0"/>
                <a:cs typeface="Lato" panose="020F0502020204030203" pitchFamily="34" charset="0"/>
              </a:rPr>
              <a:t>thuật</a:t>
            </a:r>
            <a:r>
              <a:rPr lang="en-US" sz="2000" b="1">
                <a:latin typeface="Lato" panose="020F0502020204030203" pitchFamily="34" charset="0"/>
                <a:ea typeface="Lato" panose="020F0502020204030203" pitchFamily="34" charset="0"/>
                <a:cs typeface="Lato" panose="020F0502020204030203" pitchFamily="34" charset="0"/>
              </a:rPr>
              <a:t> Lag Features </a:t>
            </a:r>
            <a:r>
              <a:rPr lang="en-US" sz="2000" err="1">
                <a:latin typeface="Lato" panose="020F0502020204030203" pitchFamily="34" charset="0"/>
                <a:ea typeface="Lato" panose="020F0502020204030203" pitchFamily="34" charset="0"/>
                <a:cs typeface="Lato" panose="020F0502020204030203" pitchFamily="34" charset="0"/>
              </a:rPr>
              <a:t>cho</a:t>
            </a:r>
            <a:r>
              <a:rPr lang="en-US" sz="2000">
                <a:latin typeface="Lato" panose="020F0502020204030203" pitchFamily="34" charset="0"/>
                <a:ea typeface="Lato" panose="020F0502020204030203" pitchFamily="34" charset="0"/>
                <a:cs typeface="Lato" panose="020F0502020204030203" pitchFamily="34" charset="0"/>
              </a:rPr>
              <a:t> </a:t>
            </a:r>
            <a:r>
              <a:rPr lang="en-US" sz="2000" err="1">
                <a:latin typeface="Lato" panose="020F0502020204030203" pitchFamily="34" charset="0"/>
                <a:ea typeface="Lato" panose="020F0502020204030203" pitchFamily="34" charset="0"/>
                <a:cs typeface="Lato" panose="020F0502020204030203" pitchFamily="34" charset="0"/>
              </a:rPr>
              <a:t>dữ</a:t>
            </a:r>
            <a:r>
              <a:rPr lang="en-US" sz="2000">
                <a:latin typeface="Lato" panose="020F0502020204030203" pitchFamily="34" charset="0"/>
                <a:ea typeface="Lato" panose="020F0502020204030203" pitchFamily="34" charset="0"/>
                <a:cs typeface="Lato" panose="020F0502020204030203" pitchFamily="34" charset="0"/>
              </a:rPr>
              <a:t> </a:t>
            </a:r>
            <a:r>
              <a:rPr lang="en-US" sz="2000" err="1">
                <a:latin typeface="Lato" panose="020F0502020204030203" pitchFamily="34" charset="0"/>
                <a:ea typeface="Lato" panose="020F0502020204030203" pitchFamily="34" charset="0"/>
                <a:cs typeface="Lato" panose="020F0502020204030203" pitchFamily="34" charset="0"/>
              </a:rPr>
              <a:t>liệu</a:t>
            </a:r>
            <a:r>
              <a:rPr lang="en-US" sz="2000">
                <a:latin typeface="Lato" panose="020F0502020204030203" pitchFamily="34" charset="0"/>
                <a:ea typeface="Lato" panose="020F0502020204030203" pitchFamily="34" charset="0"/>
                <a:cs typeface="Lato" panose="020F0502020204030203" pitchFamily="34" charset="0"/>
              </a:rPr>
              <a:t> </a:t>
            </a:r>
            <a:r>
              <a:rPr lang="en-US" sz="2000" err="1">
                <a:latin typeface="Lato" panose="020F0502020204030203" pitchFamily="34" charset="0"/>
                <a:ea typeface="Lato" panose="020F0502020204030203" pitchFamily="34" charset="0"/>
                <a:cs typeface="Lato" panose="020F0502020204030203" pitchFamily="34" charset="0"/>
              </a:rPr>
              <a:t>dạng</a:t>
            </a:r>
            <a:r>
              <a:rPr lang="en-US" sz="2000">
                <a:latin typeface="Lato" panose="020F0502020204030203" pitchFamily="34" charset="0"/>
                <a:ea typeface="Lato" panose="020F0502020204030203" pitchFamily="34" charset="0"/>
                <a:cs typeface="Lato" panose="020F0502020204030203" pitchFamily="34" charset="0"/>
              </a:rPr>
              <a:t> </a:t>
            </a:r>
            <a:r>
              <a:rPr lang="en-US" sz="2000" err="1">
                <a:latin typeface="Lato" panose="020F0502020204030203" pitchFamily="34" charset="0"/>
                <a:ea typeface="Lato" panose="020F0502020204030203" pitchFamily="34" charset="0"/>
                <a:cs typeface="Lato" panose="020F0502020204030203" pitchFamily="34" charset="0"/>
              </a:rPr>
              <a:t>chuỗi</a:t>
            </a:r>
            <a:r>
              <a:rPr lang="en-US" sz="2000">
                <a:latin typeface="Lato" panose="020F0502020204030203" pitchFamily="34" charset="0"/>
                <a:ea typeface="Lato" panose="020F0502020204030203" pitchFamily="34" charset="0"/>
                <a:cs typeface="Lato" panose="020F0502020204030203" pitchFamily="34" charset="0"/>
              </a:rPr>
              <a:t> </a:t>
            </a:r>
            <a:r>
              <a:rPr lang="en-US" sz="2000" err="1">
                <a:latin typeface="Lato" panose="020F0502020204030203" pitchFamily="34" charset="0"/>
                <a:ea typeface="Lato" panose="020F0502020204030203" pitchFamily="34" charset="0"/>
                <a:cs typeface="Lato" panose="020F0502020204030203" pitchFamily="34" charset="0"/>
              </a:rPr>
              <a:t>thời</a:t>
            </a:r>
            <a:r>
              <a:rPr lang="en-US" sz="2000">
                <a:latin typeface="Lato" panose="020F0502020204030203" pitchFamily="34" charset="0"/>
                <a:ea typeface="Lato" panose="020F0502020204030203" pitchFamily="34" charset="0"/>
                <a:cs typeface="Lato" panose="020F0502020204030203" pitchFamily="34" charset="0"/>
              </a:rPr>
              <a:t> </a:t>
            </a:r>
            <a:r>
              <a:rPr lang="en-US" sz="2000" err="1">
                <a:latin typeface="Lato" panose="020F0502020204030203" pitchFamily="34" charset="0"/>
                <a:ea typeface="Lato" panose="020F0502020204030203" pitchFamily="34" charset="0"/>
                <a:cs typeface="Lato" panose="020F0502020204030203" pitchFamily="34" charset="0"/>
              </a:rPr>
              <a:t>gian</a:t>
            </a:r>
            <a:r>
              <a:rPr lang="en-US" sz="2000">
                <a:latin typeface="Lato" panose="020F0502020204030203" pitchFamily="34" charset="0"/>
                <a:ea typeface="Lato" panose="020F0502020204030203" pitchFamily="34" charset="0"/>
                <a:cs typeface="Lato" panose="020F0502020204030203" pitchFamily="34" charset="0"/>
              </a:rPr>
              <a:t>: </a:t>
            </a:r>
          </a:p>
        </p:txBody>
      </p:sp>
      <p:sp>
        <p:nvSpPr>
          <p:cNvPr id="12" name="TextBox 11">
            <a:extLst>
              <a:ext uri="{FF2B5EF4-FFF2-40B4-BE49-F238E27FC236}">
                <a16:creationId xmlns:a16="http://schemas.microsoft.com/office/drawing/2014/main" id="{F3416843-25BE-DF49-1E96-2D6CF98B27BC}"/>
              </a:ext>
            </a:extLst>
          </p:cNvPr>
          <p:cNvSpPr txBox="1"/>
          <p:nvPr/>
        </p:nvSpPr>
        <p:spPr>
          <a:xfrm>
            <a:off x="117987" y="1822617"/>
            <a:ext cx="2664542" cy="1815882"/>
          </a:xfrm>
          <a:prstGeom prst="rect">
            <a:avLst/>
          </a:prstGeom>
          <a:noFill/>
        </p:spPr>
        <p:txBody>
          <a:bodyPr wrap="square">
            <a:spAutoFit/>
          </a:bodyPr>
          <a:lstStyle/>
          <a:p>
            <a:r>
              <a:rPr lang="en-US" sz="1600">
                <a:latin typeface="Lato" panose="020F0502020204030203" pitchFamily="34" charset="0"/>
                <a:ea typeface="Lato" panose="020F0502020204030203" pitchFamily="34" charset="0"/>
                <a:cs typeface="Lato" panose="020F0502020204030203" pitchFamily="34" charset="0"/>
              </a:rPr>
              <a:t>- </a:t>
            </a:r>
            <a:r>
              <a:rPr lang="vi-VN" sz="1600">
                <a:latin typeface="Lato" panose="020F0502020204030203" pitchFamily="34" charset="0"/>
                <a:ea typeface="Lato" panose="020F0502020204030203" pitchFamily="34" charset="0"/>
                <a:cs typeface="Lato" panose="020F0502020204030203" pitchFamily="34" charset="0"/>
              </a:rPr>
              <a:t>Tạo các biến trễ để nắm bắt tính chu kỳ của dữ liệu chuỗi thời gian.</a:t>
            </a:r>
            <a:endParaRPr lang="en-US" sz="1600">
              <a:latin typeface="Lato" panose="020F0502020204030203" pitchFamily="34" charset="0"/>
              <a:ea typeface="Lato" panose="020F0502020204030203" pitchFamily="34" charset="0"/>
              <a:cs typeface="Lato" panose="020F0502020204030203" pitchFamily="34" charset="0"/>
            </a:endParaRPr>
          </a:p>
          <a:p>
            <a:endParaRPr lang="en-US" sz="1600">
              <a:latin typeface="Lato" panose="020F0502020204030203" pitchFamily="34" charset="0"/>
              <a:ea typeface="Lato" panose="020F0502020204030203" pitchFamily="34" charset="0"/>
              <a:cs typeface="Lato" panose="020F0502020204030203" pitchFamily="34" charset="0"/>
            </a:endParaRPr>
          </a:p>
          <a:p>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Sử</a:t>
            </a:r>
            <a:r>
              <a:rPr lang="en-US" sz="1600">
                <a:latin typeface="Lato" panose="020F0502020204030203" pitchFamily="34" charset="0"/>
                <a:ea typeface="Lato" panose="020F0502020204030203" pitchFamily="34" charset="0"/>
                <a:cs typeface="Lato" panose="020F0502020204030203" pitchFamily="34" charset="0"/>
              </a:rPr>
              <a:t> </a:t>
            </a:r>
            <a:r>
              <a:rPr lang="vi-VN" sz="1600">
                <a:latin typeface="Lato" panose="020F0502020204030203" pitchFamily="34" charset="0"/>
                <a:ea typeface="Lato" panose="020F0502020204030203" pitchFamily="34" charset="0"/>
                <a:cs typeface="Lato" panose="020F0502020204030203" pitchFamily="34" charset="0"/>
              </a:rPr>
              <a:t>dụng Lag=[1, 4] (dữ liệu quý trước và dữ liệu cùng kỳ năm ngoái).</a:t>
            </a:r>
            <a:endParaRPr lang="en-US" sz="160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491997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6C02-56A9-E7A6-AD91-0CF39063E2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BBE6D9-9617-6C05-9003-E6506F33C0E6}"/>
              </a:ext>
            </a:extLst>
          </p:cNvPr>
          <p:cNvSpPr>
            <a:spLocks noGrp="1"/>
          </p:cNvSpPr>
          <p:nvPr>
            <p:ph type="sldNum" sz="quarter" idx="12"/>
          </p:nvPr>
        </p:nvSpPr>
        <p:spPr/>
        <p:txBody>
          <a:bodyPr/>
          <a:lstStyle/>
          <a:p>
            <a:fld id="{9EA0BE3B-158A-4EDF-80DC-E394A0D1600F}" type="slidenum">
              <a:rPr lang="en-US" smtClean="0"/>
              <a:pPr/>
              <a:t>18</a:t>
            </a:fld>
            <a:endParaRPr lang="en-US"/>
          </a:p>
        </p:txBody>
      </p:sp>
      <p:sp>
        <p:nvSpPr>
          <p:cNvPr id="3" name="Title 2">
            <a:extLst>
              <a:ext uri="{FF2B5EF4-FFF2-40B4-BE49-F238E27FC236}">
                <a16:creationId xmlns:a16="http://schemas.microsoft.com/office/drawing/2014/main" id="{EB38421F-2238-EC63-FB1E-62A1145CEE3F}"/>
              </a:ext>
            </a:extLst>
          </p:cNvPr>
          <p:cNvSpPr>
            <a:spLocks noGrp="1"/>
          </p:cNvSpPr>
          <p:nvPr>
            <p:ph type="title"/>
          </p:nvPr>
        </p:nvSpPr>
        <p:spPr/>
        <p:txBody>
          <a:bodyPr lIns="91440" tIns="45720" rIns="91440" bIns="45720" anchor="t"/>
          <a:lstStyle/>
          <a:p>
            <a:r>
              <a:rPr lang="en-US">
                <a:latin typeface="Lato"/>
                <a:ea typeface="Lato"/>
                <a:cs typeface="Lato"/>
              </a:rPr>
              <a:t>3.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mô</a:t>
            </a:r>
            <a:r>
              <a:rPr lang="en-US">
                <a:latin typeface="Lato"/>
                <a:ea typeface="Lato"/>
                <a:cs typeface="Lato"/>
              </a:rPr>
              <a:t> </a:t>
            </a:r>
            <a:r>
              <a:rPr lang="en-US" err="1">
                <a:latin typeface="Lato"/>
                <a:ea typeface="Lato"/>
                <a:cs typeface="Lato"/>
              </a:rPr>
              <a:t>hình</a:t>
            </a:r>
            <a:r>
              <a:rPr lang="en-US">
                <a:latin typeface="Lato"/>
                <a:ea typeface="Lato"/>
                <a:cs typeface="Lato"/>
              </a:rPr>
              <a:t> </a:t>
            </a:r>
            <a:r>
              <a:rPr lang="en-US" err="1">
                <a:latin typeface="Lato"/>
                <a:ea typeface="Lato"/>
                <a:cs typeface="Lato"/>
              </a:rPr>
              <a:t>dự</a:t>
            </a:r>
            <a:r>
              <a:rPr lang="en-US">
                <a:latin typeface="Lato"/>
                <a:ea typeface="Lato"/>
                <a:cs typeface="Lato"/>
              </a:rPr>
              <a:t> </a:t>
            </a:r>
            <a:r>
              <a:rPr lang="en-US" err="1">
                <a:latin typeface="Lato"/>
                <a:ea typeface="Lato"/>
                <a:cs typeface="Lato"/>
              </a:rPr>
              <a:t>đoán</a:t>
            </a:r>
            <a:endParaRPr lang="en-US">
              <a:latin typeface="Lato"/>
            </a:endParaRPr>
          </a:p>
          <a:p>
            <a:endParaRPr lang="en-US">
              <a:latin typeface="Lato"/>
              <a:ea typeface="Lato"/>
              <a:cs typeface="Lato"/>
            </a:endParaRPr>
          </a:p>
        </p:txBody>
      </p:sp>
      <p:sp>
        <p:nvSpPr>
          <p:cNvPr id="10" name="TextBox 9">
            <a:extLst>
              <a:ext uri="{FF2B5EF4-FFF2-40B4-BE49-F238E27FC236}">
                <a16:creationId xmlns:a16="http://schemas.microsoft.com/office/drawing/2014/main" id="{30B4CF73-B259-8A73-FE7C-049AC3910E76}"/>
              </a:ext>
            </a:extLst>
          </p:cNvPr>
          <p:cNvSpPr txBox="1"/>
          <p:nvPr/>
        </p:nvSpPr>
        <p:spPr>
          <a:xfrm>
            <a:off x="235077" y="847285"/>
            <a:ext cx="2036135" cy="369332"/>
          </a:xfrm>
          <a:prstGeom prst="rect">
            <a:avLst/>
          </a:prstGeom>
          <a:noFill/>
        </p:spPr>
        <p:txBody>
          <a:bodyPr wrap="none" lIns="91440" tIns="45720" rIns="91440" bIns="45720" rtlCol="0" anchor="t">
            <a:spAutoFit/>
          </a:bodyPr>
          <a:lstStyle/>
          <a:p>
            <a:r>
              <a:rPr lang="en-US" b="1">
                <a:latin typeface="Lato"/>
                <a:ea typeface="Lato"/>
                <a:cs typeface="Lato"/>
              </a:rPr>
              <a:t>Fine-tuned Model</a:t>
            </a:r>
          </a:p>
        </p:txBody>
      </p:sp>
      <p:sp>
        <p:nvSpPr>
          <p:cNvPr id="4" name="TextBox 3">
            <a:extLst>
              <a:ext uri="{FF2B5EF4-FFF2-40B4-BE49-F238E27FC236}">
                <a16:creationId xmlns:a16="http://schemas.microsoft.com/office/drawing/2014/main" id="{DCF79ED1-5FCA-8315-E3DB-D0DF64C13311}"/>
              </a:ext>
            </a:extLst>
          </p:cNvPr>
          <p:cNvSpPr txBox="1"/>
          <p:nvPr/>
        </p:nvSpPr>
        <p:spPr>
          <a:xfrm>
            <a:off x="235077" y="1295448"/>
            <a:ext cx="8395969" cy="1754326"/>
          </a:xfrm>
          <a:prstGeom prst="rect">
            <a:avLst/>
          </a:prstGeom>
          <a:noFill/>
        </p:spPr>
        <p:txBody>
          <a:bodyPr wrap="square" lIns="91440" tIns="45720" rIns="91440" bIns="45720" rtlCol="0" anchor="t">
            <a:spAutoFit/>
          </a:bodyPr>
          <a:lstStyle/>
          <a:p>
            <a:r>
              <a:rPr lang="vi-VN">
                <a:latin typeface="Lato" panose="020F0502020204030203" pitchFamily="34" charset="0"/>
                <a:ea typeface="Lato" panose="020F0502020204030203" pitchFamily="34" charset="0"/>
                <a:cs typeface="Lato" panose="020F0502020204030203" pitchFamily="34" charset="0"/>
              </a:rPr>
              <a:t>Mục tiêu: Chuyển giao tri thức từ mô hình Hong Kong sang dữ liệu địa phương để tăng độ chính xác cho vùng nuôi</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tại</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Việt</a:t>
            </a:r>
            <a:r>
              <a:rPr lang="en-US">
                <a:latin typeface="Lato" panose="020F0502020204030203" pitchFamily="34" charset="0"/>
                <a:ea typeface="Lato" panose="020F0502020204030203" pitchFamily="34" charset="0"/>
                <a:cs typeface="Lato" panose="020F0502020204030203" pitchFamily="34" charset="0"/>
              </a:rPr>
              <a:t> Nam.</a:t>
            </a:r>
          </a:p>
          <a:p>
            <a:endParaRPr lang="en-US">
              <a:latin typeface="Lato" panose="020F0502020204030203" pitchFamily="34" charset="0"/>
              <a:ea typeface="Lato" panose="020F0502020204030203" pitchFamily="34" charset="0"/>
              <a:cs typeface="Lato" panose="020F0502020204030203" pitchFamily="34" charset="0"/>
            </a:endParaRPr>
          </a:p>
          <a:p>
            <a:r>
              <a:rPr lang="en-US" err="1">
                <a:latin typeface="Lato" panose="020F0502020204030203" pitchFamily="34" charset="0"/>
                <a:ea typeface="Lato" panose="020F0502020204030203" pitchFamily="34" charset="0"/>
                <a:cs typeface="Lato" panose="020F0502020204030203" pitchFamily="34" charset="0"/>
              </a:rPr>
              <a:t>Đặt</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learning_rate</a:t>
            </a:r>
            <a:r>
              <a:rPr lang="en-US">
                <a:latin typeface="Lato" panose="020F0502020204030203" pitchFamily="34" charset="0"/>
                <a:ea typeface="Lato" panose="020F0502020204030203" pitchFamily="34" charset="0"/>
                <a:cs typeface="Lato" panose="020F0502020204030203" pitchFamily="34" charset="0"/>
              </a:rPr>
              <a:t> = 0.005, </a:t>
            </a:r>
            <a:r>
              <a:rPr lang="en-US" err="1">
                <a:latin typeface="Lato" panose="020F0502020204030203" pitchFamily="34" charset="0"/>
                <a:ea typeface="Lato" panose="020F0502020204030203" pitchFamily="34" charset="0"/>
                <a:cs typeface="Lato" panose="020F0502020204030203" pitchFamily="34" charset="0"/>
              </a:rPr>
              <a:t>giúp</a:t>
            </a:r>
            <a:r>
              <a:rPr lang="en-US">
                <a:latin typeface="Lato" panose="020F0502020204030203" pitchFamily="34" charset="0"/>
                <a:ea typeface="Lato" panose="020F0502020204030203" pitchFamily="34" charset="0"/>
                <a:cs typeface="Lato" panose="020F0502020204030203" pitchFamily="34" charset="0"/>
              </a:rPr>
              <a:t> </a:t>
            </a:r>
            <a:r>
              <a:rPr lang="vi-VN">
                <a:latin typeface="Lato" panose="020F0502020204030203" pitchFamily="34" charset="0"/>
                <a:ea typeface="Lato" panose="020F0502020204030203" pitchFamily="34" charset="0"/>
                <a:cs typeface="Lato" panose="020F0502020204030203" pitchFamily="34" charset="0"/>
              </a:rPr>
              <a:t>mô hình tiếp thu đặc điểm mới của vùng biển Quảng Ninh nhưng không bị quê</a:t>
            </a:r>
            <a:r>
              <a:rPr lang="en-US">
                <a:latin typeface="Lato" panose="020F0502020204030203" pitchFamily="34" charset="0"/>
                <a:ea typeface="Lato" panose="020F0502020204030203" pitchFamily="34" charset="0"/>
                <a:cs typeface="Lato" panose="020F0502020204030203" pitchFamily="34" charset="0"/>
              </a:rPr>
              <a:t>n </a:t>
            </a:r>
            <a:r>
              <a:rPr lang="vi-VN">
                <a:latin typeface="Lato" panose="020F0502020204030203" pitchFamily="34" charset="0"/>
                <a:ea typeface="Lato" panose="020F0502020204030203" pitchFamily="34" charset="0"/>
                <a:cs typeface="Lato" panose="020F0502020204030203" pitchFamily="34" charset="0"/>
              </a:rPr>
              <a:t>các quy luật vật lý/sinh hóa tổng quát đã học từ</a:t>
            </a:r>
            <a:r>
              <a:rPr lang="en-US">
                <a:latin typeface="Lato" panose="020F0502020204030203" pitchFamily="34" charset="0"/>
                <a:ea typeface="Lato" panose="020F0502020204030203" pitchFamily="34" charset="0"/>
                <a:cs typeface="Lato" panose="020F0502020204030203" pitchFamily="34" charset="0"/>
              </a:rPr>
              <a:t> </a:t>
            </a:r>
            <a:r>
              <a:rPr lang="en-US" err="1">
                <a:latin typeface="Lato" panose="020F0502020204030203" pitchFamily="34" charset="0"/>
                <a:ea typeface="Lato" panose="020F0502020204030203" pitchFamily="34" charset="0"/>
                <a:cs typeface="Lato" panose="020F0502020204030203" pitchFamily="34" charset="0"/>
              </a:rPr>
              <a:t>nguồn</a:t>
            </a:r>
            <a:r>
              <a:rPr lang="vi-VN">
                <a:latin typeface="Lato" panose="020F0502020204030203" pitchFamily="34" charset="0"/>
                <a:ea typeface="Lato" panose="020F0502020204030203" pitchFamily="34" charset="0"/>
                <a:cs typeface="Lato" panose="020F0502020204030203" pitchFamily="34" charset="0"/>
              </a:rPr>
              <a:t> dữ liệu Hong Kong.</a:t>
            </a:r>
            <a:endParaRPr lang="en-US">
              <a:latin typeface="Lato" panose="020F0502020204030203" pitchFamily="34" charset="0"/>
              <a:ea typeface="Lato" panose="020F0502020204030203" pitchFamily="34" charset="0"/>
              <a:cs typeface="Lato" panose="020F0502020204030203" pitchFamily="34" charset="0"/>
            </a:endParaRPr>
          </a:p>
        </p:txBody>
      </p:sp>
      <p:pic>
        <p:nvPicPr>
          <p:cNvPr id="6" name="Picture 5">
            <a:extLst>
              <a:ext uri="{FF2B5EF4-FFF2-40B4-BE49-F238E27FC236}">
                <a16:creationId xmlns:a16="http://schemas.microsoft.com/office/drawing/2014/main" id="{D310754A-54B4-EF4D-2A5B-E15ED9990F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958" y="3297995"/>
            <a:ext cx="7718084" cy="2270024"/>
          </a:xfrm>
          <a:prstGeom prst="rect">
            <a:avLst/>
          </a:prstGeom>
        </p:spPr>
      </p:pic>
    </p:spTree>
    <p:extLst>
      <p:ext uri="{BB962C8B-B14F-4D97-AF65-F5344CB8AC3E}">
        <p14:creationId xmlns:p14="http://schemas.microsoft.com/office/powerpoint/2010/main" val="2955321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6C02-56A9-E7A6-AD91-0CF39063E2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BBE6D9-9617-6C05-9003-E6506F33C0E6}"/>
              </a:ext>
            </a:extLst>
          </p:cNvPr>
          <p:cNvSpPr>
            <a:spLocks noGrp="1"/>
          </p:cNvSpPr>
          <p:nvPr>
            <p:ph type="sldNum" sz="quarter" idx="12"/>
          </p:nvPr>
        </p:nvSpPr>
        <p:spPr/>
        <p:txBody>
          <a:bodyPr/>
          <a:lstStyle/>
          <a:p>
            <a:fld id="{9EA0BE3B-158A-4EDF-80DC-E394A0D1600F}" type="slidenum">
              <a:rPr lang="en-US" smtClean="0"/>
              <a:pPr/>
              <a:t>19</a:t>
            </a:fld>
            <a:endParaRPr lang="en-US"/>
          </a:p>
        </p:txBody>
      </p:sp>
      <p:sp>
        <p:nvSpPr>
          <p:cNvPr id="3" name="Title 2">
            <a:extLst>
              <a:ext uri="{FF2B5EF4-FFF2-40B4-BE49-F238E27FC236}">
                <a16:creationId xmlns:a16="http://schemas.microsoft.com/office/drawing/2014/main" id="{EB38421F-2238-EC63-FB1E-62A1145CEE3F}"/>
              </a:ext>
            </a:extLst>
          </p:cNvPr>
          <p:cNvSpPr>
            <a:spLocks noGrp="1"/>
          </p:cNvSpPr>
          <p:nvPr>
            <p:ph type="title"/>
          </p:nvPr>
        </p:nvSpPr>
        <p:spPr/>
        <p:txBody>
          <a:bodyPr lIns="91440" tIns="45720" rIns="91440" bIns="45720" anchor="t"/>
          <a:lstStyle/>
          <a:p>
            <a:r>
              <a:rPr lang="en-US">
                <a:latin typeface="Lato"/>
                <a:ea typeface="Lato"/>
                <a:cs typeface="Lato"/>
              </a:rPr>
              <a:t>3.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mô</a:t>
            </a:r>
            <a:r>
              <a:rPr lang="en-US">
                <a:latin typeface="Lato"/>
                <a:ea typeface="Lato"/>
                <a:cs typeface="Lato"/>
              </a:rPr>
              <a:t> </a:t>
            </a:r>
            <a:r>
              <a:rPr lang="en-US" err="1">
                <a:latin typeface="Lato"/>
                <a:ea typeface="Lato"/>
                <a:cs typeface="Lato"/>
              </a:rPr>
              <a:t>hình</a:t>
            </a:r>
            <a:r>
              <a:rPr lang="en-US">
                <a:latin typeface="Lato"/>
                <a:ea typeface="Lato"/>
                <a:cs typeface="Lato"/>
              </a:rPr>
              <a:t> </a:t>
            </a:r>
            <a:r>
              <a:rPr lang="en-US" err="1">
                <a:latin typeface="Lato"/>
                <a:ea typeface="Lato"/>
                <a:cs typeface="Lato"/>
              </a:rPr>
              <a:t>dự</a:t>
            </a:r>
            <a:r>
              <a:rPr lang="en-US">
                <a:latin typeface="Lato"/>
                <a:ea typeface="Lato"/>
                <a:cs typeface="Lato"/>
              </a:rPr>
              <a:t> </a:t>
            </a:r>
            <a:r>
              <a:rPr lang="en-US" err="1">
                <a:latin typeface="Lato"/>
                <a:ea typeface="Lato"/>
                <a:cs typeface="Lato"/>
              </a:rPr>
              <a:t>đoán</a:t>
            </a:r>
            <a:endParaRPr lang="en-US">
              <a:latin typeface="Lato"/>
            </a:endParaRPr>
          </a:p>
          <a:p>
            <a:endParaRPr lang="en-US">
              <a:latin typeface="Lato"/>
              <a:ea typeface="Lato"/>
              <a:cs typeface="Lato"/>
            </a:endParaRPr>
          </a:p>
        </p:txBody>
      </p:sp>
      <p:sp>
        <p:nvSpPr>
          <p:cNvPr id="10" name="TextBox 9">
            <a:extLst>
              <a:ext uri="{FF2B5EF4-FFF2-40B4-BE49-F238E27FC236}">
                <a16:creationId xmlns:a16="http://schemas.microsoft.com/office/drawing/2014/main" id="{30B4CF73-B259-8A73-FE7C-049AC3910E76}"/>
              </a:ext>
            </a:extLst>
          </p:cNvPr>
          <p:cNvSpPr txBox="1"/>
          <p:nvPr/>
        </p:nvSpPr>
        <p:spPr>
          <a:xfrm>
            <a:off x="235077" y="847285"/>
            <a:ext cx="4322017" cy="369332"/>
          </a:xfrm>
          <a:prstGeom prst="rect">
            <a:avLst/>
          </a:prstGeom>
          <a:noFill/>
        </p:spPr>
        <p:txBody>
          <a:bodyPr wrap="none" lIns="91440" tIns="45720" rIns="91440" bIns="45720" rtlCol="0" anchor="t">
            <a:spAutoFit/>
          </a:bodyPr>
          <a:lstStyle/>
          <a:p>
            <a:r>
              <a:rPr lang="en-US" b="1" err="1">
                <a:latin typeface="Lato"/>
                <a:ea typeface="Lato"/>
                <a:cs typeface="Lato"/>
              </a:rPr>
              <a:t>Mô</a:t>
            </a:r>
            <a:r>
              <a:rPr lang="en-US" b="1">
                <a:latin typeface="Lato"/>
                <a:ea typeface="Lato"/>
                <a:cs typeface="Lato"/>
              </a:rPr>
              <a:t> </a:t>
            </a:r>
            <a:r>
              <a:rPr lang="en-US" b="1" err="1">
                <a:latin typeface="Lato"/>
                <a:ea typeface="Lato"/>
                <a:cs typeface="Lato"/>
              </a:rPr>
              <a:t>hình</a:t>
            </a:r>
            <a:r>
              <a:rPr lang="en-US" b="1">
                <a:latin typeface="Lato"/>
                <a:ea typeface="Lato"/>
                <a:cs typeface="Lato"/>
              </a:rPr>
              <a:t> </a:t>
            </a:r>
            <a:r>
              <a:rPr lang="en-US" b="1" err="1">
                <a:latin typeface="Lato"/>
                <a:ea typeface="Lato"/>
                <a:cs typeface="Lato"/>
              </a:rPr>
              <a:t>cho</a:t>
            </a:r>
            <a:r>
              <a:rPr lang="en-US" b="1">
                <a:latin typeface="Lato"/>
                <a:ea typeface="Lato"/>
                <a:cs typeface="Lato"/>
              </a:rPr>
              <a:t> </a:t>
            </a:r>
            <a:r>
              <a:rPr lang="en-US" b="1" err="1">
                <a:latin typeface="Lato"/>
                <a:ea typeface="Lato"/>
                <a:cs typeface="Lato"/>
              </a:rPr>
              <a:t>các</a:t>
            </a:r>
            <a:r>
              <a:rPr lang="en-US" b="1">
                <a:latin typeface="Lato"/>
                <a:ea typeface="Lato"/>
                <a:cs typeface="Lato"/>
              </a:rPr>
              <a:t> </a:t>
            </a:r>
            <a:r>
              <a:rPr lang="en-US" b="1" err="1">
                <a:latin typeface="Lato"/>
                <a:ea typeface="Lato"/>
                <a:cs typeface="Lato"/>
              </a:rPr>
              <a:t>đặc</a:t>
            </a:r>
            <a:r>
              <a:rPr lang="en-US" b="1">
                <a:latin typeface="Lato"/>
                <a:ea typeface="Lato"/>
                <a:cs typeface="Lato"/>
              </a:rPr>
              <a:t> </a:t>
            </a:r>
            <a:r>
              <a:rPr lang="en-US" b="1" err="1">
                <a:latin typeface="Lato"/>
                <a:ea typeface="Lato"/>
                <a:cs typeface="Lato"/>
              </a:rPr>
              <a:t>trưng</a:t>
            </a:r>
            <a:r>
              <a:rPr lang="en-US" b="1">
                <a:latin typeface="Lato"/>
                <a:ea typeface="Lato"/>
                <a:cs typeface="Lato"/>
              </a:rPr>
              <a:t> </a:t>
            </a:r>
            <a:r>
              <a:rPr lang="en-US" b="1" err="1">
                <a:latin typeface="Lato"/>
                <a:ea typeface="Lato"/>
                <a:cs typeface="Lato"/>
              </a:rPr>
              <a:t>kim</a:t>
            </a:r>
            <a:r>
              <a:rPr lang="en-US" b="1">
                <a:latin typeface="Lato"/>
                <a:ea typeface="Lato"/>
                <a:cs typeface="Lato"/>
              </a:rPr>
              <a:t> </a:t>
            </a:r>
            <a:r>
              <a:rPr lang="en-US" b="1" err="1">
                <a:latin typeface="Lato"/>
                <a:ea typeface="Lato"/>
                <a:cs typeface="Lato"/>
              </a:rPr>
              <a:t>loại</a:t>
            </a:r>
            <a:r>
              <a:rPr lang="en-US" b="1">
                <a:latin typeface="Lato"/>
                <a:ea typeface="Lato"/>
                <a:cs typeface="Lato"/>
              </a:rPr>
              <a:t> </a:t>
            </a:r>
            <a:r>
              <a:rPr lang="en-US" b="1" err="1">
                <a:latin typeface="Lato"/>
                <a:ea typeface="Lato"/>
                <a:cs typeface="Lato"/>
              </a:rPr>
              <a:t>nặng</a:t>
            </a:r>
            <a:endParaRPr lang="en-US" b="1">
              <a:latin typeface="Lato"/>
              <a:ea typeface="Lato"/>
              <a:cs typeface="Lato"/>
            </a:endParaRPr>
          </a:p>
        </p:txBody>
      </p:sp>
      <p:sp>
        <p:nvSpPr>
          <p:cNvPr id="4" name="TextBox 3">
            <a:extLst>
              <a:ext uri="{FF2B5EF4-FFF2-40B4-BE49-F238E27FC236}">
                <a16:creationId xmlns:a16="http://schemas.microsoft.com/office/drawing/2014/main" id="{DCF79ED1-5FCA-8315-E3DB-D0DF64C13311}"/>
              </a:ext>
            </a:extLst>
          </p:cNvPr>
          <p:cNvSpPr txBox="1"/>
          <p:nvPr/>
        </p:nvSpPr>
        <p:spPr>
          <a:xfrm>
            <a:off x="235077" y="1295448"/>
            <a:ext cx="8395969" cy="923330"/>
          </a:xfrm>
          <a:prstGeom prst="rect">
            <a:avLst/>
          </a:prstGeom>
          <a:noFill/>
        </p:spPr>
        <p:txBody>
          <a:bodyPr wrap="square" lIns="91440" tIns="45720" rIns="91440" bIns="45720" rtlCol="0" anchor="t">
            <a:spAutoFit/>
          </a:bodyPr>
          <a:lstStyle/>
          <a:p>
            <a:r>
              <a:rPr lang="vi-VN">
                <a:latin typeface="Lato" panose="020F0502020204030203" pitchFamily="34" charset="0"/>
                <a:ea typeface="Lato" panose="020F0502020204030203" pitchFamily="34" charset="0"/>
                <a:cs typeface="Lato" panose="020F0502020204030203" pitchFamily="34" charset="0"/>
              </a:rPr>
              <a:t>Sử dụng mô hình XGBoost chuyên biệt được huấn luyện để dự báo nhóm biến kim loại nặng (As, Cd, Pb, Hg, Cu, Zn, v.v.), vốn có đặc tính phân bố và động học khác với các biến môi trường thông thường.</a:t>
            </a:r>
          </a:p>
        </p:txBody>
      </p:sp>
      <p:sp>
        <p:nvSpPr>
          <p:cNvPr id="5" name="Rounded Rectangle 4">
            <a:extLst>
              <a:ext uri="{FF2B5EF4-FFF2-40B4-BE49-F238E27FC236}">
                <a16:creationId xmlns:a16="http://schemas.microsoft.com/office/drawing/2014/main" id="{B4DAFA44-9961-23BC-2E74-FA41C1D0E9E3}"/>
              </a:ext>
            </a:extLst>
          </p:cNvPr>
          <p:cNvSpPr/>
          <p:nvPr/>
        </p:nvSpPr>
        <p:spPr>
          <a:xfrm>
            <a:off x="715617" y="3428999"/>
            <a:ext cx="1659835" cy="92333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VN" sz="1600">
                <a:latin typeface="Lato" panose="020F0502020204030203" pitchFamily="34" charset="0"/>
                <a:ea typeface="Lato" panose="020F0502020204030203" pitchFamily="34" charset="0"/>
                <a:cs typeface="Lato" panose="020F0502020204030203" pitchFamily="34" charset="0"/>
              </a:rPr>
              <a:t>Data QN</a:t>
            </a:r>
          </a:p>
          <a:p>
            <a:pPr algn="ctr"/>
            <a:r>
              <a:rPr lang="en-VN" sz="1600">
                <a:latin typeface="Lato" panose="020F0502020204030203" pitchFamily="34" charset="0"/>
                <a:ea typeface="Lato" panose="020F0502020204030203" pitchFamily="34" charset="0"/>
                <a:cs typeface="Lato" panose="020F0502020204030203" pitchFamily="34" charset="0"/>
              </a:rPr>
              <a:t>(cleaned)</a:t>
            </a:r>
          </a:p>
        </p:txBody>
      </p:sp>
      <p:sp>
        <p:nvSpPr>
          <p:cNvPr id="7" name="Rounded Rectangle 6">
            <a:extLst>
              <a:ext uri="{FF2B5EF4-FFF2-40B4-BE49-F238E27FC236}">
                <a16:creationId xmlns:a16="http://schemas.microsoft.com/office/drawing/2014/main" id="{D0FBEE25-F2E6-5DD8-98F2-406CEA782B13}"/>
              </a:ext>
            </a:extLst>
          </p:cNvPr>
          <p:cNvSpPr/>
          <p:nvPr/>
        </p:nvSpPr>
        <p:spPr>
          <a:xfrm>
            <a:off x="3200400" y="3428999"/>
            <a:ext cx="2153478" cy="92333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VN" sz="1600">
                <a:latin typeface="Lato" panose="020F0502020204030203" pitchFamily="34" charset="0"/>
                <a:ea typeface="Lato" panose="020F0502020204030203" pitchFamily="34" charset="0"/>
                <a:cs typeface="Lato" panose="020F0502020204030203" pitchFamily="34" charset="0"/>
              </a:rPr>
              <a:t>Dữ liệu chuẩn hoá</a:t>
            </a:r>
          </a:p>
          <a:p>
            <a:pPr algn="ctr"/>
            <a:r>
              <a:rPr lang="en-VN" sz="1600">
                <a:latin typeface="Lato" panose="020F0502020204030203" pitchFamily="34" charset="0"/>
                <a:ea typeface="Lato" panose="020F0502020204030203" pitchFamily="34" charset="0"/>
                <a:cs typeface="Lato" panose="020F0502020204030203" pitchFamily="34" charset="0"/>
              </a:rPr>
              <a:t>(Lấy các đặc trưng kim loại, tạo biến lag)</a:t>
            </a:r>
          </a:p>
        </p:txBody>
      </p:sp>
      <p:sp>
        <p:nvSpPr>
          <p:cNvPr id="8" name="Rounded Rectangle 7">
            <a:extLst>
              <a:ext uri="{FF2B5EF4-FFF2-40B4-BE49-F238E27FC236}">
                <a16:creationId xmlns:a16="http://schemas.microsoft.com/office/drawing/2014/main" id="{C3C98C96-4BD0-C5D3-E9CE-34ED9F8E95C4}"/>
              </a:ext>
            </a:extLst>
          </p:cNvPr>
          <p:cNvSpPr/>
          <p:nvPr/>
        </p:nvSpPr>
        <p:spPr>
          <a:xfrm>
            <a:off x="6178826" y="3428999"/>
            <a:ext cx="1659835" cy="92333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VN" sz="1600">
                <a:latin typeface="Lato" panose="020F0502020204030203" pitchFamily="34" charset="0"/>
                <a:ea typeface="Lato" panose="020F0502020204030203" pitchFamily="34" charset="0"/>
                <a:cs typeface="Lato" panose="020F0502020204030203" pitchFamily="34" charset="0"/>
              </a:rPr>
              <a:t>Model</a:t>
            </a:r>
          </a:p>
        </p:txBody>
      </p:sp>
      <p:cxnSp>
        <p:nvCxnSpPr>
          <p:cNvPr id="11" name="Straight Arrow Connector 10">
            <a:extLst>
              <a:ext uri="{FF2B5EF4-FFF2-40B4-BE49-F238E27FC236}">
                <a16:creationId xmlns:a16="http://schemas.microsoft.com/office/drawing/2014/main" id="{8FB45D7D-7421-1995-E20D-2A8C5888F425}"/>
              </a:ext>
            </a:extLst>
          </p:cNvPr>
          <p:cNvCxnSpPr>
            <a:stCxn id="5" idx="3"/>
            <a:endCxn id="7" idx="1"/>
          </p:cNvCxnSpPr>
          <p:nvPr/>
        </p:nvCxnSpPr>
        <p:spPr>
          <a:xfrm>
            <a:off x="2375452" y="3890664"/>
            <a:ext cx="8249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C2E3889-92FA-F8D3-E40E-DE3FF9584EE7}"/>
              </a:ext>
            </a:extLst>
          </p:cNvPr>
          <p:cNvCxnSpPr/>
          <p:nvPr/>
        </p:nvCxnSpPr>
        <p:spPr>
          <a:xfrm>
            <a:off x="5353878" y="3890664"/>
            <a:ext cx="8249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449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69ABB-86E0-FB76-D7F8-4B027AB928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EBD9CB-7D37-5322-6E5E-3169A086962A}"/>
              </a:ext>
            </a:extLst>
          </p:cNvPr>
          <p:cNvSpPr>
            <a:spLocks noGrp="1"/>
          </p:cNvSpPr>
          <p:nvPr>
            <p:ph type="sldNum" sz="quarter" idx="12"/>
          </p:nvPr>
        </p:nvSpPr>
        <p:spPr/>
        <p:txBody>
          <a:bodyPr/>
          <a:lstStyle/>
          <a:p>
            <a:fld id="{9EA0BE3B-158A-4EDF-80DC-E394A0D1600F}" type="slidenum">
              <a:rPr lang="en-US" smtClean="0"/>
              <a:pPr/>
              <a:t>20</a:t>
            </a:fld>
            <a:endParaRPr lang="en-US"/>
          </a:p>
        </p:txBody>
      </p:sp>
      <p:sp>
        <p:nvSpPr>
          <p:cNvPr id="3" name="Title 2">
            <a:extLst>
              <a:ext uri="{FF2B5EF4-FFF2-40B4-BE49-F238E27FC236}">
                <a16:creationId xmlns:a16="http://schemas.microsoft.com/office/drawing/2014/main" id="{FEB2A970-9056-4C2F-3FE4-5C249F2932EC}"/>
              </a:ext>
            </a:extLst>
          </p:cNvPr>
          <p:cNvSpPr>
            <a:spLocks noGrp="1"/>
          </p:cNvSpPr>
          <p:nvPr>
            <p:ph type="title"/>
          </p:nvPr>
        </p:nvSpPr>
        <p:spPr/>
        <p:txBody>
          <a:bodyPr lIns="91440" tIns="45720" rIns="91440" bIns="45720" anchor="t"/>
          <a:lstStyle/>
          <a:p>
            <a:r>
              <a:rPr lang="en-US">
                <a:latin typeface="Lato"/>
                <a:ea typeface="Lato"/>
                <a:cs typeface="Lato"/>
              </a:rPr>
              <a:t>3.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mô</a:t>
            </a:r>
            <a:r>
              <a:rPr lang="en-US">
                <a:latin typeface="Lato"/>
                <a:ea typeface="Lato"/>
                <a:cs typeface="Lato"/>
              </a:rPr>
              <a:t> </a:t>
            </a:r>
            <a:r>
              <a:rPr lang="en-US" err="1">
                <a:latin typeface="Lato"/>
                <a:ea typeface="Lato"/>
                <a:cs typeface="Lato"/>
              </a:rPr>
              <a:t>hình</a:t>
            </a:r>
            <a:r>
              <a:rPr lang="en-US">
                <a:latin typeface="Lato"/>
                <a:ea typeface="Lato"/>
                <a:cs typeface="Lato"/>
              </a:rPr>
              <a:t> </a:t>
            </a:r>
            <a:r>
              <a:rPr lang="en-US" err="1">
                <a:latin typeface="Lato"/>
                <a:ea typeface="Lato"/>
                <a:cs typeface="Lato"/>
              </a:rPr>
              <a:t>dự</a:t>
            </a:r>
            <a:r>
              <a:rPr lang="en-US">
                <a:latin typeface="Lato"/>
                <a:ea typeface="Lato"/>
                <a:cs typeface="Lato"/>
              </a:rPr>
              <a:t> </a:t>
            </a:r>
            <a:r>
              <a:rPr lang="en-US" err="1">
                <a:latin typeface="Lato"/>
                <a:ea typeface="Lato"/>
                <a:cs typeface="Lato"/>
              </a:rPr>
              <a:t>đoán</a:t>
            </a:r>
            <a:endParaRPr lang="en-US">
              <a:latin typeface="Lato"/>
            </a:endParaRPr>
          </a:p>
          <a:p>
            <a:endParaRPr lang="en-US">
              <a:latin typeface="Lato"/>
              <a:ea typeface="Lato"/>
              <a:cs typeface="Lato"/>
            </a:endParaRPr>
          </a:p>
        </p:txBody>
      </p:sp>
      <p:sp>
        <p:nvSpPr>
          <p:cNvPr id="10" name="TextBox 9">
            <a:extLst>
              <a:ext uri="{FF2B5EF4-FFF2-40B4-BE49-F238E27FC236}">
                <a16:creationId xmlns:a16="http://schemas.microsoft.com/office/drawing/2014/main" id="{6798991C-030C-5BCD-C4E7-302F8BF16385}"/>
              </a:ext>
            </a:extLst>
          </p:cNvPr>
          <p:cNvSpPr txBox="1"/>
          <p:nvPr/>
        </p:nvSpPr>
        <p:spPr>
          <a:xfrm>
            <a:off x="235077" y="904352"/>
            <a:ext cx="2146742" cy="369332"/>
          </a:xfrm>
          <a:prstGeom prst="rect">
            <a:avLst/>
          </a:prstGeom>
          <a:noFill/>
        </p:spPr>
        <p:txBody>
          <a:bodyPr wrap="none" lIns="91440" tIns="45720" rIns="91440" bIns="45720" rtlCol="0" anchor="t">
            <a:spAutoFit/>
          </a:bodyPr>
          <a:lstStyle/>
          <a:p>
            <a:r>
              <a:rPr lang="en-US" b="1" err="1">
                <a:latin typeface="Lato"/>
                <a:ea typeface="Lato"/>
                <a:cs typeface="Lato"/>
              </a:rPr>
              <a:t>Đánh</a:t>
            </a:r>
            <a:r>
              <a:rPr lang="en-US" b="1">
                <a:latin typeface="Lato"/>
                <a:ea typeface="Lato"/>
                <a:cs typeface="Lato"/>
              </a:rPr>
              <a:t> </a:t>
            </a:r>
            <a:r>
              <a:rPr lang="en-US" b="1" err="1">
                <a:latin typeface="Lato"/>
                <a:ea typeface="Lato"/>
                <a:cs typeface="Lato"/>
              </a:rPr>
              <a:t>giá</a:t>
            </a:r>
            <a:r>
              <a:rPr lang="en-US" b="1">
                <a:latin typeface="Lato"/>
                <a:ea typeface="Lato"/>
                <a:cs typeface="Lato"/>
              </a:rPr>
              <a:t> </a:t>
            </a:r>
            <a:r>
              <a:rPr lang="en-US" b="1" err="1">
                <a:latin typeface="Lato"/>
                <a:ea typeface="Lato"/>
                <a:cs typeface="Lato"/>
              </a:rPr>
              <a:t>hiệu</a:t>
            </a:r>
            <a:r>
              <a:rPr lang="en-US" b="1">
                <a:latin typeface="Lato"/>
                <a:ea typeface="Lato"/>
                <a:cs typeface="Lato"/>
              </a:rPr>
              <a:t> </a:t>
            </a:r>
            <a:r>
              <a:rPr lang="en-US" b="1" err="1">
                <a:latin typeface="Lato"/>
                <a:ea typeface="Lato"/>
                <a:cs typeface="Lato"/>
              </a:rPr>
              <a:t>năng</a:t>
            </a:r>
            <a:endParaRPr lang="en-US" b="1">
              <a:latin typeface="Lato"/>
              <a:ea typeface="Lato"/>
              <a:cs typeface="Lato"/>
            </a:endParaRPr>
          </a:p>
        </p:txBody>
      </p:sp>
      <p:graphicFrame>
        <p:nvGraphicFramePr>
          <p:cNvPr id="5" name="Table 4">
            <a:extLst>
              <a:ext uri="{FF2B5EF4-FFF2-40B4-BE49-F238E27FC236}">
                <a16:creationId xmlns:a16="http://schemas.microsoft.com/office/drawing/2014/main" id="{C0EBBF19-876E-7AE8-779C-86C654907729}"/>
              </a:ext>
            </a:extLst>
          </p:cNvPr>
          <p:cNvGraphicFramePr>
            <a:graphicFrameLocks noGrp="1"/>
          </p:cNvGraphicFramePr>
          <p:nvPr>
            <p:extLst>
              <p:ext uri="{D42A27DB-BD31-4B8C-83A1-F6EECF244321}">
                <p14:modId xmlns:p14="http://schemas.microsoft.com/office/powerpoint/2010/main" val="2902377783"/>
              </p:ext>
            </p:extLst>
          </p:nvPr>
        </p:nvGraphicFramePr>
        <p:xfrm>
          <a:off x="427994" y="1647684"/>
          <a:ext cx="8288011" cy="4126994"/>
        </p:xfrm>
        <a:graphic>
          <a:graphicData uri="http://schemas.openxmlformats.org/drawingml/2006/table">
            <a:tbl>
              <a:tblPr firstRow="1" bandRow="1">
                <a:tableStyleId>{5940675A-B579-460E-94D1-54222C63F5DA}</a:tableStyleId>
              </a:tblPr>
              <a:tblGrid>
                <a:gridCol w="1381335">
                  <a:extLst>
                    <a:ext uri="{9D8B030D-6E8A-4147-A177-3AD203B41FA5}">
                      <a16:colId xmlns:a16="http://schemas.microsoft.com/office/drawing/2014/main" val="3089205720"/>
                    </a:ext>
                  </a:extLst>
                </a:gridCol>
                <a:gridCol w="1757291">
                  <a:extLst>
                    <a:ext uri="{9D8B030D-6E8A-4147-A177-3AD203B41FA5}">
                      <a16:colId xmlns:a16="http://schemas.microsoft.com/office/drawing/2014/main" val="2480502349"/>
                    </a:ext>
                  </a:extLst>
                </a:gridCol>
                <a:gridCol w="1005380">
                  <a:extLst>
                    <a:ext uri="{9D8B030D-6E8A-4147-A177-3AD203B41FA5}">
                      <a16:colId xmlns:a16="http://schemas.microsoft.com/office/drawing/2014/main" val="2957330976"/>
                    </a:ext>
                  </a:extLst>
                </a:gridCol>
                <a:gridCol w="1381335">
                  <a:extLst>
                    <a:ext uri="{9D8B030D-6E8A-4147-A177-3AD203B41FA5}">
                      <a16:colId xmlns:a16="http://schemas.microsoft.com/office/drawing/2014/main" val="3679129828"/>
                    </a:ext>
                  </a:extLst>
                </a:gridCol>
                <a:gridCol w="1381335">
                  <a:extLst>
                    <a:ext uri="{9D8B030D-6E8A-4147-A177-3AD203B41FA5}">
                      <a16:colId xmlns:a16="http://schemas.microsoft.com/office/drawing/2014/main" val="1267961395"/>
                    </a:ext>
                  </a:extLst>
                </a:gridCol>
                <a:gridCol w="1381335">
                  <a:extLst>
                    <a:ext uri="{9D8B030D-6E8A-4147-A177-3AD203B41FA5}">
                      <a16:colId xmlns:a16="http://schemas.microsoft.com/office/drawing/2014/main" val="100855324"/>
                    </a:ext>
                  </a:extLst>
                </a:gridCol>
              </a:tblGrid>
              <a:tr h="456842">
                <a:tc>
                  <a:txBody>
                    <a:bodyPr/>
                    <a:lstStyle/>
                    <a:p>
                      <a:pPr algn="ctr"/>
                      <a:r>
                        <a:rPr lang="en-US" sz="1800" err="1">
                          <a:latin typeface="Times New Roman" panose="02020603050405020304" pitchFamily="18" charset="0"/>
                          <a:cs typeface="Times New Roman" panose="02020603050405020304" pitchFamily="18" charset="0"/>
                        </a:rPr>
                        <a:t>Phân</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nhóm</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err="1">
                          <a:latin typeface="Times New Roman" panose="02020603050405020304" pitchFamily="18" charset="0"/>
                          <a:cs typeface="Times New Roman" panose="02020603050405020304" pitchFamily="18" charset="0"/>
                        </a:rPr>
                        <a:t>Tên</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biến</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err="1">
                          <a:latin typeface="Times New Roman" panose="02020603050405020304" pitchFamily="18" charset="0"/>
                          <a:cs typeface="Times New Roman" panose="02020603050405020304" pitchFamily="18" charset="0"/>
                        </a:rPr>
                        <a:t>Đơn</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vị</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RMSE (HK)</a:t>
                      </a:r>
                    </a:p>
                  </a:txBody>
                  <a:tcPr anchor="ctr"/>
                </a:tc>
                <a:tc>
                  <a:txBody>
                    <a:bodyPr/>
                    <a:lstStyle/>
                    <a:p>
                      <a:pPr algn="ctr"/>
                      <a:r>
                        <a:rPr lang="en-US" sz="1800">
                          <a:latin typeface="Times New Roman" panose="02020603050405020304" pitchFamily="18" charset="0"/>
                          <a:cs typeface="Times New Roman" panose="02020603050405020304" pitchFamily="18" charset="0"/>
                        </a:rPr>
                        <a:t>RMSE (VN)</a:t>
                      </a:r>
                    </a:p>
                  </a:txBody>
                  <a:tcPr anchor="ctr"/>
                </a:tc>
                <a:tc>
                  <a:txBody>
                    <a:bodyPr/>
                    <a:lstStyle/>
                    <a:p>
                      <a:pPr algn="ctr"/>
                      <a:r>
                        <a:rPr lang="en-US" sz="1800" err="1">
                          <a:latin typeface="Times New Roman" panose="02020603050405020304" pitchFamily="18" charset="0"/>
                          <a:cs typeface="Times New Roman" panose="02020603050405020304" pitchFamily="18" charset="0"/>
                        </a:rPr>
                        <a:t>Cải</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thiện</a:t>
                      </a:r>
                      <a:endParaRPr lang="en-US" sz="1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27102207"/>
                  </a:ext>
                </a:extLst>
              </a:tr>
              <a:tr h="1107243">
                <a:tc>
                  <a:txBody>
                    <a:bodyPr/>
                    <a:lstStyle/>
                    <a:p>
                      <a:pPr algn="ctr"/>
                      <a:r>
                        <a:rPr lang="en-US" sz="1800" err="1">
                          <a:latin typeface="Times New Roman" panose="02020603050405020304" pitchFamily="18" charset="0"/>
                          <a:cs typeface="Times New Roman" panose="02020603050405020304" pitchFamily="18" charset="0"/>
                        </a:rPr>
                        <a:t>Nhóm</a:t>
                      </a:r>
                      <a:r>
                        <a:rPr lang="en-US" sz="1800">
                          <a:latin typeface="Times New Roman" panose="02020603050405020304" pitchFamily="18" charset="0"/>
                          <a:cs typeface="Times New Roman" panose="02020603050405020304" pitchFamily="18" charset="0"/>
                        </a:rPr>
                        <a:t> Sinh </a:t>
                      </a:r>
                      <a:r>
                        <a:rPr lang="en-US" sz="1800" err="1">
                          <a:latin typeface="Times New Roman" panose="02020603050405020304" pitchFamily="18" charset="0"/>
                          <a:cs typeface="Times New Roman" panose="02020603050405020304" pitchFamily="18" charset="0"/>
                        </a:rPr>
                        <a:t>tồn</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pH</a:t>
                      </a:r>
                    </a:p>
                    <a:p>
                      <a:pPr algn="ctr"/>
                      <a:r>
                        <a:rPr lang="en-US" sz="1800">
                          <a:latin typeface="Times New Roman" panose="02020603050405020304" pitchFamily="18" charset="0"/>
                          <a:cs typeface="Times New Roman" panose="02020603050405020304" pitchFamily="18" charset="0"/>
                        </a:rPr>
                        <a:t>D. Oxygen (DO)</a:t>
                      </a:r>
                    </a:p>
                    <a:p>
                      <a:pPr algn="ctr"/>
                      <a:r>
                        <a:rPr lang="en-US" sz="1800">
                          <a:latin typeface="Times New Roman" panose="02020603050405020304" pitchFamily="18" charset="0"/>
                          <a:cs typeface="Times New Roman" panose="02020603050405020304" pitchFamily="18" charset="0"/>
                        </a:rPr>
                        <a:t>Salinity</a:t>
                      </a:r>
                    </a:p>
                    <a:p>
                      <a:pPr algn="ctr"/>
                      <a:r>
                        <a:rPr lang="en-US" sz="1800">
                          <a:latin typeface="Times New Roman" panose="02020603050405020304" pitchFamily="18" charset="0"/>
                          <a:cs typeface="Times New Roman" panose="02020603050405020304" pitchFamily="18" charset="0"/>
                        </a:rPr>
                        <a:t>Alkalinity</a:t>
                      </a:r>
                    </a:p>
                  </a:txBody>
                  <a:tcPr anchor="ctr"/>
                </a:tc>
                <a:tc>
                  <a:txBody>
                    <a:bodyPr/>
                    <a:lstStyle/>
                    <a:p>
                      <a:pPr algn="ctr"/>
                      <a:r>
                        <a:rPr lang="en-US" sz="1800">
                          <a:latin typeface="Times New Roman" panose="02020603050405020304" pitchFamily="18" charset="0"/>
                          <a:cs typeface="Times New Roman" panose="02020603050405020304" pitchFamily="18" charset="0"/>
                        </a:rPr>
                        <a:t>-</a:t>
                      </a:r>
                    </a:p>
                    <a:p>
                      <a:pPr algn="ctr"/>
                      <a:r>
                        <a:rPr lang="en-US" sz="1800">
                          <a:latin typeface="Times New Roman" panose="02020603050405020304" pitchFamily="18" charset="0"/>
                          <a:cs typeface="Times New Roman" panose="02020603050405020304" pitchFamily="18" charset="0"/>
                        </a:rPr>
                        <a:t>mg/L</a:t>
                      </a:r>
                    </a:p>
                    <a:p>
                      <a:pPr algn="ctr"/>
                      <a:r>
                        <a:rPr lang="en-US" sz="1800" b="0" i="0" kern="1200">
                          <a:solidFill>
                            <a:schemeClr val="tx1"/>
                          </a:solidFill>
                          <a:effectLst/>
                          <a:latin typeface="Times New Roman" panose="02020603050405020304" pitchFamily="18" charset="0"/>
                          <a:ea typeface="+mn-ea"/>
                          <a:cs typeface="Times New Roman" panose="02020603050405020304" pitchFamily="18" charset="0"/>
                        </a:rPr>
                        <a:t>‰</a:t>
                      </a:r>
                    </a:p>
                    <a:p>
                      <a:pPr algn="ctr"/>
                      <a:r>
                        <a:rPr lang="en-US" sz="1800" b="0" i="0" kern="1200">
                          <a:solidFill>
                            <a:schemeClr val="tx1"/>
                          </a:solidFill>
                          <a:effectLst/>
                          <a:latin typeface="Times New Roman" panose="02020603050405020304" pitchFamily="18" charset="0"/>
                          <a:ea typeface="+mn-ea"/>
                          <a:cs typeface="Times New Roman" panose="02020603050405020304" pitchFamily="18" charset="0"/>
                        </a:rPr>
                        <a:t>mg/L</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0.0686</a:t>
                      </a:r>
                    </a:p>
                    <a:p>
                      <a:pPr algn="ctr"/>
                      <a:r>
                        <a:rPr lang="en-US" sz="1800">
                          <a:latin typeface="Times New Roman" panose="02020603050405020304" pitchFamily="18" charset="0"/>
                          <a:cs typeface="Times New Roman" panose="02020603050405020304" pitchFamily="18" charset="0"/>
                        </a:rPr>
                        <a:t>0.3687</a:t>
                      </a:r>
                    </a:p>
                    <a:p>
                      <a:pPr algn="ctr"/>
                      <a:r>
                        <a:rPr lang="en-US" sz="1800">
                          <a:latin typeface="Times New Roman" panose="02020603050405020304" pitchFamily="18" charset="0"/>
                          <a:cs typeface="Times New Roman" panose="02020603050405020304" pitchFamily="18" charset="0"/>
                        </a:rPr>
                        <a:t>0.6077</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latin typeface="Times New Roman" panose="02020603050405020304" pitchFamily="18" charset="0"/>
                          <a:cs typeface="Times New Roman" panose="02020603050405020304" pitchFamily="18" charset="0"/>
                        </a:rPr>
                        <a:t>26.6942</a:t>
                      </a:r>
                    </a:p>
                  </a:txBody>
                  <a:tcPr anchor="ctr"/>
                </a:tc>
                <a:tc>
                  <a:txBody>
                    <a:bodyPr/>
                    <a:lstStyle/>
                    <a:p>
                      <a:pPr algn="ctr"/>
                      <a:r>
                        <a:rPr lang="en-US" sz="1800">
                          <a:latin typeface="Times New Roman" panose="02020603050405020304" pitchFamily="18" charset="0"/>
                          <a:cs typeface="Times New Roman" panose="02020603050405020304" pitchFamily="18" charset="0"/>
                        </a:rPr>
                        <a:t>0.0341</a:t>
                      </a:r>
                    </a:p>
                    <a:p>
                      <a:pPr algn="ctr"/>
                      <a:r>
                        <a:rPr lang="en-US" sz="1800">
                          <a:latin typeface="Times New Roman" panose="02020603050405020304" pitchFamily="18" charset="0"/>
                          <a:cs typeface="Times New Roman" panose="02020603050405020304" pitchFamily="18" charset="0"/>
                        </a:rPr>
                        <a:t>0.2831</a:t>
                      </a:r>
                    </a:p>
                    <a:p>
                      <a:pPr algn="ctr"/>
                      <a:r>
                        <a:rPr lang="en-US" sz="1800">
                          <a:latin typeface="Times New Roman" panose="02020603050405020304" pitchFamily="18" charset="0"/>
                          <a:cs typeface="Times New Roman" panose="02020603050405020304" pitchFamily="18" charset="0"/>
                        </a:rPr>
                        <a:t>0.4501</a:t>
                      </a:r>
                    </a:p>
                    <a:p>
                      <a:pPr algn="ctr"/>
                      <a:r>
                        <a:rPr lang="en-US" sz="1800">
                          <a:latin typeface="Times New Roman" panose="02020603050405020304" pitchFamily="18" charset="0"/>
                          <a:cs typeface="Times New Roman" panose="02020603050405020304" pitchFamily="18" charset="0"/>
                        </a:rPr>
                        <a:t>17.8502</a:t>
                      </a:r>
                    </a:p>
                  </a:txBody>
                  <a:tcPr anchor="ctr"/>
                </a:tc>
                <a:tc>
                  <a:txBody>
                    <a:bodyPr/>
                    <a:lstStyle/>
                    <a:p>
                      <a:pPr algn="ctr"/>
                      <a:r>
                        <a:rPr lang="en-US" sz="1800">
                          <a:solidFill>
                            <a:srgbClr val="00B050"/>
                          </a:solidFill>
                          <a:latin typeface="Times New Roman" panose="02020603050405020304" pitchFamily="18" charset="0"/>
                          <a:cs typeface="Times New Roman" panose="02020603050405020304" pitchFamily="18" charset="0"/>
                        </a:rPr>
                        <a:t>+50.3%</a:t>
                      </a:r>
                    </a:p>
                    <a:p>
                      <a:pPr algn="ctr"/>
                      <a:r>
                        <a:rPr lang="en-US" sz="1800">
                          <a:solidFill>
                            <a:srgbClr val="00B050"/>
                          </a:solidFill>
                          <a:latin typeface="Times New Roman" panose="02020603050405020304" pitchFamily="18" charset="0"/>
                          <a:cs typeface="Times New Roman" panose="02020603050405020304" pitchFamily="18" charset="0"/>
                        </a:rPr>
                        <a:t>+23.2%</a:t>
                      </a:r>
                    </a:p>
                    <a:p>
                      <a:pPr algn="ctr"/>
                      <a:r>
                        <a:rPr lang="en-US" sz="1800">
                          <a:solidFill>
                            <a:srgbClr val="00B050"/>
                          </a:solidFill>
                          <a:latin typeface="Times New Roman" panose="02020603050405020304" pitchFamily="18" charset="0"/>
                          <a:cs typeface="Times New Roman" panose="02020603050405020304" pitchFamily="18" charset="0"/>
                        </a:rPr>
                        <a:t>+25.9%</a:t>
                      </a:r>
                    </a:p>
                    <a:p>
                      <a:pPr algn="ctr"/>
                      <a:r>
                        <a:rPr lang="en-US" sz="1800">
                          <a:solidFill>
                            <a:srgbClr val="00B050"/>
                          </a:solidFill>
                          <a:latin typeface="Times New Roman" panose="02020603050405020304" pitchFamily="18" charset="0"/>
                          <a:cs typeface="Times New Roman" panose="02020603050405020304" pitchFamily="18" charset="0"/>
                        </a:rPr>
                        <a:t>+49.5%</a:t>
                      </a:r>
                    </a:p>
                  </a:txBody>
                  <a:tcPr anchor="ctr"/>
                </a:tc>
                <a:extLst>
                  <a:ext uri="{0D108BD9-81ED-4DB2-BD59-A6C34878D82A}">
                    <a16:rowId xmlns:a16="http://schemas.microsoft.com/office/drawing/2014/main" val="307135664"/>
                  </a:ext>
                </a:extLst>
              </a:tr>
              <a:tr h="851726">
                <a:tc>
                  <a:txBody>
                    <a:bodyPr/>
                    <a:lstStyle/>
                    <a:p>
                      <a:pPr algn="ctr"/>
                      <a:r>
                        <a:rPr lang="en-US" sz="1800" err="1">
                          <a:latin typeface="Times New Roman" panose="02020603050405020304" pitchFamily="18" charset="0"/>
                          <a:cs typeface="Times New Roman" panose="02020603050405020304" pitchFamily="18" charset="0"/>
                        </a:rPr>
                        <a:t>Nhóm</a:t>
                      </a:r>
                      <a:r>
                        <a:rPr lang="en-US" sz="1800">
                          <a:latin typeface="Times New Roman" panose="02020603050405020304" pitchFamily="18" charset="0"/>
                          <a:cs typeface="Times New Roman" panose="02020603050405020304" pitchFamily="18" charset="0"/>
                        </a:rPr>
                        <a:t> Lý </a:t>
                      </a:r>
                      <a:r>
                        <a:rPr lang="en-US" sz="1800" err="1">
                          <a:latin typeface="Times New Roman" panose="02020603050405020304" pitchFamily="18" charset="0"/>
                          <a:cs typeface="Times New Roman" panose="02020603050405020304" pitchFamily="18" charset="0"/>
                        </a:rPr>
                        <a:t>học</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Temperature</a:t>
                      </a:r>
                    </a:p>
                    <a:p>
                      <a:pPr algn="ctr"/>
                      <a:r>
                        <a:rPr lang="en-US" sz="1800">
                          <a:latin typeface="Times New Roman" panose="02020603050405020304" pitchFamily="18" charset="0"/>
                          <a:cs typeface="Times New Roman" panose="02020603050405020304" pitchFamily="18" charset="0"/>
                        </a:rPr>
                        <a:t>Transparency</a:t>
                      </a:r>
                    </a:p>
                    <a:p>
                      <a:pPr algn="ctr"/>
                      <a:r>
                        <a:rPr lang="en-US" sz="1800">
                          <a:latin typeface="Times New Roman" panose="02020603050405020304" pitchFamily="18" charset="0"/>
                          <a:cs typeface="Times New Roman" panose="02020603050405020304" pitchFamily="18" charset="0"/>
                        </a:rPr>
                        <a:t>TSS</a:t>
                      </a:r>
                    </a:p>
                  </a:txBody>
                  <a:tcPr anchor="ctr"/>
                </a:tc>
                <a:tc>
                  <a:txBody>
                    <a:bodyPr/>
                    <a:lstStyle/>
                    <a:p>
                      <a:pPr algn="ctr"/>
                      <a:r>
                        <a:rPr lang="en-US" sz="1800" b="0" i="0" kern="1200">
                          <a:solidFill>
                            <a:schemeClr val="tx1"/>
                          </a:solidFill>
                          <a:effectLst/>
                          <a:latin typeface="Times New Roman" panose="02020603050405020304" pitchFamily="18" charset="0"/>
                          <a:ea typeface="+mn-ea"/>
                          <a:cs typeface="Times New Roman" panose="02020603050405020304" pitchFamily="18" charset="0"/>
                        </a:rPr>
                        <a:t>°C</a:t>
                      </a:r>
                    </a:p>
                    <a:p>
                      <a:pPr algn="ctr"/>
                      <a:r>
                        <a:rPr lang="en-US" sz="1800" b="0" i="0" kern="1200">
                          <a:solidFill>
                            <a:schemeClr val="tx1"/>
                          </a:solidFill>
                          <a:effectLst/>
                          <a:latin typeface="Times New Roman" panose="02020603050405020304" pitchFamily="18" charset="0"/>
                          <a:ea typeface="+mn-ea"/>
                          <a:cs typeface="Times New Roman" panose="02020603050405020304" pitchFamily="18" charset="0"/>
                        </a:rPr>
                        <a:t>Cm</a:t>
                      </a:r>
                    </a:p>
                    <a:p>
                      <a:pPr algn="ctr"/>
                      <a:r>
                        <a:rPr lang="en-US" sz="1800" b="0" i="0" kern="1200">
                          <a:solidFill>
                            <a:schemeClr val="tx1"/>
                          </a:solidFill>
                          <a:effectLst/>
                          <a:latin typeface="Times New Roman" panose="02020603050405020304" pitchFamily="18" charset="0"/>
                          <a:ea typeface="+mn-ea"/>
                          <a:cs typeface="Times New Roman" panose="02020603050405020304" pitchFamily="18" charset="0"/>
                        </a:rPr>
                        <a:t>mg/L</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0.4327</a:t>
                      </a:r>
                    </a:p>
                    <a:p>
                      <a:pPr algn="ctr"/>
                      <a:r>
                        <a:rPr lang="en-US" sz="1800">
                          <a:latin typeface="Times New Roman" panose="02020603050405020304" pitchFamily="18" charset="0"/>
                          <a:cs typeface="Times New Roman" panose="02020603050405020304" pitchFamily="18" charset="0"/>
                        </a:rPr>
                        <a:t>5.8198</a:t>
                      </a:r>
                    </a:p>
                    <a:p>
                      <a:pPr algn="ctr"/>
                      <a:r>
                        <a:rPr lang="en-US" sz="1800">
                          <a:latin typeface="Times New Roman" panose="02020603050405020304" pitchFamily="18" charset="0"/>
                          <a:cs typeface="Times New Roman" panose="02020603050405020304" pitchFamily="18" charset="0"/>
                        </a:rPr>
                        <a:t>1.1865</a:t>
                      </a:r>
                    </a:p>
                  </a:txBody>
                  <a:tcPr anchor="ctr"/>
                </a:tc>
                <a:tc>
                  <a:txBody>
                    <a:bodyPr/>
                    <a:lstStyle/>
                    <a:p>
                      <a:pPr algn="ctr"/>
                      <a:r>
                        <a:rPr lang="en-US" sz="1800">
                          <a:latin typeface="Times New Roman" panose="02020603050405020304" pitchFamily="18" charset="0"/>
                          <a:cs typeface="Times New Roman" panose="02020603050405020304" pitchFamily="18" charset="0"/>
                        </a:rPr>
                        <a:t>0.7465</a:t>
                      </a:r>
                    </a:p>
                    <a:p>
                      <a:pPr algn="ctr"/>
                      <a:r>
                        <a:rPr lang="en-US" sz="1800">
                          <a:latin typeface="Times New Roman" panose="02020603050405020304" pitchFamily="18" charset="0"/>
                          <a:cs typeface="Times New Roman" panose="02020603050405020304" pitchFamily="18" charset="0"/>
                        </a:rPr>
                        <a:t>2.1295</a:t>
                      </a:r>
                    </a:p>
                    <a:p>
                      <a:pPr algn="ctr"/>
                      <a:r>
                        <a:rPr lang="en-US" sz="1800">
                          <a:latin typeface="Times New Roman" panose="02020603050405020304" pitchFamily="18" charset="0"/>
                          <a:cs typeface="Times New Roman" panose="02020603050405020304" pitchFamily="18" charset="0"/>
                        </a:rPr>
                        <a:t>1.1932</a:t>
                      </a:r>
                    </a:p>
                  </a:txBody>
                  <a:tcPr anchor="ctr"/>
                </a:tc>
                <a:tc>
                  <a:txBody>
                    <a:bodyPr/>
                    <a:lstStyle/>
                    <a:p>
                      <a:pPr algn="ctr"/>
                      <a:r>
                        <a:rPr lang="en-US" sz="1800">
                          <a:solidFill>
                            <a:srgbClr val="FF0000"/>
                          </a:solidFill>
                          <a:latin typeface="Times New Roman" panose="02020603050405020304" pitchFamily="18" charset="0"/>
                          <a:cs typeface="Times New Roman" panose="02020603050405020304" pitchFamily="18" charset="0"/>
                        </a:rPr>
                        <a:t>-72.5%</a:t>
                      </a:r>
                    </a:p>
                    <a:p>
                      <a:pPr algn="ctr"/>
                      <a:r>
                        <a:rPr lang="en-US" sz="1800">
                          <a:solidFill>
                            <a:srgbClr val="00B050"/>
                          </a:solidFill>
                          <a:latin typeface="Times New Roman" panose="02020603050405020304" pitchFamily="18" charset="0"/>
                          <a:cs typeface="Times New Roman" panose="02020603050405020304" pitchFamily="18" charset="0"/>
                        </a:rPr>
                        <a:t>+63.4%</a:t>
                      </a:r>
                    </a:p>
                    <a:p>
                      <a:pPr algn="ctr"/>
                      <a:r>
                        <a:rPr lang="en-US" sz="1800">
                          <a:solidFill>
                            <a:srgbClr val="00B050"/>
                          </a:solidFill>
                          <a:latin typeface="Times New Roman" panose="02020603050405020304" pitchFamily="18" charset="0"/>
                          <a:cs typeface="Times New Roman" panose="02020603050405020304" pitchFamily="18" charset="0"/>
                        </a:rPr>
                        <a:t>-</a:t>
                      </a:r>
                      <a:r>
                        <a:rPr lang="en-US" sz="1800">
                          <a:solidFill>
                            <a:srgbClr val="FF0000"/>
                          </a:solidFill>
                          <a:latin typeface="Times New Roman" panose="02020603050405020304" pitchFamily="18" charset="0"/>
                          <a:cs typeface="Times New Roman" panose="02020603050405020304" pitchFamily="18" charset="0"/>
                        </a:rPr>
                        <a:t>0.6%</a:t>
                      </a:r>
                    </a:p>
                  </a:txBody>
                  <a:tcPr anchor="ctr"/>
                </a:tc>
                <a:extLst>
                  <a:ext uri="{0D108BD9-81ED-4DB2-BD59-A6C34878D82A}">
                    <a16:rowId xmlns:a16="http://schemas.microsoft.com/office/drawing/2014/main" val="4057708733"/>
                  </a:ext>
                </a:extLst>
              </a:tr>
              <a:tr h="652632">
                <a:tc>
                  <a:txBody>
                    <a:bodyPr/>
                    <a:lstStyle/>
                    <a:p>
                      <a:pPr algn="ctr"/>
                      <a:r>
                        <a:rPr lang="en-US" sz="1800" err="1">
                          <a:latin typeface="Times New Roman" panose="02020603050405020304" pitchFamily="18" charset="0"/>
                          <a:cs typeface="Times New Roman" panose="02020603050405020304" pitchFamily="18" charset="0"/>
                        </a:rPr>
                        <a:t>Nhóm</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Độc</a:t>
                      </a:r>
                      <a:r>
                        <a:rPr lang="en-US" sz="1800">
                          <a:latin typeface="Times New Roman" panose="02020603050405020304" pitchFamily="18" charset="0"/>
                          <a:cs typeface="Times New Roman" panose="02020603050405020304" pitchFamily="18" charset="0"/>
                        </a:rPr>
                        <a:t> </a:t>
                      </a:r>
                      <a:r>
                        <a:rPr lang="en-US" sz="1800" err="1">
                          <a:latin typeface="Times New Roman" panose="02020603050405020304" pitchFamily="18" charset="0"/>
                          <a:cs typeface="Times New Roman" panose="02020603050405020304" pitchFamily="18" charset="0"/>
                        </a:rPr>
                        <a:t>tố</a:t>
                      </a:r>
                      <a:r>
                        <a:rPr lang="en-US" sz="1800">
                          <a:latin typeface="Times New Roman" panose="02020603050405020304" pitchFamily="18" charset="0"/>
                          <a:cs typeface="Times New Roman" panose="02020603050405020304" pitchFamily="18" charset="0"/>
                        </a:rPr>
                        <a:t> &amp; Vi </a:t>
                      </a:r>
                      <a:r>
                        <a:rPr lang="en-US" sz="1800" err="1">
                          <a:latin typeface="Times New Roman" panose="02020603050405020304" pitchFamily="18" charset="0"/>
                          <a:cs typeface="Times New Roman" panose="02020603050405020304" pitchFamily="18" charset="0"/>
                        </a:rPr>
                        <a:t>sinh</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a:latin typeface="Times New Roman" panose="02020603050405020304" pitchFamily="18" charset="0"/>
                          <a:cs typeface="Times New Roman" panose="02020603050405020304" pitchFamily="18" charset="0"/>
                        </a:rPr>
                        <a:t>NH</a:t>
                      </a:r>
                      <a:r>
                        <a:rPr lang="en-US" sz="1800" baseline="-25000">
                          <a:latin typeface="Times New Roman" panose="02020603050405020304" pitchFamily="18" charset="0"/>
                          <a:cs typeface="Times New Roman" panose="02020603050405020304" pitchFamily="18" charset="0"/>
                        </a:rPr>
                        <a:t>3</a:t>
                      </a:r>
                    </a:p>
                    <a:p>
                      <a:pPr algn="ctr"/>
                      <a:r>
                        <a:rPr lang="en-US" sz="1800" baseline="0">
                          <a:latin typeface="Times New Roman" panose="02020603050405020304" pitchFamily="18" charset="0"/>
                          <a:cs typeface="Times New Roman" panose="02020603050405020304" pitchFamily="18" charset="0"/>
                        </a:rPr>
                        <a:t>H2S</a:t>
                      </a:r>
                    </a:p>
                    <a:p>
                      <a:pPr algn="ctr"/>
                      <a:r>
                        <a:rPr lang="en-US" sz="1800" baseline="0">
                          <a:latin typeface="Times New Roman" panose="02020603050405020304" pitchFamily="18" charset="0"/>
                          <a:cs typeface="Times New Roman" panose="02020603050405020304" pitchFamily="18" charset="0"/>
                        </a:rPr>
                        <a:t>Coliform</a:t>
                      </a:r>
                    </a:p>
                  </a:txBody>
                  <a:tcPr anchor="ctr"/>
                </a:tc>
                <a:tc>
                  <a:txBody>
                    <a:bodyPr/>
                    <a:lstStyle/>
                    <a:p>
                      <a:pPr algn="ctr"/>
                      <a:r>
                        <a:rPr lang="en-US" sz="1800">
                          <a:latin typeface="Times New Roman" panose="02020603050405020304" pitchFamily="18" charset="0"/>
                          <a:cs typeface="Times New Roman" panose="02020603050405020304" pitchFamily="18" charset="0"/>
                        </a:rPr>
                        <a:t>mg/L</a:t>
                      </a:r>
                    </a:p>
                    <a:p>
                      <a:pPr algn="ctr"/>
                      <a:r>
                        <a:rPr lang="en-US" sz="1800">
                          <a:latin typeface="Times New Roman" panose="02020603050405020304" pitchFamily="18" charset="0"/>
                          <a:cs typeface="Times New Roman" panose="02020603050405020304" pitchFamily="18" charset="0"/>
                        </a:rPr>
                        <a:t>mg/L</a:t>
                      </a:r>
                    </a:p>
                    <a:p>
                      <a:pPr algn="ctr"/>
                      <a:r>
                        <a:rPr lang="en-US" sz="1800">
                          <a:latin typeface="Times New Roman" panose="02020603050405020304" pitchFamily="18" charset="0"/>
                          <a:cs typeface="Times New Roman" panose="02020603050405020304" pitchFamily="18" charset="0"/>
                        </a:rPr>
                        <a:t>MPN</a:t>
                      </a:r>
                    </a:p>
                  </a:txBody>
                  <a:tcPr anchor="ctr"/>
                </a:tc>
                <a:tc>
                  <a:txBody>
                    <a:bodyPr/>
                    <a:lstStyle/>
                    <a:p>
                      <a:pPr algn="ctr"/>
                      <a:r>
                        <a:rPr lang="en-US" sz="1800">
                          <a:latin typeface="Times New Roman" panose="02020603050405020304" pitchFamily="18" charset="0"/>
                          <a:cs typeface="Times New Roman" panose="02020603050405020304" pitchFamily="18" charset="0"/>
                        </a:rPr>
                        <a:t>0.0011</a:t>
                      </a:r>
                    </a:p>
                    <a:p>
                      <a:pPr algn="ctr"/>
                      <a:r>
                        <a:rPr lang="en-US" sz="1800">
                          <a:latin typeface="Times New Roman" panose="02020603050405020304" pitchFamily="18" charset="0"/>
                          <a:cs typeface="Times New Roman" panose="02020603050405020304" pitchFamily="18" charset="0"/>
                        </a:rPr>
                        <a:t>0.0063</a:t>
                      </a:r>
                    </a:p>
                    <a:p>
                      <a:pPr algn="ctr"/>
                      <a:r>
                        <a:rPr lang="en-US" sz="1800">
                          <a:latin typeface="Times New Roman" panose="02020603050405020304" pitchFamily="18" charset="0"/>
                          <a:cs typeface="Times New Roman" panose="02020603050405020304" pitchFamily="18" charset="0"/>
                        </a:rPr>
                        <a:t>1,070.9</a:t>
                      </a:r>
                    </a:p>
                  </a:txBody>
                  <a:tcPr anchor="ctr"/>
                </a:tc>
                <a:tc>
                  <a:txBody>
                    <a:bodyPr/>
                    <a:lstStyle/>
                    <a:p>
                      <a:pPr algn="ctr"/>
                      <a:r>
                        <a:rPr lang="en-US" sz="1800">
                          <a:latin typeface="Times New Roman" panose="02020603050405020304" pitchFamily="18" charset="0"/>
                          <a:cs typeface="Times New Roman" panose="02020603050405020304" pitchFamily="18" charset="0"/>
                        </a:rPr>
                        <a:t>0.0125</a:t>
                      </a:r>
                    </a:p>
                    <a:p>
                      <a:pPr algn="ctr"/>
                      <a:r>
                        <a:rPr lang="en-US" sz="1800">
                          <a:latin typeface="Times New Roman" panose="02020603050405020304" pitchFamily="18" charset="0"/>
                          <a:cs typeface="Times New Roman" panose="02020603050405020304" pitchFamily="18" charset="0"/>
                        </a:rPr>
                        <a:t>0.0087</a:t>
                      </a:r>
                    </a:p>
                    <a:p>
                      <a:pPr algn="ctr"/>
                      <a:r>
                        <a:rPr lang="en-US" sz="1800">
                          <a:latin typeface="Times New Roman" panose="02020603050405020304" pitchFamily="18" charset="0"/>
                          <a:cs typeface="Times New Roman" panose="02020603050405020304" pitchFamily="18" charset="0"/>
                        </a:rPr>
                        <a:t>10,429.3</a:t>
                      </a:r>
                    </a:p>
                  </a:txBody>
                  <a:tcPr anchor="ctr"/>
                </a:tc>
                <a:tc>
                  <a:txBody>
                    <a:bodyPr/>
                    <a:lstStyle/>
                    <a:p>
                      <a:pPr algn="ctr"/>
                      <a:r>
                        <a:rPr lang="en-US" sz="1800">
                          <a:solidFill>
                            <a:schemeClr val="tx1"/>
                          </a:solidFill>
                          <a:latin typeface="Times New Roman" panose="02020603050405020304" pitchFamily="18" charset="0"/>
                          <a:cs typeface="Times New Roman" panose="02020603050405020304" pitchFamily="18" charset="0"/>
                        </a:rPr>
                        <a:t>-</a:t>
                      </a:r>
                    </a:p>
                    <a:p>
                      <a:pPr algn="ctr"/>
                      <a:r>
                        <a:rPr lang="en-US" sz="1800" b="0">
                          <a:solidFill>
                            <a:schemeClr val="tx1"/>
                          </a:solidFill>
                          <a:latin typeface="Times New Roman" panose="02020603050405020304" pitchFamily="18" charset="0"/>
                          <a:cs typeface="Times New Roman" panose="02020603050405020304" pitchFamily="18" charset="0"/>
                        </a:rPr>
                        <a:t>-</a:t>
                      </a:r>
                    </a:p>
                    <a:p>
                      <a:pPr algn="ctr"/>
                      <a:r>
                        <a:rPr lang="en-US" sz="180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4187810917"/>
                  </a:ext>
                </a:extLst>
              </a:tr>
              <a:tr h="652632">
                <a:tc>
                  <a:txBody>
                    <a:bodyPr/>
                    <a:lstStyle/>
                    <a:p>
                      <a:pPr algn="ctr"/>
                      <a:r>
                        <a:rPr lang="en-US" sz="1800" err="1">
                          <a:latin typeface="Times New Roman" panose="02020603050405020304" pitchFamily="18" charset="0"/>
                          <a:cs typeface="Times New Roman" panose="02020603050405020304" pitchFamily="18" charset="0"/>
                        </a:rPr>
                        <a:t>Nhóm</a:t>
                      </a:r>
                      <a:r>
                        <a:rPr lang="en-US" sz="1800">
                          <a:latin typeface="Times New Roman" panose="02020603050405020304" pitchFamily="18" charset="0"/>
                          <a:cs typeface="Times New Roman" panose="02020603050405020304" pitchFamily="18" charset="0"/>
                        </a:rPr>
                        <a:t> Hữu </a:t>
                      </a:r>
                      <a:r>
                        <a:rPr lang="en-US" sz="1800" err="1">
                          <a:latin typeface="Times New Roman" panose="02020603050405020304" pitchFamily="18" charset="0"/>
                          <a:cs typeface="Times New Roman" panose="02020603050405020304" pitchFamily="18" charset="0"/>
                        </a:rPr>
                        <a:t>cơ</a:t>
                      </a:r>
                      <a:endParaRPr lang="en-US" sz="1800">
                        <a:latin typeface="Times New Roman" panose="02020603050405020304" pitchFamily="18" charset="0"/>
                        <a:cs typeface="Times New Roman" panose="02020603050405020304" pitchFamily="18" charset="0"/>
                      </a:endParaRPr>
                    </a:p>
                  </a:txBody>
                  <a:tcPr anchor="ctr"/>
                </a:tc>
                <a:tc>
                  <a:txBody>
                    <a:bodyPr/>
                    <a:lstStyle/>
                    <a:p>
                      <a:pPr algn="ctr"/>
                      <a:r>
                        <a:rPr lang="en-US" sz="1800" baseline="0">
                          <a:latin typeface="Times New Roman" panose="02020603050405020304" pitchFamily="18" charset="0"/>
                          <a:cs typeface="Times New Roman" panose="02020603050405020304" pitchFamily="18" charset="0"/>
                        </a:rPr>
                        <a:t>BOD5</a:t>
                      </a:r>
                    </a:p>
                    <a:p>
                      <a:pPr algn="ctr"/>
                      <a:r>
                        <a:rPr lang="en-US" sz="1800" baseline="0">
                          <a:latin typeface="Times New Roman" panose="02020603050405020304" pitchFamily="18" charset="0"/>
                          <a:cs typeface="Times New Roman" panose="02020603050405020304" pitchFamily="18" charset="0"/>
                        </a:rPr>
                        <a:t>COD</a:t>
                      </a:r>
                    </a:p>
                  </a:txBody>
                  <a:tcPr anchor="ctr"/>
                </a:tc>
                <a:tc>
                  <a:txBody>
                    <a:bodyPr/>
                    <a:lstStyle/>
                    <a:p>
                      <a:pPr algn="ctr"/>
                      <a:r>
                        <a:rPr lang="en-US" sz="1800">
                          <a:latin typeface="Times New Roman" panose="02020603050405020304" pitchFamily="18" charset="0"/>
                          <a:cs typeface="Times New Roman" panose="02020603050405020304" pitchFamily="18" charset="0"/>
                        </a:rPr>
                        <a:t>mg/L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latin typeface="Times New Roman" panose="02020603050405020304" pitchFamily="18" charset="0"/>
                          <a:cs typeface="Times New Roman" panose="02020603050405020304" pitchFamily="18" charset="0"/>
                        </a:rPr>
                        <a:t>mg/L</a:t>
                      </a:r>
                    </a:p>
                  </a:txBody>
                  <a:tcPr anchor="ctr"/>
                </a:tc>
                <a:tc>
                  <a:txBody>
                    <a:bodyPr/>
                    <a:lstStyle/>
                    <a:p>
                      <a:pPr algn="ctr"/>
                      <a:r>
                        <a:rPr lang="en-US" sz="1800">
                          <a:latin typeface="Times New Roman" panose="02020603050405020304" pitchFamily="18" charset="0"/>
                          <a:cs typeface="Times New Roman" panose="02020603050405020304" pitchFamily="18" charset="0"/>
                        </a:rPr>
                        <a:t>0.2216</a:t>
                      </a:r>
                    </a:p>
                    <a:p>
                      <a:pPr algn="ctr"/>
                      <a:r>
                        <a:rPr lang="en-US" sz="1800">
                          <a:latin typeface="Times New Roman" panose="02020603050405020304" pitchFamily="18" charset="0"/>
                          <a:cs typeface="Times New Roman" panose="02020603050405020304" pitchFamily="18" charset="0"/>
                        </a:rPr>
                        <a:t>23.6764</a:t>
                      </a:r>
                    </a:p>
                  </a:txBody>
                  <a:tcPr anchor="ctr"/>
                </a:tc>
                <a:tc>
                  <a:txBody>
                    <a:bodyPr/>
                    <a:lstStyle/>
                    <a:p>
                      <a:pPr algn="ctr"/>
                      <a:r>
                        <a:rPr lang="en-US" sz="1800">
                          <a:latin typeface="Times New Roman" panose="02020603050405020304" pitchFamily="18" charset="0"/>
                          <a:cs typeface="Times New Roman" panose="02020603050405020304" pitchFamily="18" charset="0"/>
                        </a:rPr>
                        <a:t>9.7994</a:t>
                      </a:r>
                    </a:p>
                    <a:p>
                      <a:pPr algn="ctr"/>
                      <a:r>
                        <a:rPr lang="en-US" sz="1800">
                          <a:latin typeface="Times New Roman" panose="02020603050405020304" pitchFamily="18" charset="0"/>
                          <a:cs typeface="Times New Roman" panose="02020603050405020304" pitchFamily="18" charset="0"/>
                        </a:rPr>
                        <a:t>36.4181</a:t>
                      </a:r>
                    </a:p>
                  </a:txBody>
                  <a:tcPr anchor="ctr"/>
                </a:tc>
                <a:tc>
                  <a:txBody>
                    <a:bodyPr/>
                    <a:lstStyle/>
                    <a:p>
                      <a:pPr algn="ctr"/>
                      <a:r>
                        <a:rPr lang="en-US" sz="1800">
                          <a:latin typeface="Times New Roman" panose="02020603050405020304" pitchFamily="18" charset="0"/>
                          <a:cs typeface="Times New Roman" panose="02020603050405020304" pitchFamily="18" charset="0"/>
                        </a:rPr>
                        <a:t>-</a:t>
                      </a:r>
                    </a:p>
                    <a:p>
                      <a:pPr algn="ctr"/>
                      <a:r>
                        <a:rPr lang="en-US" sz="180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917264430"/>
                  </a:ext>
                </a:extLst>
              </a:tr>
            </a:tbl>
          </a:graphicData>
        </a:graphic>
      </p:graphicFrame>
    </p:spTree>
    <p:extLst>
      <p:ext uri="{BB962C8B-B14F-4D97-AF65-F5344CB8AC3E}">
        <p14:creationId xmlns:p14="http://schemas.microsoft.com/office/powerpoint/2010/main" val="2024516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6C02-56A9-E7A6-AD91-0CF39063E2E6}"/>
            </a:ext>
          </a:extLst>
        </p:cNvPr>
        <p:cNvGrpSpPr/>
        <p:nvPr/>
      </p:nvGrpSpPr>
      <p:grpSpPr>
        <a:xfrm>
          <a:off x="0" y="0"/>
          <a:ext cx="0" cy="0"/>
          <a:chOff x="0" y="0"/>
          <a:chExt cx="0" cy="0"/>
        </a:xfrm>
      </p:grpSpPr>
      <p:sp>
        <p:nvSpPr>
          <p:cNvPr id="20" name="Rounded Rectangle 19">
            <a:extLst>
              <a:ext uri="{FF2B5EF4-FFF2-40B4-BE49-F238E27FC236}">
                <a16:creationId xmlns:a16="http://schemas.microsoft.com/office/drawing/2014/main" id="{4A52954F-283B-BE42-B4FA-354815FE3FBD}"/>
              </a:ext>
            </a:extLst>
          </p:cNvPr>
          <p:cNvSpPr/>
          <p:nvPr/>
        </p:nvSpPr>
        <p:spPr>
          <a:xfrm>
            <a:off x="3635326" y="3937972"/>
            <a:ext cx="1943565" cy="745095"/>
          </a:xfrm>
          <a:prstGeom prst="roundRect">
            <a:avLst/>
          </a:prstGeom>
          <a:ln>
            <a:solidFill>
              <a:schemeClr val="accent1">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t"/>
          <a:lstStyle/>
          <a:p>
            <a:pPr algn="ctr"/>
            <a:endParaRPr lang="en-VN" sz="1200">
              <a:ln>
                <a:solidFill>
                  <a:schemeClr val="tx1"/>
                </a:solidFill>
              </a:ln>
            </a:endParaRPr>
          </a:p>
        </p:txBody>
      </p:sp>
      <p:sp>
        <p:nvSpPr>
          <p:cNvPr id="18" name="Rounded Rectangle 17">
            <a:extLst>
              <a:ext uri="{FF2B5EF4-FFF2-40B4-BE49-F238E27FC236}">
                <a16:creationId xmlns:a16="http://schemas.microsoft.com/office/drawing/2014/main" id="{4F846207-71D5-5076-5C1D-EA9D3DFFBD7D}"/>
              </a:ext>
            </a:extLst>
          </p:cNvPr>
          <p:cNvSpPr/>
          <p:nvPr/>
        </p:nvSpPr>
        <p:spPr>
          <a:xfrm>
            <a:off x="3528894" y="2028504"/>
            <a:ext cx="2156431" cy="1356444"/>
          </a:xfrm>
          <a:prstGeom prst="roundRect">
            <a:avLst/>
          </a:prstGeom>
          <a:ln>
            <a:solidFill>
              <a:schemeClr val="accent1">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en-VN" sz="1200">
                <a:ln>
                  <a:solidFill>
                    <a:schemeClr val="tx1"/>
                  </a:solidFill>
                </a:ln>
              </a:rPr>
              <a:t>Biến có ngưỡng tối đa</a:t>
            </a:r>
          </a:p>
        </p:txBody>
      </p:sp>
      <p:sp>
        <p:nvSpPr>
          <p:cNvPr id="19" name="Rounded Rectangle 18">
            <a:extLst>
              <a:ext uri="{FF2B5EF4-FFF2-40B4-BE49-F238E27FC236}">
                <a16:creationId xmlns:a16="http://schemas.microsoft.com/office/drawing/2014/main" id="{249642BC-E909-F225-7B0D-801BD6D6FA24}"/>
              </a:ext>
            </a:extLst>
          </p:cNvPr>
          <p:cNvSpPr/>
          <p:nvPr/>
        </p:nvSpPr>
        <p:spPr>
          <a:xfrm>
            <a:off x="6285794" y="2028504"/>
            <a:ext cx="2156431" cy="1356444"/>
          </a:xfrm>
          <a:prstGeom prst="roundRect">
            <a:avLst/>
          </a:prstGeom>
          <a:ln>
            <a:solidFill>
              <a:schemeClr val="accent1">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en-VN" sz="1200">
                <a:ln>
                  <a:solidFill>
                    <a:schemeClr val="tx1"/>
                  </a:solidFill>
                </a:ln>
              </a:rPr>
              <a:t>Biến có ngưỡng tối thiểu</a:t>
            </a:r>
          </a:p>
        </p:txBody>
      </p:sp>
      <p:sp>
        <p:nvSpPr>
          <p:cNvPr id="14" name="Rounded Rectangle 13">
            <a:extLst>
              <a:ext uri="{FF2B5EF4-FFF2-40B4-BE49-F238E27FC236}">
                <a16:creationId xmlns:a16="http://schemas.microsoft.com/office/drawing/2014/main" id="{FEE1006C-61E6-A9D1-42AC-5F041316102E}"/>
              </a:ext>
            </a:extLst>
          </p:cNvPr>
          <p:cNvSpPr/>
          <p:nvPr/>
        </p:nvSpPr>
        <p:spPr>
          <a:xfrm>
            <a:off x="771995" y="2028504"/>
            <a:ext cx="2156431" cy="1356444"/>
          </a:xfrm>
          <a:prstGeom prst="roundRect">
            <a:avLst/>
          </a:prstGeom>
          <a:ln>
            <a:solidFill>
              <a:schemeClr val="accent1">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en-VN" sz="1200">
                <a:ln>
                  <a:solidFill>
                    <a:schemeClr val="tx1"/>
                  </a:solidFill>
                </a:ln>
              </a:rPr>
              <a:t>Biến có khoảng tối ưu</a:t>
            </a:r>
          </a:p>
        </p:txBody>
      </p:sp>
      <p:sp>
        <p:nvSpPr>
          <p:cNvPr id="2" name="Slide Number Placeholder 1">
            <a:extLst>
              <a:ext uri="{FF2B5EF4-FFF2-40B4-BE49-F238E27FC236}">
                <a16:creationId xmlns:a16="http://schemas.microsoft.com/office/drawing/2014/main" id="{0CBBE6D9-9617-6C05-9003-E6506F33C0E6}"/>
              </a:ext>
            </a:extLst>
          </p:cNvPr>
          <p:cNvSpPr>
            <a:spLocks noGrp="1"/>
          </p:cNvSpPr>
          <p:nvPr>
            <p:ph type="sldNum" sz="quarter" idx="12"/>
          </p:nvPr>
        </p:nvSpPr>
        <p:spPr/>
        <p:txBody>
          <a:bodyPr/>
          <a:lstStyle/>
          <a:p>
            <a:fld id="{9EA0BE3B-158A-4EDF-80DC-E394A0D1600F}" type="slidenum">
              <a:rPr lang="en-US" smtClean="0"/>
              <a:pPr/>
              <a:t>21</a:t>
            </a:fld>
            <a:endParaRPr lang="en-US"/>
          </a:p>
        </p:txBody>
      </p:sp>
      <p:sp>
        <p:nvSpPr>
          <p:cNvPr id="3" name="Title 2">
            <a:extLst>
              <a:ext uri="{FF2B5EF4-FFF2-40B4-BE49-F238E27FC236}">
                <a16:creationId xmlns:a16="http://schemas.microsoft.com/office/drawing/2014/main" id="{EB38421F-2238-EC63-FB1E-62A1145CEE3F}"/>
              </a:ext>
            </a:extLst>
          </p:cNvPr>
          <p:cNvSpPr>
            <a:spLocks noGrp="1"/>
          </p:cNvSpPr>
          <p:nvPr>
            <p:ph type="title"/>
          </p:nvPr>
        </p:nvSpPr>
        <p:spPr/>
        <p:txBody>
          <a:bodyPr lIns="91440" tIns="45720" rIns="91440" bIns="45720" anchor="t"/>
          <a:lstStyle/>
          <a:p>
            <a:r>
              <a:rPr lang="en-US">
                <a:latin typeface="Lato"/>
                <a:ea typeface="Lato"/>
                <a:cs typeface="Lato"/>
              </a:rPr>
              <a:t>4.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bản</a:t>
            </a:r>
            <a:r>
              <a:rPr lang="en-US">
                <a:latin typeface="Lato"/>
                <a:ea typeface="Lato"/>
                <a:cs typeface="Lato"/>
              </a:rPr>
              <a:t> </a:t>
            </a:r>
            <a:r>
              <a:rPr lang="en-US" err="1">
                <a:latin typeface="Lato"/>
                <a:ea typeface="Lato"/>
                <a:cs typeface="Lato"/>
              </a:rPr>
              <a:t>đồ</a:t>
            </a:r>
            <a:r>
              <a:rPr lang="en-US">
                <a:latin typeface="Lato"/>
                <a:ea typeface="Lato"/>
                <a:cs typeface="Lato"/>
              </a:rPr>
              <a:t> </a:t>
            </a:r>
            <a:r>
              <a:rPr lang="en-US" err="1">
                <a:latin typeface="Lato"/>
                <a:ea typeface="Lato"/>
                <a:cs typeface="Lato"/>
              </a:rPr>
              <a:t>vùng</a:t>
            </a:r>
            <a:r>
              <a:rPr lang="en-US">
                <a:latin typeface="Lato"/>
                <a:ea typeface="Lato"/>
                <a:cs typeface="Lato"/>
              </a:rPr>
              <a:t> </a:t>
            </a:r>
            <a:r>
              <a:rPr lang="en-US" err="1">
                <a:latin typeface="Lato"/>
                <a:ea typeface="Lato"/>
                <a:cs typeface="Lato"/>
              </a:rPr>
              <a:t>nuôi</a:t>
            </a:r>
            <a:r>
              <a:rPr lang="en-US">
                <a:latin typeface="Lato"/>
                <a:ea typeface="Lato"/>
                <a:cs typeface="Lato"/>
              </a:rPr>
              <a:t> </a:t>
            </a:r>
            <a:r>
              <a:rPr lang="en-US" err="1">
                <a:latin typeface="Lato"/>
                <a:ea typeface="Lato"/>
                <a:cs typeface="Lato"/>
              </a:rPr>
              <a:t>trồng</a:t>
            </a:r>
            <a:endParaRPr lang="en-US">
              <a:latin typeface="Lato"/>
            </a:endParaRPr>
          </a:p>
          <a:p>
            <a:endParaRPr lang="en-US">
              <a:latin typeface="Lato"/>
              <a:ea typeface="Lato"/>
              <a:cs typeface="Lato"/>
            </a:endParaRPr>
          </a:p>
        </p:txBody>
      </p:sp>
      <p:sp>
        <p:nvSpPr>
          <p:cNvPr id="4" name="TextBox 3">
            <a:extLst>
              <a:ext uri="{FF2B5EF4-FFF2-40B4-BE49-F238E27FC236}">
                <a16:creationId xmlns:a16="http://schemas.microsoft.com/office/drawing/2014/main" id="{3F80CC50-8171-8468-1C36-B26A90FB6646}"/>
              </a:ext>
            </a:extLst>
          </p:cNvPr>
          <p:cNvSpPr txBox="1"/>
          <p:nvPr/>
        </p:nvSpPr>
        <p:spPr>
          <a:xfrm>
            <a:off x="235077" y="847285"/>
            <a:ext cx="8908923" cy="1107996"/>
          </a:xfrm>
          <a:prstGeom prst="rect">
            <a:avLst/>
          </a:prstGeom>
          <a:noFill/>
        </p:spPr>
        <p:txBody>
          <a:bodyPr wrap="square" rtlCol="0">
            <a:spAutoFit/>
          </a:bodyPr>
          <a:lstStyle/>
          <a:p>
            <a:r>
              <a:rPr lang="en-US" b="1" dirty="0" err="1">
                <a:latin typeface="Lato" panose="020F0502020204030203" pitchFamily="34" charset="0"/>
                <a:ea typeface="Lato" panose="020F0502020204030203" pitchFamily="34" charset="0"/>
                <a:cs typeface="Lato" panose="020F0502020204030203" pitchFamily="34" charset="0"/>
              </a:rPr>
              <a:t>Xây</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dựng</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công</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thức</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tính</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mức</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độ</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phù</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hợp</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sinh</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học</a:t>
            </a:r>
            <a:r>
              <a:rPr lang="en-US" b="1" dirty="0">
                <a:latin typeface="Lato" panose="020F0502020204030203" pitchFamily="34" charset="0"/>
                <a:ea typeface="Lato" panose="020F0502020204030203" pitchFamily="34" charset="0"/>
                <a:cs typeface="Lato" panose="020F0502020204030203" pitchFamily="34" charset="0"/>
              </a:rPr>
              <a:t> (HSI):</a:t>
            </a:r>
          </a:p>
          <a:p>
            <a:r>
              <a:rPr lang="en-US" sz="1600" dirty="0" err="1">
                <a:latin typeface="Lato" panose="020F0502020204030203" pitchFamily="34" charset="0"/>
                <a:ea typeface="Lato" panose="020F0502020204030203" pitchFamily="34" charset="0"/>
                <a:cs typeface="Lato" panose="020F0502020204030203" pitchFamily="34" charset="0"/>
              </a:rPr>
              <a:t>Sử</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dụng</a:t>
            </a:r>
            <a:r>
              <a:rPr lang="en-US" sz="1600" dirty="0">
                <a:latin typeface="Lato" panose="020F0502020204030203" pitchFamily="34" charset="0"/>
                <a:ea typeface="Lato" panose="020F0502020204030203" pitchFamily="34" charset="0"/>
                <a:cs typeface="Lato" panose="020F0502020204030203" pitchFamily="34" charset="0"/>
              </a:rPr>
              <a:t> 21 </a:t>
            </a:r>
            <a:r>
              <a:rPr lang="en-US" sz="1600" dirty="0" err="1">
                <a:latin typeface="Lato" panose="020F0502020204030203" pitchFamily="34" charset="0"/>
                <a:ea typeface="Lato" panose="020F0502020204030203" pitchFamily="34" charset="0"/>
                <a:cs typeface="Lato" panose="020F0502020204030203" pitchFamily="34" charset="0"/>
              </a:rPr>
              <a:t>biến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đầu</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ra</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từ</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các</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mô</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hình</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dự</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đoán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cho</a:t>
            </a:r>
            <a:r>
              <a:rPr lang="en-US" sz="1600" dirty="0">
                <a:latin typeface="Lato" panose="020F0502020204030203" pitchFamily="34" charset="0"/>
                <a:ea typeface="Lato" panose="020F0502020204030203" pitchFamily="34" charset="0"/>
                <a:cs typeface="Lato" panose="020F0502020204030203" pitchFamily="34" charset="0"/>
              </a:rPr>
              <a:t> 1 </a:t>
            </a:r>
            <a:r>
              <a:rPr lang="en-US" sz="1600" dirty="0" err="1">
                <a:latin typeface="Lato" panose="020F0502020204030203" pitchFamily="34" charset="0"/>
                <a:ea typeface="Lato" panose="020F0502020204030203" pitchFamily="34" charset="0"/>
                <a:cs typeface="Lato" panose="020F0502020204030203" pitchFamily="34" charset="0"/>
              </a:rPr>
              <a:t>toạ</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độ</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tại</a:t>
            </a:r>
            <a:r>
              <a:rPr lang="en-US" sz="1600" dirty="0">
                <a:latin typeface="Lato" panose="020F0502020204030203" pitchFamily="34" charset="0"/>
                <a:ea typeface="Lato" panose="020F0502020204030203" pitchFamily="34" charset="0"/>
                <a:cs typeface="Lato" panose="020F0502020204030203" pitchFamily="34" charset="0"/>
              </a:rPr>
              <a:t> 1 </a:t>
            </a:r>
            <a:r>
              <a:rPr lang="en-US" sz="1600" dirty="0" err="1">
                <a:latin typeface="Lato" panose="020F0502020204030203" pitchFamily="34" charset="0"/>
                <a:ea typeface="Lato" panose="020F0502020204030203" pitchFamily="34" charset="0"/>
                <a:cs typeface="Lato" panose="020F0502020204030203" pitchFamily="34" charset="0"/>
              </a:rPr>
              <a:t>quý</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để</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tổng</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hợp</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tính</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mức</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độ</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phù</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hợp</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sinh</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học</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Tham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khảo</a:t>
            </a:r>
            <a:r>
              <a:rPr lang="en-US" sz="1600" dirty="0">
                <a:latin typeface="Lato" panose="020F0502020204030203" pitchFamily="34" charset="0"/>
                <a:ea typeface="Lato" panose="020F0502020204030203" pitchFamily="34" charset="0"/>
                <a:cs typeface="Lato" panose="020F0502020204030203" pitchFamily="34" charset="0"/>
              </a:rPr>
              <a:t>: </a:t>
            </a:r>
            <a:r>
              <a:rPr lang="en-US" sz="1600" i="1" dirty="0">
                <a:latin typeface="Lato" panose="020F0502020204030203" pitchFamily="34" charset="0"/>
                <a:ea typeface="Lato" panose="020F0502020204030203" pitchFamily="34" charset="0"/>
                <a:cs typeface="Lato" panose="020F0502020204030203" pitchFamily="34" charset="0"/>
              </a:rPr>
              <a:t>Brown (1986) – Habitat Suitability Index Models and Instream Flow Suitability Curves)</a:t>
            </a:r>
            <a:endParaRPr lang="en-VN" sz="1600" i="1" dirty="0">
              <a:latin typeface="Lato" panose="020F0502020204030203" pitchFamily="34" charset="0"/>
              <a:ea typeface="Lato" panose="020F0502020204030203" pitchFamily="34" charset="0"/>
              <a:cs typeface="Lato" panose="020F0502020204030203" pitchFamily="34" charset="0"/>
            </a:endParaRPr>
          </a:p>
        </p:txBody>
      </p:sp>
      <p:pic>
        <p:nvPicPr>
          <p:cNvPr id="6" name="Picture 5" descr="A math equations and symbols&#10;&#10;Description automatically generated with medium confidence">
            <a:extLst>
              <a:ext uri="{FF2B5EF4-FFF2-40B4-BE49-F238E27FC236}">
                <a16:creationId xmlns:a16="http://schemas.microsoft.com/office/drawing/2014/main" id="{C391F6EF-11D2-A6E6-6A88-854332443F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871" y="2370378"/>
            <a:ext cx="1924677" cy="962339"/>
          </a:xfrm>
          <a:prstGeom prst="rect">
            <a:avLst/>
          </a:prstGeom>
        </p:spPr>
      </p:pic>
      <p:pic>
        <p:nvPicPr>
          <p:cNvPr id="8" name="Picture 7" descr="A black text with a white background&#10;&#10;Description automatically generated">
            <a:extLst>
              <a:ext uri="{FF2B5EF4-FFF2-40B4-BE49-F238E27FC236}">
                <a16:creationId xmlns:a16="http://schemas.microsoft.com/office/drawing/2014/main" id="{39379AA8-3C02-74B2-AC79-8B404692F4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18109" y="2581528"/>
            <a:ext cx="1778000" cy="533400"/>
          </a:xfrm>
          <a:prstGeom prst="rect">
            <a:avLst/>
          </a:prstGeom>
        </p:spPr>
      </p:pic>
      <p:pic>
        <p:nvPicPr>
          <p:cNvPr id="11" name="Picture 10" descr="A math equation with a circle and a circle&#10;&#10;Description automatically generated with medium confidence">
            <a:extLst>
              <a:ext uri="{FF2B5EF4-FFF2-40B4-BE49-F238E27FC236}">
                <a16:creationId xmlns:a16="http://schemas.microsoft.com/office/drawing/2014/main" id="{3B4C5427-2A1B-520D-83D1-CE7D8DAAE5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5509" y="2632328"/>
            <a:ext cx="1397000" cy="482600"/>
          </a:xfrm>
          <a:prstGeom prst="rect">
            <a:avLst/>
          </a:prstGeom>
        </p:spPr>
      </p:pic>
      <p:pic>
        <p:nvPicPr>
          <p:cNvPr id="13" name="Picture 12" descr="A black and white math equation&#10;&#10;Description automatically generated with medium confidence">
            <a:extLst>
              <a:ext uri="{FF2B5EF4-FFF2-40B4-BE49-F238E27FC236}">
                <a16:creationId xmlns:a16="http://schemas.microsoft.com/office/drawing/2014/main" id="{1DB63BEE-68E4-3F92-DCF9-A0B4D5E9E8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24124" y="4006873"/>
            <a:ext cx="1359812" cy="607295"/>
          </a:xfrm>
          <a:prstGeom prst="rect">
            <a:avLst/>
          </a:prstGeom>
        </p:spPr>
      </p:pic>
      <p:cxnSp>
        <p:nvCxnSpPr>
          <p:cNvPr id="22" name="Straight Arrow Connector 21">
            <a:extLst>
              <a:ext uri="{FF2B5EF4-FFF2-40B4-BE49-F238E27FC236}">
                <a16:creationId xmlns:a16="http://schemas.microsoft.com/office/drawing/2014/main" id="{071ECC2F-5EDB-BDC0-B51D-95D7280B9726}"/>
              </a:ext>
            </a:extLst>
          </p:cNvPr>
          <p:cNvCxnSpPr>
            <a:cxnSpLocks/>
            <a:stCxn id="14" idx="2"/>
            <a:endCxn id="20" idx="1"/>
          </p:cNvCxnSpPr>
          <p:nvPr/>
        </p:nvCxnSpPr>
        <p:spPr>
          <a:xfrm>
            <a:off x="1850211" y="3384948"/>
            <a:ext cx="1785115" cy="925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01D16DF-0CBF-7F14-FF2A-C0DB89635E53}"/>
              </a:ext>
            </a:extLst>
          </p:cNvPr>
          <p:cNvCxnSpPr>
            <a:cxnSpLocks/>
            <a:endCxn id="20" idx="0"/>
          </p:cNvCxnSpPr>
          <p:nvPr/>
        </p:nvCxnSpPr>
        <p:spPr>
          <a:xfrm>
            <a:off x="4603551" y="3384948"/>
            <a:ext cx="3558" cy="553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DB1D178-9F35-74C0-21A0-86A94DEF9D85}"/>
              </a:ext>
            </a:extLst>
          </p:cNvPr>
          <p:cNvCxnSpPr>
            <a:cxnSpLocks/>
            <a:stCxn id="19" idx="2"/>
            <a:endCxn id="20" idx="3"/>
          </p:cNvCxnSpPr>
          <p:nvPr/>
        </p:nvCxnSpPr>
        <p:spPr>
          <a:xfrm flipH="1">
            <a:off x="5578891" y="3384948"/>
            <a:ext cx="1785119" cy="925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124799A7-36E8-E549-D35D-C4A530C94165}"/>
              </a:ext>
            </a:extLst>
          </p:cNvPr>
          <p:cNvSpPr/>
          <p:nvPr/>
        </p:nvSpPr>
        <p:spPr>
          <a:xfrm>
            <a:off x="879171" y="5443596"/>
            <a:ext cx="1867898" cy="301451"/>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sz="1400">
                <a:solidFill>
                  <a:schemeClr val="tx1"/>
                </a:solidFill>
              </a:rPr>
              <a:t>Không phù hợp</a:t>
            </a:r>
          </a:p>
        </p:txBody>
      </p:sp>
      <p:sp>
        <p:nvSpPr>
          <p:cNvPr id="32" name="Rectangle 31">
            <a:extLst>
              <a:ext uri="{FF2B5EF4-FFF2-40B4-BE49-F238E27FC236}">
                <a16:creationId xmlns:a16="http://schemas.microsoft.com/office/drawing/2014/main" id="{D461FAE2-2A5E-2E25-DB4F-526D514A1602}"/>
              </a:ext>
            </a:extLst>
          </p:cNvPr>
          <p:cNvSpPr/>
          <p:nvPr/>
        </p:nvSpPr>
        <p:spPr>
          <a:xfrm>
            <a:off x="2771545" y="5443597"/>
            <a:ext cx="1867898" cy="301451"/>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sz="1400">
                <a:solidFill>
                  <a:schemeClr val="tx1"/>
                </a:solidFill>
              </a:rPr>
              <a:t>Ít phù hợp</a:t>
            </a:r>
          </a:p>
        </p:txBody>
      </p:sp>
      <p:sp>
        <p:nvSpPr>
          <p:cNvPr id="33" name="Rectangle 32">
            <a:extLst>
              <a:ext uri="{FF2B5EF4-FFF2-40B4-BE49-F238E27FC236}">
                <a16:creationId xmlns:a16="http://schemas.microsoft.com/office/drawing/2014/main" id="{56F7336C-958C-B879-1E91-463E035E9386}"/>
              </a:ext>
            </a:extLst>
          </p:cNvPr>
          <p:cNvSpPr/>
          <p:nvPr/>
        </p:nvSpPr>
        <p:spPr>
          <a:xfrm>
            <a:off x="4663402" y="5443597"/>
            <a:ext cx="1867898" cy="301451"/>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sz="1400">
                <a:solidFill>
                  <a:schemeClr val="tx1"/>
                </a:solidFill>
              </a:rPr>
              <a:t>Phù hợp</a:t>
            </a:r>
          </a:p>
        </p:txBody>
      </p:sp>
      <p:sp>
        <p:nvSpPr>
          <p:cNvPr id="34" name="Rectangle 33">
            <a:extLst>
              <a:ext uri="{FF2B5EF4-FFF2-40B4-BE49-F238E27FC236}">
                <a16:creationId xmlns:a16="http://schemas.microsoft.com/office/drawing/2014/main" id="{134518E3-1A9C-058A-971C-E9BAB2777479}"/>
              </a:ext>
            </a:extLst>
          </p:cNvPr>
          <p:cNvSpPr/>
          <p:nvPr/>
        </p:nvSpPr>
        <p:spPr>
          <a:xfrm>
            <a:off x="6555259" y="5443596"/>
            <a:ext cx="1867898" cy="301451"/>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sz="1400">
                <a:solidFill>
                  <a:schemeClr val="tx1"/>
                </a:solidFill>
              </a:rPr>
              <a:t>Rất phù hợp</a:t>
            </a:r>
          </a:p>
        </p:txBody>
      </p:sp>
      <p:sp>
        <p:nvSpPr>
          <p:cNvPr id="35" name="TextBox 34">
            <a:extLst>
              <a:ext uri="{FF2B5EF4-FFF2-40B4-BE49-F238E27FC236}">
                <a16:creationId xmlns:a16="http://schemas.microsoft.com/office/drawing/2014/main" id="{ED0662F6-5E93-A615-6B58-3CC6A69A2E1B}"/>
              </a:ext>
            </a:extLst>
          </p:cNvPr>
          <p:cNvSpPr txBox="1"/>
          <p:nvPr/>
        </p:nvSpPr>
        <p:spPr>
          <a:xfrm>
            <a:off x="2554178" y="5125771"/>
            <a:ext cx="434734" cy="307777"/>
          </a:xfrm>
          <a:prstGeom prst="rect">
            <a:avLst/>
          </a:prstGeom>
          <a:noFill/>
        </p:spPr>
        <p:txBody>
          <a:bodyPr wrap="none" rtlCol="0">
            <a:spAutoFit/>
          </a:bodyPr>
          <a:lstStyle/>
          <a:p>
            <a:r>
              <a:rPr lang="en-VN" sz="1400">
                <a:latin typeface="Lato" panose="020F0502020204030203" pitchFamily="34" charset="0"/>
                <a:ea typeface="Lato" panose="020F0502020204030203" pitchFamily="34" charset="0"/>
                <a:cs typeface="Lato" panose="020F0502020204030203" pitchFamily="34" charset="0"/>
              </a:rPr>
              <a:t>0.5</a:t>
            </a:r>
          </a:p>
        </p:txBody>
      </p:sp>
      <p:sp>
        <p:nvSpPr>
          <p:cNvPr id="36" name="TextBox 35">
            <a:extLst>
              <a:ext uri="{FF2B5EF4-FFF2-40B4-BE49-F238E27FC236}">
                <a16:creationId xmlns:a16="http://schemas.microsoft.com/office/drawing/2014/main" id="{DC2E9C9C-9D13-6A9F-D1F8-38CA3343041E}"/>
              </a:ext>
            </a:extLst>
          </p:cNvPr>
          <p:cNvSpPr txBox="1"/>
          <p:nvPr/>
        </p:nvSpPr>
        <p:spPr>
          <a:xfrm>
            <a:off x="4393937" y="5125770"/>
            <a:ext cx="538930" cy="307777"/>
          </a:xfrm>
          <a:prstGeom prst="rect">
            <a:avLst/>
          </a:prstGeom>
          <a:noFill/>
        </p:spPr>
        <p:txBody>
          <a:bodyPr wrap="none" rtlCol="0">
            <a:spAutoFit/>
          </a:bodyPr>
          <a:lstStyle/>
          <a:p>
            <a:r>
              <a:rPr lang="en-VN" sz="1400">
                <a:latin typeface="Lato" panose="020F0502020204030203" pitchFamily="34" charset="0"/>
                <a:ea typeface="Lato" panose="020F0502020204030203" pitchFamily="34" charset="0"/>
                <a:cs typeface="Lato" panose="020F0502020204030203" pitchFamily="34" charset="0"/>
              </a:rPr>
              <a:t>0.75</a:t>
            </a:r>
          </a:p>
        </p:txBody>
      </p:sp>
      <p:sp>
        <p:nvSpPr>
          <p:cNvPr id="37" name="TextBox 36">
            <a:extLst>
              <a:ext uri="{FF2B5EF4-FFF2-40B4-BE49-F238E27FC236}">
                <a16:creationId xmlns:a16="http://schemas.microsoft.com/office/drawing/2014/main" id="{53D71BD9-442B-0915-82D7-5D15A5DE77CC}"/>
              </a:ext>
            </a:extLst>
          </p:cNvPr>
          <p:cNvSpPr txBox="1"/>
          <p:nvPr/>
        </p:nvSpPr>
        <p:spPr>
          <a:xfrm>
            <a:off x="6285794" y="5125769"/>
            <a:ext cx="538930" cy="307777"/>
          </a:xfrm>
          <a:prstGeom prst="rect">
            <a:avLst/>
          </a:prstGeom>
          <a:noFill/>
        </p:spPr>
        <p:txBody>
          <a:bodyPr wrap="none" rtlCol="0">
            <a:spAutoFit/>
          </a:bodyPr>
          <a:lstStyle/>
          <a:p>
            <a:r>
              <a:rPr lang="en-VN" sz="1400">
                <a:latin typeface="Lato" panose="020F0502020204030203" pitchFamily="34" charset="0"/>
                <a:ea typeface="Lato" panose="020F0502020204030203" pitchFamily="34" charset="0"/>
                <a:cs typeface="Lato" panose="020F0502020204030203" pitchFamily="34" charset="0"/>
              </a:rPr>
              <a:t>0.85</a:t>
            </a:r>
          </a:p>
        </p:txBody>
      </p:sp>
      <p:sp>
        <p:nvSpPr>
          <p:cNvPr id="39" name="TextBox 38">
            <a:extLst>
              <a:ext uri="{FF2B5EF4-FFF2-40B4-BE49-F238E27FC236}">
                <a16:creationId xmlns:a16="http://schemas.microsoft.com/office/drawing/2014/main" id="{AEC6B1B0-7D83-7AC8-8C73-C286993CB6D3}"/>
              </a:ext>
            </a:extLst>
          </p:cNvPr>
          <p:cNvSpPr txBox="1"/>
          <p:nvPr/>
        </p:nvSpPr>
        <p:spPr>
          <a:xfrm>
            <a:off x="301466" y="4640210"/>
            <a:ext cx="2898550" cy="369332"/>
          </a:xfrm>
          <a:prstGeom prst="rect">
            <a:avLst/>
          </a:prstGeom>
          <a:noFill/>
        </p:spPr>
        <p:txBody>
          <a:bodyPr wrap="none" rtlCol="0">
            <a:spAutoFit/>
          </a:bodyPr>
          <a:lstStyle/>
          <a:p>
            <a:r>
              <a:rPr lang="en-US" dirty="0" err="1">
                <a:latin typeface="Lato" panose="020F0502020204030203" pitchFamily="34" charset="0"/>
                <a:ea typeface="Lato" panose="020F0502020204030203" pitchFamily="34" charset="0"/>
                <a:cs typeface="Lato" panose="020F0502020204030203" pitchFamily="34" charset="0"/>
              </a:rPr>
              <a:t>Phân</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loại</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mức</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độ</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phù</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hợp</a:t>
            </a:r>
            <a:r>
              <a:rPr lang="en-US" dirty="0">
                <a:latin typeface="Lato" panose="020F0502020204030203" pitchFamily="34" charset="0"/>
                <a:ea typeface="Lato" panose="020F0502020204030203" pitchFamily="34" charset="0"/>
                <a:cs typeface="Lato" panose="020F0502020204030203" pitchFamily="34" charset="0"/>
              </a:rPr>
              <a:t>:</a:t>
            </a:r>
            <a:endParaRPr lang="en-VN"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173414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6C02-56A9-E7A6-AD91-0CF39063E2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BBE6D9-9617-6C05-9003-E6506F33C0E6}"/>
              </a:ext>
            </a:extLst>
          </p:cNvPr>
          <p:cNvSpPr>
            <a:spLocks noGrp="1"/>
          </p:cNvSpPr>
          <p:nvPr>
            <p:ph type="sldNum" sz="quarter" idx="12"/>
          </p:nvPr>
        </p:nvSpPr>
        <p:spPr/>
        <p:txBody>
          <a:bodyPr/>
          <a:lstStyle/>
          <a:p>
            <a:fld id="{9EA0BE3B-158A-4EDF-80DC-E394A0D1600F}" type="slidenum">
              <a:rPr lang="en-US" smtClean="0"/>
              <a:pPr/>
              <a:t>22</a:t>
            </a:fld>
            <a:endParaRPr lang="en-US"/>
          </a:p>
        </p:txBody>
      </p:sp>
      <p:sp>
        <p:nvSpPr>
          <p:cNvPr id="3" name="Title 2">
            <a:extLst>
              <a:ext uri="{FF2B5EF4-FFF2-40B4-BE49-F238E27FC236}">
                <a16:creationId xmlns:a16="http://schemas.microsoft.com/office/drawing/2014/main" id="{EB38421F-2238-EC63-FB1E-62A1145CEE3F}"/>
              </a:ext>
            </a:extLst>
          </p:cNvPr>
          <p:cNvSpPr>
            <a:spLocks noGrp="1"/>
          </p:cNvSpPr>
          <p:nvPr>
            <p:ph type="title"/>
          </p:nvPr>
        </p:nvSpPr>
        <p:spPr/>
        <p:txBody>
          <a:bodyPr lIns="91440" tIns="45720" rIns="91440" bIns="45720" anchor="t"/>
          <a:lstStyle/>
          <a:p>
            <a:r>
              <a:rPr lang="en-US">
                <a:latin typeface="Lato"/>
                <a:ea typeface="Lato"/>
                <a:cs typeface="Lato"/>
              </a:rPr>
              <a:t>4.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bản</a:t>
            </a:r>
            <a:r>
              <a:rPr lang="en-US">
                <a:latin typeface="Lato"/>
                <a:ea typeface="Lato"/>
                <a:cs typeface="Lato"/>
              </a:rPr>
              <a:t> </a:t>
            </a:r>
            <a:r>
              <a:rPr lang="en-US" err="1">
                <a:latin typeface="Lato"/>
                <a:ea typeface="Lato"/>
                <a:cs typeface="Lato"/>
              </a:rPr>
              <a:t>đồ</a:t>
            </a:r>
            <a:r>
              <a:rPr lang="en-US">
                <a:latin typeface="Lato"/>
                <a:ea typeface="Lato"/>
                <a:cs typeface="Lato"/>
              </a:rPr>
              <a:t> </a:t>
            </a:r>
            <a:r>
              <a:rPr lang="en-US" err="1">
                <a:latin typeface="Lato"/>
                <a:ea typeface="Lato"/>
                <a:cs typeface="Lato"/>
              </a:rPr>
              <a:t>vùng</a:t>
            </a:r>
            <a:r>
              <a:rPr lang="en-US">
                <a:latin typeface="Lato"/>
                <a:ea typeface="Lato"/>
                <a:cs typeface="Lato"/>
              </a:rPr>
              <a:t> </a:t>
            </a:r>
            <a:r>
              <a:rPr lang="en-US" err="1">
                <a:latin typeface="Lato"/>
                <a:ea typeface="Lato"/>
                <a:cs typeface="Lato"/>
              </a:rPr>
              <a:t>nuôi</a:t>
            </a:r>
            <a:r>
              <a:rPr lang="en-US">
                <a:latin typeface="Lato"/>
                <a:ea typeface="Lato"/>
                <a:cs typeface="Lato"/>
              </a:rPr>
              <a:t> </a:t>
            </a:r>
            <a:r>
              <a:rPr lang="en-US" err="1">
                <a:latin typeface="Lato"/>
                <a:ea typeface="Lato"/>
                <a:cs typeface="Lato"/>
              </a:rPr>
              <a:t>trồng</a:t>
            </a:r>
            <a:endParaRPr lang="en-US">
              <a:latin typeface="Lato"/>
            </a:endParaRPr>
          </a:p>
          <a:p>
            <a:endParaRPr lang="en-US">
              <a:latin typeface="Lato"/>
              <a:ea typeface="Lato"/>
              <a:cs typeface="Lato"/>
            </a:endParaRPr>
          </a:p>
        </p:txBody>
      </p:sp>
      <p:sp>
        <p:nvSpPr>
          <p:cNvPr id="4" name="TextBox 3">
            <a:extLst>
              <a:ext uri="{FF2B5EF4-FFF2-40B4-BE49-F238E27FC236}">
                <a16:creationId xmlns:a16="http://schemas.microsoft.com/office/drawing/2014/main" id="{3F80CC50-8171-8468-1C36-B26A90FB6646}"/>
              </a:ext>
            </a:extLst>
          </p:cNvPr>
          <p:cNvSpPr txBox="1"/>
          <p:nvPr/>
        </p:nvSpPr>
        <p:spPr>
          <a:xfrm>
            <a:off x="235077" y="847285"/>
            <a:ext cx="4956806" cy="369332"/>
          </a:xfrm>
          <a:prstGeom prst="rect">
            <a:avLst/>
          </a:prstGeom>
          <a:noFill/>
        </p:spPr>
        <p:txBody>
          <a:bodyPr wrap="none" rtlCol="0">
            <a:spAutoFit/>
          </a:bodyPr>
          <a:lstStyle/>
          <a:p>
            <a:r>
              <a:rPr lang="en-US" b="1" err="1">
                <a:latin typeface="Lato" panose="020F0502020204030203" pitchFamily="34" charset="0"/>
                <a:ea typeface="Lato" panose="020F0502020204030203" pitchFamily="34" charset="0"/>
                <a:cs typeface="Lato" panose="020F0502020204030203" pitchFamily="34" charset="0"/>
              </a:rPr>
              <a:t>Xác</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định</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phạm</a:t>
            </a:r>
            <a:r>
              <a:rPr lang="en-US" b="1">
                <a:latin typeface="Lato" panose="020F0502020204030203" pitchFamily="34" charset="0"/>
                <a:ea typeface="Lato" panose="020F0502020204030203" pitchFamily="34" charset="0"/>
                <a:cs typeface="Lato" panose="020F0502020204030203" pitchFamily="34" charset="0"/>
              </a:rPr>
              <a:t> vi </a:t>
            </a:r>
            <a:r>
              <a:rPr lang="en-US" b="1" err="1">
                <a:latin typeface="Lato" panose="020F0502020204030203" pitchFamily="34" charset="0"/>
                <a:ea typeface="Lato" panose="020F0502020204030203" pitchFamily="34" charset="0"/>
                <a:cs typeface="Lato" panose="020F0502020204030203" pitchFamily="34" charset="0"/>
              </a:rPr>
              <a:t>áp</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dụng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của</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kết</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quả</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dự</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đoán</a:t>
            </a:r>
            <a:endParaRPr lang="en-VN" b="1">
              <a:latin typeface="Lato" panose="020F0502020204030203" pitchFamily="34" charset="0"/>
              <a:ea typeface="Lato" panose="020F0502020204030203" pitchFamily="34" charset="0"/>
              <a:cs typeface="Lato" panose="020F0502020204030203" pitchFamily="34" charset="0"/>
            </a:endParaRPr>
          </a:p>
        </p:txBody>
      </p:sp>
      <p:pic>
        <p:nvPicPr>
          <p:cNvPr id="7" name="Picture 6" descr="A black rectangular object with numbers and a square in it&#10;&#10;Description automatically generated">
            <a:extLst>
              <a:ext uri="{FF2B5EF4-FFF2-40B4-BE49-F238E27FC236}">
                <a16:creationId xmlns:a16="http://schemas.microsoft.com/office/drawing/2014/main" id="{39030B7B-25B1-B60B-975A-BBB78322FA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4917" y="1698405"/>
            <a:ext cx="2473786" cy="541598"/>
          </a:xfrm>
          <a:prstGeom prst="rect">
            <a:avLst/>
          </a:prstGeom>
        </p:spPr>
      </p:pic>
      <p:pic>
        <p:nvPicPr>
          <p:cNvPr id="10" name="Picture 9">
            <a:extLst>
              <a:ext uri="{FF2B5EF4-FFF2-40B4-BE49-F238E27FC236}">
                <a16:creationId xmlns:a16="http://schemas.microsoft.com/office/drawing/2014/main" id="{69D1BE55-C054-89E3-4BCC-547B0A79B1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2919" y="2359403"/>
            <a:ext cx="2104763" cy="336178"/>
          </a:xfrm>
          <a:prstGeom prst="rect">
            <a:avLst/>
          </a:prstGeom>
        </p:spPr>
      </p:pic>
      <p:sp>
        <p:nvSpPr>
          <p:cNvPr id="25" name="TextBox 24">
            <a:extLst>
              <a:ext uri="{FF2B5EF4-FFF2-40B4-BE49-F238E27FC236}">
                <a16:creationId xmlns:a16="http://schemas.microsoft.com/office/drawing/2014/main" id="{3D831EB1-9900-EE94-C0A7-FD581E738E09}"/>
              </a:ext>
            </a:extLst>
          </p:cNvPr>
          <p:cNvSpPr txBox="1"/>
          <p:nvPr/>
        </p:nvSpPr>
        <p:spPr>
          <a:xfrm>
            <a:off x="231388" y="1364273"/>
            <a:ext cx="7505581" cy="338554"/>
          </a:xfrm>
          <a:prstGeom prst="rect">
            <a:avLst/>
          </a:prstGeom>
          <a:noFill/>
        </p:spPr>
        <p:txBody>
          <a:bodyPr wrap="none" rtlCol="0">
            <a:spAutoFit/>
          </a:bodyPr>
          <a:lstStyle/>
          <a:p>
            <a:r>
              <a:rPr lang="en-VN" sz="1600">
                <a:latin typeface="Lato" panose="020F0502020204030203" pitchFamily="34" charset="0"/>
                <a:ea typeface="Lato" panose="020F0502020204030203" pitchFamily="34" charset="0"/>
                <a:cs typeface="Lato" panose="020F0502020204030203" pitchFamily="34" charset="0"/>
              </a:rPr>
              <a:t>Công thức khoảng cách Euclid giữa 2 trạm (các điểm ở hệ toạ độ VN2000/TM-6):</a:t>
            </a:r>
          </a:p>
        </p:txBody>
      </p:sp>
      <p:sp>
        <p:nvSpPr>
          <p:cNvPr id="27" name="TextBox 26">
            <a:extLst>
              <a:ext uri="{FF2B5EF4-FFF2-40B4-BE49-F238E27FC236}">
                <a16:creationId xmlns:a16="http://schemas.microsoft.com/office/drawing/2014/main" id="{0E70CD86-E937-A582-21CD-1D14D56E3EBE}"/>
              </a:ext>
            </a:extLst>
          </p:cNvPr>
          <p:cNvSpPr txBox="1"/>
          <p:nvPr/>
        </p:nvSpPr>
        <p:spPr>
          <a:xfrm>
            <a:off x="259301" y="2310591"/>
            <a:ext cx="3578224" cy="338554"/>
          </a:xfrm>
          <a:prstGeom prst="rect">
            <a:avLst/>
          </a:prstGeom>
          <a:noFill/>
        </p:spPr>
        <p:txBody>
          <a:bodyPr wrap="none" rtlCol="0">
            <a:spAutoFit/>
          </a:bodyPr>
          <a:lstStyle/>
          <a:p>
            <a:r>
              <a:rPr lang="en-US" sz="1600" err="1">
                <a:latin typeface="Lato" panose="020F0502020204030203" pitchFamily="34" charset="0"/>
                <a:ea typeface="Lato" panose="020F0502020204030203" pitchFamily="34" charset="0"/>
                <a:cs typeface="Lato" panose="020F0502020204030203" pitchFamily="34" charset="0"/>
              </a:rPr>
              <a:t>Độ</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chênh</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lệch</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sinh</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thái</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giữa</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hai</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trạm</a:t>
            </a:r>
            <a:r>
              <a:rPr lang="en-US" sz="1600">
                <a:latin typeface="Lato" panose="020F0502020204030203" pitchFamily="34" charset="0"/>
                <a:ea typeface="Lato" panose="020F0502020204030203" pitchFamily="34" charset="0"/>
                <a:cs typeface="Lato" panose="020F0502020204030203" pitchFamily="34" charset="0"/>
              </a:rPr>
              <a:t>:</a:t>
            </a:r>
            <a:endParaRPr lang="en-VN" sz="1600">
              <a:latin typeface="Lato" panose="020F0502020204030203"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8703B0C2-8C5D-5499-6790-294473E50EAF}"/>
              </a:ext>
            </a:extLst>
          </p:cNvPr>
          <p:cNvSpPr txBox="1"/>
          <p:nvPr/>
        </p:nvSpPr>
        <p:spPr>
          <a:xfrm>
            <a:off x="259301" y="2916282"/>
            <a:ext cx="4488729" cy="338554"/>
          </a:xfrm>
          <a:prstGeom prst="rect">
            <a:avLst/>
          </a:prstGeom>
          <a:noFill/>
        </p:spPr>
        <p:txBody>
          <a:bodyPr wrap="none" rtlCol="0">
            <a:spAutoFit/>
          </a:bodyPr>
          <a:lstStyle/>
          <a:p>
            <a:r>
              <a:rPr lang="en-US" sz="1600">
                <a:latin typeface="Lato" panose="020F0502020204030203" pitchFamily="34" charset="0"/>
                <a:ea typeface="Lato" panose="020F0502020204030203" pitchFamily="34" charset="0"/>
                <a:cs typeface="Lato" panose="020F0502020204030203" pitchFamily="34" charset="0"/>
              </a:rPr>
              <a:t>Chia </a:t>
            </a:r>
            <a:r>
              <a:rPr lang="en-US" sz="1600" err="1">
                <a:latin typeface="Lato" panose="020F0502020204030203" pitchFamily="34" charset="0"/>
                <a:ea typeface="Lato" panose="020F0502020204030203" pitchFamily="34" charset="0"/>
                <a:cs typeface="Lato" panose="020F0502020204030203" pitchFamily="34" charset="0"/>
              </a:rPr>
              <a:t>không</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gian</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thành</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các</a:t>
            </a:r>
            <a:r>
              <a:rPr lang="en-US" sz="1600">
                <a:latin typeface="Lato" panose="020F0502020204030203" pitchFamily="34" charset="0"/>
                <a:ea typeface="Lato" panose="020F0502020204030203" pitchFamily="34" charset="0"/>
                <a:cs typeface="Lato" panose="020F0502020204030203" pitchFamily="34" charset="0"/>
              </a:rPr>
              <a:t> thang (bins) </a:t>
            </a:r>
            <a:r>
              <a:rPr lang="en-US" sz="1600" err="1">
                <a:latin typeface="Lato" panose="020F0502020204030203" pitchFamily="34" charset="0"/>
                <a:ea typeface="Lato" panose="020F0502020204030203" pitchFamily="34" charset="0"/>
                <a:cs typeface="Lato" panose="020F0502020204030203" pitchFamily="34" charset="0"/>
              </a:rPr>
              <a:t>xác</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định</a:t>
            </a:r>
            <a:r>
              <a:rPr lang="en-US" sz="1600">
                <a:latin typeface="Lato" panose="020F0502020204030203" pitchFamily="34" charset="0"/>
                <a:ea typeface="Lato" panose="020F0502020204030203" pitchFamily="34" charset="0"/>
                <a:cs typeface="Lato" panose="020F0502020204030203" pitchFamily="34" charset="0"/>
              </a:rPr>
              <a:t>:</a:t>
            </a:r>
            <a:endParaRPr lang="en-VN" sz="1600">
              <a:latin typeface="Lato" panose="020F0502020204030203" pitchFamily="34" charset="0"/>
              <a:ea typeface="Lato" panose="020F0502020204030203" pitchFamily="34" charset="0"/>
              <a:cs typeface="Lato" panose="020F0502020204030203" pitchFamily="34" charset="0"/>
            </a:endParaRPr>
          </a:p>
        </p:txBody>
      </p:sp>
      <p:sp>
        <p:nvSpPr>
          <p:cNvPr id="31" name="TextBox 30">
            <a:extLst>
              <a:ext uri="{FF2B5EF4-FFF2-40B4-BE49-F238E27FC236}">
                <a16:creationId xmlns:a16="http://schemas.microsoft.com/office/drawing/2014/main" id="{58E79ABC-6714-5D80-BF16-26DC2860708D}"/>
              </a:ext>
            </a:extLst>
          </p:cNvPr>
          <p:cNvSpPr txBox="1"/>
          <p:nvPr/>
        </p:nvSpPr>
        <p:spPr>
          <a:xfrm>
            <a:off x="255612" y="4180034"/>
            <a:ext cx="8812028" cy="338554"/>
          </a:xfrm>
          <a:prstGeom prst="rect">
            <a:avLst/>
          </a:prstGeom>
          <a:noFill/>
        </p:spPr>
        <p:txBody>
          <a:bodyPr wrap="none" rtlCol="0">
            <a:spAutoFit/>
          </a:bodyPr>
          <a:lstStyle/>
          <a:p>
            <a:r>
              <a:rPr lang="vi-VN" sz="1600">
                <a:latin typeface="Lato" panose="020F0502020204030203" pitchFamily="34" charset="0"/>
                <a:ea typeface="Lato" panose="020F0502020204030203" pitchFamily="34" charset="0"/>
                <a:cs typeface="Lato" panose="020F0502020204030203" pitchFamily="34" charset="0"/>
              </a:rPr>
              <a:t>Bán kính xác định là khoảng cách lớn nhất mà độ chênh lệch trung bình không vượt quá ngưỡng:</a:t>
            </a:r>
            <a:endParaRPr lang="en-VN" sz="1600">
              <a:latin typeface="Lato" panose="020F0502020204030203" pitchFamily="34" charset="0"/>
              <a:ea typeface="Lato" panose="020F0502020204030203" pitchFamily="34" charset="0"/>
              <a:cs typeface="Lato" panose="020F0502020204030203" pitchFamily="34" charset="0"/>
            </a:endParaRPr>
          </a:p>
        </p:txBody>
      </p:sp>
      <p:pic>
        <p:nvPicPr>
          <p:cNvPr id="6" name="Picture 5">
            <a:extLst>
              <a:ext uri="{FF2B5EF4-FFF2-40B4-BE49-F238E27FC236}">
                <a16:creationId xmlns:a16="http://schemas.microsoft.com/office/drawing/2014/main" id="{754C1EEC-6EA7-3146-5D3E-F3FD24EE63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75458" y="2920397"/>
            <a:ext cx="2849496" cy="338554"/>
          </a:xfrm>
          <a:prstGeom prst="rect">
            <a:avLst/>
          </a:prstGeom>
        </p:spPr>
      </p:pic>
      <p:pic>
        <p:nvPicPr>
          <p:cNvPr id="9" name="Picture 8" descr="A number and mathematical symbols&#10;&#10;Description automatically generated with medium confidence">
            <a:extLst>
              <a:ext uri="{FF2B5EF4-FFF2-40B4-BE49-F238E27FC236}">
                <a16:creationId xmlns:a16="http://schemas.microsoft.com/office/drawing/2014/main" id="{B9DF2F4A-A9EA-2E95-CB65-5624A7B140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5458" y="3472830"/>
            <a:ext cx="2928396" cy="559649"/>
          </a:xfrm>
          <a:prstGeom prst="rect">
            <a:avLst/>
          </a:prstGeom>
        </p:spPr>
      </p:pic>
      <p:pic>
        <p:nvPicPr>
          <p:cNvPr id="12" name="Picture 11">
            <a:extLst>
              <a:ext uri="{FF2B5EF4-FFF2-40B4-BE49-F238E27FC236}">
                <a16:creationId xmlns:a16="http://schemas.microsoft.com/office/drawing/2014/main" id="{87A94F2B-9D85-D409-39D5-E04BE3EB52B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62080" y="4711519"/>
            <a:ext cx="3771900" cy="444500"/>
          </a:xfrm>
          <a:prstGeom prst="rect">
            <a:avLst/>
          </a:prstGeom>
        </p:spPr>
      </p:pic>
      <p:sp>
        <p:nvSpPr>
          <p:cNvPr id="14" name="TextBox 13">
            <a:extLst>
              <a:ext uri="{FF2B5EF4-FFF2-40B4-BE49-F238E27FC236}">
                <a16:creationId xmlns:a16="http://schemas.microsoft.com/office/drawing/2014/main" id="{E2467473-F75D-0BDA-D37B-43AC88FE7995}"/>
              </a:ext>
            </a:extLst>
          </p:cNvPr>
          <p:cNvSpPr txBox="1"/>
          <p:nvPr/>
        </p:nvSpPr>
        <p:spPr>
          <a:xfrm>
            <a:off x="243270" y="3524760"/>
            <a:ext cx="4520789" cy="338554"/>
          </a:xfrm>
          <a:prstGeom prst="rect">
            <a:avLst/>
          </a:prstGeom>
          <a:noFill/>
        </p:spPr>
        <p:txBody>
          <a:bodyPr wrap="none" rtlCol="0">
            <a:spAutoFit/>
          </a:bodyPr>
          <a:lstStyle/>
          <a:p>
            <a:r>
              <a:rPr lang="en-US" sz="1600" err="1">
                <a:latin typeface="Lato" panose="020F0502020204030203" pitchFamily="34" charset="0"/>
                <a:ea typeface="Lato" panose="020F0502020204030203" pitchFamily="34" charset="0"/>
                <a:cs typeface="Lato" panose="020F0502020204030203" pitchFamily="34" charset="0"/>
              </a:rPr>
              <a:t>Độ</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chênh</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lệch</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sinh</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thái</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trung</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bình</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với</a:t>
            </a:r>
            <a:r>
              <a:rPr lang="en-US" sz="1600">
                <a:latin typeface="Lato" panose="020F0502020204030203" pitchFamily="34" charset="0"/>
                <a:ea typeface="Lato" panose="020F0502020204030203" pitchFamily="34" charset="0"/>
                <a:cs typeface="Lato" panose="020F0502020204030203" pitchFamily="34" charset="0"/>
              </a:rPr>
              <a:t> </a:t>
            </a:r>
            <a:r>
              <a:rPr lang="en-US" sz="1600" err="1">
                <a:latin typeface="Lato" panose="020F0502020204030203" pitchFamily="34" charset="0"/>
                <a:ea typeface="Lato" panose="020F0502020204030203" pitchFamily="34" charset="0"/>
                <a:cs typeface="Lato" panose="020F0502020204030203" pitchFamily="34" charset="0"/>
              </a:rPr>
              <a:t>mỗi</a:t>
            </a:r>
            <a:r>
              <a:rPr lang="en-US" sz="1600">
                <a:latin typeface="Lato" panose="020F0502020204030203" pitchFamily="34" charset="0"/>
                <a:ea typeface="Lato" panose="020F0502020204030203" pitchFamily="34" charset="0"/>
                <a:cs typeface="Lato" panose="020F0502020204030203" pitchFamily="34" charset="0"/>
              </a:rPr>
              <a:t> bins: </a:t>
            </a:r>
            <a:endParaRPr lang="en-VN" sz="160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663999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6C02-56A9-E7A6-AD91-0CF39063E2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BBE6D9-9617-6C05-9003-E6506F33C0E6}"/>
              </a:ext>
            </a:extLst>
          </p:cNvPr>
          <p:cNvSpPr>
            <a:spLocks noGrp="1"/>
          </p:cNvSpPr>
          <p:nvPr>
            <p:ph type="sldNum" sz="quarter" idx="12"/>
          </p:nvPr>
        </p:nvSpPr>
        <p:spPr/>
        <p:txBody>
          <a:bodyPr/>
          <a:lstStyle/>
          <a:p>
            <a:fld id="{9EA0BE3B-158A-4EDF-80DC-E394A0D1600F}" type="slidenum">
              <a:rPr lang="en-US" smtClean="0"/>
              <a:pPr/>
              <a:t>23</a:t>
            </a:fld>
            <a:endParaRPr lang="en-US"/>
          </a:p>
        </p:txBody>
      </p:sp>
      <p:sp>
        <p:nvSpPr>
          <p:cNvPr id="3" name="Title 2">
            <a:extLst>
              <a:ext uri="{FF2B5EF4-FFF2-40B4-BE49-F238E27FC236}">
                <a16:creationId xmlns:a16="http://schemas.microsoft.com/office/drawing/2014/main" id="{EB38421F-2238-EC63-FB1E-62A1145CEE3F}"/>
              </a:ext>
            </a:extLst>
          </p:cNvPr>
          <p:cNvSpPr>
            <a:spLocks noGrp="1"/>
          </p:cNvSpPr>
          <p:nvPr>
            <p:ph type="title"/>
          </p:nvPr>
        </p:nvSpPr>
        <p:spPr/>
        <p:txBody>
          <a:bodyPr lIns="91440" tIns="45720" rIns="91440" bIns="45720" anchor="t"/>
          <a:lstStyle/>
          <a:p>
            <a:r>
              <a:rPr lang="en-US">
                <a:latin typeface="Lato"/>
                <a:ea typeface="Lato"/>
                <a:cs typeface="Lato"/>
              </a:rPr>
              <a:t>4.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bản</a:t>
            </a:r>
            <a:r>
              <a:rPr lang="en-US">
                <a:latin typeface="Lato"/>
                <a:ea typeface="Lato"/>
                <a:cs typeface="Lato"/>
              </a:rPr>
              <a:t> </a:t>
            </a:r>
            <a:r>
              <a:rPr lang="en-US" err="1">
                <a:latin typeface="Lato"/>
                <a:ea typeface="Lato"/>
                <a:cs typeface="Lato"/>
              </a:rPr>
              <a:t>đồ</a:t>
            </a:r>
            <a:r>
              <a:rPr lang="en-US">
                <a:latin typeface="Lato"/>
                <a:ea typeface="Lato"/>
                <a:cs typeface="Lato"/>
              </a:rPr>
              <a:t> </a:t>
            </a:r>
            <a:r>
              <a:rPr lang="en-US" err="1">
                <a:latin typeface="Lato"/>
                <a:ea typeface="Lato"/>
                <a:cs typeface="Lato"/>
              </a:rPr>
              <a:t>vùng</a:t>
            </a:r>
            <a:r>
              <a:rPr lang="en-US">
                <a:latin typeface="Lato"/>
                <a:ea typeface="Lato"/>
                <a:cs typeface="Lato"/>
              </a:rPr>
              <a:t> </a:t>
            </a:r>
            <a:r>
              <a:rPr lang="en-US" err="1">
                <a:latin typeface="Lato"/>
                <a:ea typeface="Lato"/>
                <a:cs typeface="Lato"/>
              </a:rPr>
              <a:t>nuôi</a:t>
            </a:r>
            <a:r>
              <a:rPr lang="en-US">
                <a:latin typeface="Lato"/>
                <a:ea typeface="Lato"/>
                <a:cs typeface="Lato"/>
              </a:rPr>
              <a:t> </a:t>
            </a:r>
            <a:r>
              <a:rPr lang="en-US" err="1">
                <a:latin typeface="Lato"/>
                <a:ea typeface="Lato"/>
                <a:cs typeface="Lato"/>
              </a:rPr>
              <a:t>trồng</a:t>
            </a:r>
            <a:endParaRPr lang="en-US">
              <a:latin typeface="Lato"/>
            </a:endParaRPr>
          </a:p>
          <a:p>
            <a:endParaRPr lang="en-US">
              <a:latin typeface="Lato"/>
              <a:ea typeface="Lato"/>
              <a:cs typeface="Lato"/>
            </a:endParaRPr>
          </a:p>
        </p:txBody>
      </p:sp>
      <p:sp>
        <p:nvSpPr>
          <p:cNvPr id="4" name="TextBox 3">
            <a:extLst>
              <a:ext uri="{FF2B5EF4-FFF2-40B4-BE49-F238E27FC236}">
                <a16:creationId xmlns:a16="http://schemas.microsoft.com/office/drawing/2014/main" id="{3F80CC50-8171-8468-1C36-B26A90FB6646}"/>
              </a:ext>
            </a:extLst>
          </p:cNvPr>
          <p:cNvSpPr txBox="1"/>
          <p:nvPr/>
        </p:nvSpPr>
        <p:spPr>
          <a:xfrm>
            <a:off x="235077" y="847285"/>
            <a:ext cx="4030270" cy="369332"/>
          </a:xfrm>
          <a:prstGeom prst="rect">
            <a:avLst/>
          </a:prstGeom>
          <a:noFill/>
        </p:spPr>
        <p:txBody>
          <a:bodyPr wrap="none" rtlCol="0">
            <a:spAutoFit/>
          </a:bodyPr>
          <a:lstStyle/>
          <a:p>
            <a:r>
              <a:rPr lang="en-US" b="1" err="1">
                <a:latin typeface="Lato" panose="020F0502020204030203" pitchFamily="34" charset="0"/>
                <a:ea typeface="Lato" panose="020F0502020204030203" pitchFamily="34" charset="0"/>
                <a:cs typeface="Lato" panose="020F0502020204030203" pitchFamily="34" charset="0"/>
              </a:rPr>
              <a:t>Xác</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định</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ngưỡng</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chênh</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lệnh</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sinh</a:t>
            </a:r>
            <a:r>
              <a:rPr lang="en-US" b="1">
                <a:latin typeface="Lato" panose="020F0502020204030203" pitchFamily="34" charset="0"/>
                <a:ea typeface="Lato" panose="020F0502020204030203" pitchFamily="34" charset="0"/>
                <a:cs typeface="Lato" panose="020F0502020204030203" pitchFamily="34" charset="0"/>
              </a:rPr>
              <a:t> </a:t>
            </a:r>
            <a:r>
              <a:rPr lang="en-US" b="1" err="1">
                <a:latin typeface="Lato" panose="020F0502020204030203" pitchFamily="34" charset="0"/>
                <a:ea typeface="Lato" panose="020F0502020204030203" pitchFamily="34" charset="0"/>
                <a:cs typeface="Lato" panose="020F0502020204030203" pitchFamily="34" charset="0"/>
              </a:rPr>
              <a:t>thái</a:t>
            </a:r>
            <a:endParaRPr lang="en-VN" b="1">
              <a:latin typeface="Lato" panose="020F0502020204030203" pitchFamily="34" charset="0"/>
              <a:ea typeface="Lato" panose="020F0502020204030203" pitchFamily="34" charset="0"/>
              <a:cs typeface="Lato" panose="020F0502020204030203" pitchFamily="34" charset="0"/>
            </a:endParaRPr>
          </a:p>
        </p:txBody>
      </p:sp>
      <p:pic>
        <p:nvPicPr>
          <p:cNvPr id="11" name="Picture 10" descr="A graph with a green line&#10;&#10;Description automatically generated">
            <a:extLst>
              <a:ext uri="{FF2B5EF4-FFF2-40B4-BE49-F238E27FC236}">
                <a16:creationId xmlns:a16="http://schemas.microsoft.com/office/drawing/2014/main" id="{DBEAAFD2-115A-DFDC-D9BD-05B67D6838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22436"/>
            <a:ext cx="7772400" cy="3788774"/>
          </a:xfrm>
          <a:prstGeom prst="rect">
            <a:avLst/>
          </a:prstGeom>
        </p:spPr>
      </p:pic>
      <p:sp>
        <p:nvSpPr>
          <p:cNvPr id="15" name="TextBox 14">
            <a:extLst>
              <a:ext uri="{FF2B5EF4-FFF2-40B4-BE49-F238E27FC236}">
                <a16:creationId xmlns:a16="http://schemas.microsoft.com/office/drawing/2014/main" id="{7E793D13-4F27-68BA-80A5-FF37815A6909}"/>
              </a:ext>
            </a:extLst>
          </p:cNvPr>
          <p:cNvSpPr txBox="1"/>
          <p:nvPr/>
        </p:nvSpPr>
        <p:spPr>
          <a:xfrm>
            <a:off x="235077" y="1364273"/>
            <a:ext cx="2810385" cy="338554"/>
          </a:xfrm>
          <a:prstGeom prst="rect">
            <a:avLst/>
          </a:prstGeom>
          <a:noFill/>
        </p:spPr>
        <p:txBody>
          <a:bodyPr wrap="none" rtlCol="0">
            <a:spAutoFit/>
          </a:bodyPr>
          <a:lstStyle/>
          <a:p>
            <a:r>
              <a:rPr lang="vi-VN" sz="1600">
                <a:latin typeface="Lato" panose="020F0502020204030203" pitchFamily="34" charset="0"/>
                <a:ea typeface="Lato" panose="020F0502020204030203" pitchFamily="34" charset="0"/>
                <a:cs typeface="Lato" panose="020F0502020204030203" pitchFamily="34" charset="0"/>
              </a:rPr>
              <a:t>Ngưỡng chênh lệch sinh thái:</a:t>
            </a:r>
            <a:endParaRPr lang="en-VN" sz="1600">
              <a:latin typeface="Lato" panose="020F0502020204030203" pitchFamily="34" charset="0"/>
              <a:ea typeface="Lato" panose="020F0502020204030203" pitchFamily="34" charset="0"/>
              <a:cs typeface="Lato" panose="020F0502020204030203" pitchFamily="34" charset="0"/>
            </a:endParaRPr>
          </a:p>
        </p:txBody>
      </p:sp>
      <p:pic>
        <p:nvPicPr>
          <p:cNvPr id="18" name="Picture 17" descr="A black text on a white background&#10;&#10;Description automatically generated">
            <a:extLst>
              <a:ext uri="{FF2B5EF4-FFF2-40B4-BE49-F238E27FC236}">
                <a16:creationId xmlns:a16="http://schemas.microsoft.com/office/drawing/2014/main" id="{7899E61F-7B97-6BDB-DC69-E864D6FDCC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4738" y="1336917"/>
            <a:ext cx="2101218" cy="411725"/>
          </a:xfrm>
          <a:prstGeom prst="rect">
            <a:avLst/>
          </a:prstGeom>
        </p:spPr>
      </p:pic>
    </p:spTree>
    <p:extLst>
      <p:ext uri="{BB962C8B-B14F-4D97-AF65-F5344CB8AC3E}">
        <p14:creationId xmlns:p14="http://schemas.microsoft.com/office/powerpoint/2010/main" val="2749075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6C02-56A9-E7A6-AD91-0CF39063E2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BBE6D9-9617-6C05-9003-E6506F33C0E6}"/>
              </a:ext>
            </a:extLst>
          </p:cNvPr>
          <p:cNvSpPr>
            <a:spLocks noGrp="1"/>
          </p:cNvSpPr>
          <p:nvPr>
            <p:ph type="sldNum" sz="quarter" idx="12"/>
          </p:nvPr>
        </p:nvSpPr>
        <p:spPr/>
        <p:txBody>
          <a:bodyPr/>
          <a:lstStyle/>
          <a:p>
            <a:fld id="{9EA0BE3B-158A-4EDF-80DC-E394A0D1600F}" type="slidenum">
              <a:rPr lang="en-US" smtClean="0"/>
              <a:pPr/>
              <a:t>24</a:t>
            </a:fld>
            <a:endParaRPr lang="en-US"/>
          </a:p>
        </p:txBody>
      </p:sp>
      <p:sp>
        <p:nvSpPr>
          <p:cNvPr id="3" name="Title 2">
            <a:extLst>
              <a:ext uri="{FF2B5EF4-FFF2-40B4-BE49-F238E27FC236}">
                <a16:creationId xmlns:a16="http://schemas.microsoft.com/office/drawing/2014/main" id="{EB38421F-2238-EC63-FB1E-62A1145CEE3F}"/>
              </a:ext>
            </a:extLst>
          </p:cNvPr>
          <p:cNvSpPr>
            <a:spLocks noGrp="1"/>
          </p:cNvSpPr>
          <p:nvPr>
            <p:ph type="title"/>
          </p:nvPr>
        </p:nvSpPr>
        <p:spPr/>
        <p:txBody>
          <a:bodyPr lIns="91440" tIns="45720" rIns="91440" bIns="45720" anchor="t"/>
          <a:lstStyle/>
          <a:p>
            <a:r>
              <a:rPr lang="en-US">
                <a:latin typeface="Lato"/>
                <a:ea typeface="Lato"/>
                <a:cs typeface="Lato"/>
              </a:rPr>
              <a:t>4.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bản</a:t>
            </a:r>
            <a:r>
              <a:rPr lang="en-US">
                <a:latin typeface="Lato"/>
                <a:ea typeface="Lato"/>
                <a:cs typeface="Lato"/>
              </a:rPr>
              <a:t> </a:t>
            </a:r>
            <a:r>
              <a:rPr lang="en-US" err="1">
                <a:latin typeface="Lato"/>
                <a:ea typeface="Lato"/>
                <a:cs typeface="Lato"/>
              </a:rPr>
              <a:t>đồ</a:t>
            </a:r>
            <a:r>
              <a:rPr lang="en-US">
                <a:latin typeface="Lato"/>
                <a:ea typeface="Lato"/>
                <a:cs typeface="Lato"/>
              </a:rPr>
              <a:t> </a:t>
            </a:r>
            <a:r>
              <a:rPr lang="en-US" err="1">
                <a:latin typeface="Lato"/>
                <a:ea typeface="Lato"/>
                <a:cs typeface="Lato"/>
              </a:rPr>
              <a:t>vùng</a:t>
            </a:r>
            <a:r>
              <a:rPr lang="en-US">
                <a:latin typeface="Lato"/>
                <a:ea typeface="Lato"/>
                <a:cs typeface="Lato"/>
              </a:rPr>
              <a:t> </a:t>
            </a:r>
            <a:r>
              <a:rPr lang="en-US" err="1">
                <a:latin typeface="Lato"/>
                <a:ea typeface="Lato"/>
                <a:cs typeface="Lato"/>
              </a:rPr>
              <a:t>nuôi</a:t>
            </a:r>
            <a:r>
              <a:rPr lang="en-US">
                <a:latin typeface="Lato"/>
                <a:ea typeface="Lato"/>
                <a:cs typeface="Lato"/>
              </a:rPr>
              <a:t> </a:t>
            </a:r>
            <a:r>
              <a:rPr lang="en-US" err="1">
                <a:latin typeface="Lato"/>
                <a:ea typeface="Lato"/>
                <a:cs typeface="Lato"/>
              </a:rPr>
              <a:t>trồng</a:t>
            </a:r>
            <a:endParaRPr lang="en-US">
              <a:latin typeface="Lato"/>
            </a:endParaRPr>
          </a:p>
          <a:p>
            <a:endParaRPr lang="en-US">
              <a:latin typeface="Lato"/>
              <a:ea typeface="Lato"/>
              <a:cs typeface="Lato"/>
            </a:endParaRPr>
          </a:p>
        </p:txBody>
      </p:sp>
      <p:sp>
        <p:nvSpPr>
          <p:cNvPr id="4" name="TextBox 3">
            <a:extLst>
              <a:ext uri="{FF2B5EF4-FFF2-40B4-BE49-F238E27FC236}">
                <a16:creationId xmlns:a16="http://schemas.microsoft.com/office/drawing/2014/main" id="{3F80CC50-8171-8468-1C36-B26A90FB6646}"/>
              </a:ext>
            </a:extLst>
          </p:cNvPr>
          <p:cNvSpPr txBox="1"/>
          <p:nvPr/>
        </p:nvSpPr>
        <p:spPr>
          <a:xfrm>
            <a:off x="235077" y="847285"/>
            <a:ext cx="1962397" cy="369332"/>
          </a:xfrm>
          <a:prstGeom prst="rect">
            <a:avLst/>
          </a:prstGeom>
          <a:noFill/>
        </p:spPr>
        <p:txBody>
          <a:bodyPr wrap="none" lIns="91440" tIns="45720" rIns="91440" bIns="45720" rtlCol="0" anchor="t">
            <a:spAutoFit/>
          </a:bodyPr>
          <a:lstStyle/>
          <a:p>
            <a:r>
              <a:rPr lang="en-US" b="1" err="1">
                <a:latin typeface="Lato"/>
                <a:ea typeface="Lato"/>
                <a:cs typeface="Lato"/>
              </a:rPr>
              <a:t>Cấu</a:t>
            </a:r>
            <a:r>
              <a:rPr lang="en-US" b="1">
                <a:latin typeface="Lato"/>
                <a:ea typeface="Lato"/>
                <a:cs typeface="Lato"/>
              </a:rPr>
              <a:t> </a:t>
            </a:r>
            <a:r>
              <a:rPr lang="en-US" b="1" err="1">
                <a:latin typeface="Lato"/>
                <a:ea typeface="Lato"/>
                <a:cs typeface="Lato"/>
              </a:rPr>
              <a:t>hình</a:t>
            </a:r>
            <a:r>
              <a:rPr lang="en-US" b="1">
                <a:latin typeface="Lato"/>
                <a:ea typeface="Lato"/>
                <a:cs typeface="Lato"/>
              </a:rPr>
              <a:t> </a:t>
            </a:r>
            <a:r>
              <a:rPr lang="en-US" b="1" err="1">
                <a:latin typeface="Lato"/>
                <a:ea typeface="Lato"/>
                <a:cs typeface="Lato"/>
              </a:rPr>
              <a:t>tham</a:t>
            </a:r>
            <a:r>
              <a:rPr lang="en-US" b="1">
                <a:latin typeface="Lato"/>
                <a:ea typeface="Lato"/>
                <a:cs typeface="Lato"/>
              </a:rPr>
              <a:t> </a:t>
            </a:r>
            <a:r>
              <a:rPr lang="en-US" b="1" err="1">
                <a:latin typeface="Lato"/>
                <a:ea typeface="Lato"/>
                <a:cs typeface="Lato"/>
              </a:rPr>
              <a:t>số</a:t>
            </a:r>
            <a:endParaRPr lang="en-US" b="1">
              <a:latin typeface="Lato"/>
              <a:ea typeface="Lato"/>
              <a:cs typeface="Lato"/>
            </a:endParaRPr>
          </a:p>
        </p:txBody>
      </p:sp>
      <p:pic>
        <p:nvPicPr>
          <p:cNvPr id="10" name="Picture 9">
            <a:extLst>
              <a:ext uri="{FF2B5EF4-FFF2-40B4-BE49-F238E27FC236}">
                <a16:creationId xmlns:a16="http://schemas.microsoft.com/office/drawing/2014/main" id="{B1D7642E-F35A-D06C-E412-AED7EF669446}"/>
              </a:ext>
            </a:extLst>
          </p:cNvPr>
          <p:cNvPicPr>
            <a:picLocks noChangeAspect="1"/>
          </p:cNvPicPr>
          <p:nvPr/>
        </p:nvPicPr>
        <p:blipFill>
          <a:blip r:embed="rId3"/>
          <a:stretch>
            <a:fillRect/>
          </a:stretch>
        </p:blipFill>
        <p:spPr>
          <a:xfrm>
            <a:off x="427325" y="1358610"/>
            <a:ext cx="5622348" cy="4677642"/>
          </a:xfrm>
          <a:prstGeom prst="rect">
            <a:avLst/>
          </a:prstGeom>
        </p:spPr>
      </p:pic>
      <p:sp>
        <p:nvSpPr>
          <p:cNvPr id="11" name="TextBox 10">
            <a:extLst>
              <a:ext uri="{FF2B5EF4-FFF2-40B4-BE49-F238E27FC236}">
                <a16:creationId xmlns:a16="http://schemas.microsoft.com/office/drawing/2014/main" id="{65839EFE-0192-577F-4CD3-8B7A50A4B44D}"/>
              </a:ext>
            </a:extLst>
          </p:cNvPr>
          <p:cNvSpPr txBox="1"/>
          <p:nvPr/>
        </p:nvSpPr>
        <p:spPr>
          <a:xfrm>
            <a:off x="6053985" y="3098653"/>
            <a:ext cx="3086803" cy="1323439"/>
          </a:xfrm>
          <a:prstGeom prst="rect">
            <a:avLst/>
          </a:prstGeom>
          <a:noFill/>
        </p:spPr>
        <p:txBody>
          <a:bodyPr wrap="square" lIns="91440" tIns="45720" rIns="91440" bIns="45720" rtlCol="0" anchor="t">
            <a:spAutoFit/>
          </a:bodyPr>
          <a:lstStyle/>
          <a:p>
            <a:r>
              <a:rPr lang="en-US" sz="1600">
                <a:latin typeface="Lato"/>
                <a:ea typeface="Lato"/>
                <a:cs typeface="Lato"/>
              </a:rPr>
              <a:t>Tham </a:t>
            </a:r>
            <a:r>
              <a:rPr lang="en-US" sz="1600" err="1">
                <a:latin typeface="Lato"/>
                <a:ea typeface="Lato"/>
                <a:cs typeface="Lato"/>
              </a:rPr>
              <a:t>số</a:t>
            </a:r>
            <a:r>
              <a:rPr lang="en-US" sz="1600">
                <a:latin typeface="Lato"/>
                <a:ea typeface="Lato"/>
                <a:cs typeface="Lato"/>
              </a:rPr>
              <a:t> </a:t>
            </a:r>
            <a:r>
              <a:rPr lang="en-US" sz="1600" err="1">
                <a:latin typeface="Lato"/>
                <a:ea typeface="Lato"/>
                <a:cs typeface="Lato"/>
              </a:rPr>
              <a:t>cấu</a:t>
            </a:r>
            <a:r>
              <a:rPr lang="en-US" sz="1600">
                <a:latin typeface="Lato"/>
                <a:ea typeface="Lato"/>
                <a:cs typeface="Lato"/>
              </a:rPr>
              <a:t> </a:t>
            </a:r>
            <a:r>
              <a:rPr lang="en-US" sz="1600" err="1">
                <a:latin typeface="Lato"/>
                <a:ea typeface="Lato"/>
                <a:cs typeface="Lato"/>
              </a:rPr>
              <a:t>hình</a:t>
            </a:r>
            <a:r>
              <a:rPr lang="en-US" sz="1600">
                <a:latin typeface="Lato"/>
                <a:ea typeface="Lato"/>
                <a:cs typeface="Lato"/>
              </a:rPr>
              <a:t> </a:t>
            </a:r>
            <a:r>
              <a:rPr lang="en-US" sz="1600" err="1">
                <a:latin typeface="Lato"/>
                <a:ea typeface="Lato"/>
                <a:cs typeface="Lato"/>
              </a:rPr>
              <a:t>dự</a:t>
            </a:r>
            <a:r>
              <a:rPr lang="en-US" sz="1600">
                <a:latin typeface="Lato"/>
                <a:ea typeface="Lato"/>
                <a:cs typeface="Lato"/>
              </a:rPr>
              <a:t> </a:t>
            </a:r>
            <a:r>
              <a:rPr lang="en-US" sz="1600" err="1">
                <a:latin typeface="Lato"/>
                <a:ea typeface="Lato"/>
                <a:cs typeface="Lato"/>
              </a:rPr>
              <a:t>báo</a:t>
            </a:r>
            <a:r>
              <a:rPr lang="en-US" sz="1600">
                <a:latin typeface="Lato"/>
                <a:ea typeface="Lato"/>
                <a:cs typeface="Lato"/>
              </a:rPr>
              <a:t>:</a:t>
            </a:r>
          </a:p>
          <a:p>
            <a:pPr marL="285750" indent="-285750">
              <a:buFont typeface="Arial"/>
              <a:buChar char="•"/>
            </a:pPr>
            <a:r>
              <a:rPr lang="en-US" sz="1600" err="1">
                <a:latin typeface="Lato"/>
                <a:ea typeface="Lato"/>
                <a:cs typeface="Lato"/>
              </a:rPr>
              <a:t>Loài</a:t>
            </a:r>
            <a:r>
              <a:rPr lang="en-US" sz="1600">
                <a:latin typeface="Lato"/>
                <a:ea typeface="Lato"/>
                <a:cs typeface="Lato"/>
              </a:rPr>
              <a:t>: </a:t>
            </a:r>
            <a:r>
              <a:rPr lang="en-US" sz="1600" err="1">
                <a:latin typeface="Lato"/>
                <a:ea typeface="Lato"/>
                <a:cs typeface="Lato"/>
              </a:rPr>
              <a:t>Cá</a:t>
            </a:r>
            <a:r>
              <a:rPr lang="en-US" sz="1600">
                <a:latin typeface="Lato"/>
                <a:ea typeface="Lato"/>
                <a:cs typeface="Lato"/>
              </a:rPr>
              <a:t> </a:t>
            </a:r>
            <a:r>
              <a:rPr lang="en-US" sz="1600" err="1">
                <a:latin typeface="Lato"/>
                <a:ea typeface="Lato"/>
                <a:cs typeface="Lato"/>
              </a:rPr>
              <a:t>giò</a:t>
            </a:r>
            <a:r>
              <a:rPr lang="en-US" sz="1600">
                <a:latin typeface="Lato"/>
                <a:ea typeface="Lato"/>
                <a:cs typeface="Lato"/>
              </a:rPr>
              <a:t>/</a:t>
            </a:r>
            <a:r>
              <a:rPr lang="en-US" sz="1600" err="1">
                <a:latin typeface="Lato"/>
                <a:ea typeface="Lato"/>
                <a:cs typeface="Lato"/>
              </a:rPr>
              <a:t>Hàu</a:t>
            </a:r>
            <a:endParaRPr lang="en-US" sz="1600">
              <a:latin typeface="Lato"/>
              <a:ea typeface="Lato"/>
              <a:cs typeface="Lato"/>
            </a:endParaRPr>
          </a:p>
          <a:p>
            <a:pPr marL="285750" indent="-285750">
              <a:buFont typeface="Arial"/>
              <a:buChar char="•"/>
            </a:pPr>
            <a:r>
              <a:rPr lang="en-US" sz="1600" err="1">
                <a:latin typeface="Lato"/>
                <a:ea typeface="Lato"/>
                <a:cs typeface="Lato"/>
              </a:rPr>
              <a:t>Năm</a:t>
            </a:r>
            <a:r>
              <a:rPr lang="en-US" sz="1600">
                <a:latin typeface="Lato"/>
                <a:ea typeface="Lato"/>
                <a:cs typeface="Lato"/>
              </a:rPr>
              <a:t> </a:t>
            </a:r>
            <a:r>
              <a:rPr lang="en-US" sz="1600" err="1">
                <a:latin typeface="Lato"/>
                <a:ea typeface="Lato"/>
                <a:cs typeface="Lato"/>
              </a:rPr>
              <a:t>bắt</a:t>
            </a:r>
            <a:r>
              <a:rPr lang="en-US" sz="1600">
                <a:latin typeface="Lato"/>
                <a:ea typeface="Lato"/>
                <a:cs typeface="Lato"/>
              </a:rPr>
              <a:t> </a:t>
            </a:r>
            <a:r>
              <a:rPr lang="en-US" sz="1600" err="1">
                <a:latin typeface="Lato"/>
                <a:ea typeface="Lato"/>
                <a:cs typeface="Lato"/>
              </a:rPr>
              <a:t>đầu</a:t>
            </a:r>
            <a:r>
              <a:rPr lang="en-US" sz="1600">
                <a:latin typeface="Lato"/>
                <a:ea typeface="Lato"/>
                <a:cs typeface="Lato"/>
              </a:rPr>
              <a:t>: 2026-2030</a:t>
            </a:r>
          </a:p>
          <a:p>
            <a:pPr marL="285750" indent="-285750">
              <a:buFont typeface="Arial"/>
              <a:buChar char="•"/>
            </a:pPr>
            <a:r>
              <a:rPr lang="en-US" sz="1600">
                <a:latin typeface="Lato"/>
                <a:ea typeface="Lato"/>
                <a:cs typeface="Lato"/>
              </a:rPr>
              <a:t>Quý </a:t>
            </a:r>
            <a:r>
              <a:rPr lang="en-US" sz="1600" err="1">
                <a:latin typeface="Lato"/>
                <a:ea typeface="Lato"/>
                <a:cs typeface="Lato"/>
              </a:rPr>
              <a:t>bắt</a:t>
            </a:r>
            <a:r>
              <a:rPr lang="en-US" sz="1600">
                <a:latin typeface="Lato"/>
                <a:ea typeface="Lato"/>
                <a:cs typeface="Lato"/>
              </a:rPr>
              <a:t> </a:t>
            </a:r>
            <a:r>
              <a:rPr lang="en-US" sz="1600" err="1">
                <a:latin typeface="Lato"/>
                <a:ea typeface="Lato"/>
                <a:cs typeface="Lato"/>
              </a:rPr>
              <a:t>đầu</a:t>
            </a:r>
            <a:r>
              <a:rPr lang="en-US" sz="1600">
                <a:latin typeface="Lato"/>
                <a:ea typeface="Lato"/>
                <a:cs typeface="Lato"/>
              </a:rPr>
              <a:t>: 1-4</a:t>
            </a:r>
          </a:p>
          <a:p>
            <a:pPr marL="285750" indent="-285750">
              <a:buFont typeface="Arial"/>
              <a:buChar char="•"/>
            </a:pPr>
            <a:r>
              <a:rPr lang="en-US" sz="1600" err="1">
                <a:latin typeface="Lato"/>
                <a:ea typeface="Lato"/>
                <a:cs typeface="Lato"/>
              </a:rPr>
              <a:t>Số</a:t>
            </a:r>
            <a:r>
              <a:rPr lang="en-US" sz="1600">
                <a:latin typeface="Lato"/>
                <a:ea typeface="Lato"/>
                <a:cs typeface="Lato"/>
              </a:rPr>
              <a:t> </a:t>
            </a:r>
            <a:r>
              <a:rPr lang="en-US" sz="1600" err="1">
                <a:latin typeface="Lato"/>
                <a:ea typeface="Lato"/>
                <a:cs typeface="Lato"/>
              </a:rPr>
              <a:t>quý</a:t>
            </a:r>
            <a:r>
              <a:rPr lang="en-US" sz="1600">
                <a:latin typeface="Lato"/>
                <a:ea typeface="Lato"/>
                <a:cs typeface="Lato"/>
              </a:rPr>
              <a:t> </a:t>
            </a:r>
            <a:r>
              <a:rPr lang="en-US" sz="1600" err="1">
                <a:latin typeface="Lato"/>
                <a:ea typeface="Lato"/>
                <a:cs typeface="Lato"/>
              </a:rPr>
              <a:t>dự</a:t>
            </a:r>
            <a:r>
              <a:rPr lang="en-US" sz="1600">
                <a:latin typeface="Lato"/>
                <a:ea typeface="Lato"/>
                <a:cs typeface="Lato"/>
              </a:rPr>
              <a:t> </a:t>
            </a:r>
            <a:r>
              <a:rPr lang="en-US" sz="1600" err="1">
                <a:latin typeface="Lato"/>
                <a:ea typeface="Lato"/>
                <a:cs typeface="Lato"/>
              </a:rPr>
              <a:t>báo</a:t>
            </a:r>
            <a:endParaRPr lang="en-US" sz="1600">
              <a:latin typeface="Lato"/>
              <a:ea typeface="Lato"/>
              <a:cs typeface="Lato"/>
            </a:endParaRPr>
          </a:p>
        </p:txBody>
      </p:sp>
    </p:spTree>
    <p:extLst>
      <p:ext uri="{BB962C8B-B14F-4D97-AF65-F5344CB8AC3E}">
        <p14:creationId xmlns:p14="http://schemas.microsoft.com/office/powerpoint/2010/main" val="36903919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7B4DE-E12E-2757-EFB6-4D873EE708D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86C5FD-0FFF-8F34-2FE4-8B06FA55F208}"/>
              </a:ext>
            </a:extLst>
          </p:cNvPr>
          <p:cNvSpPr>
            <a:spLocks noGrp="1"/>
          </p:cNvSpPr>
          <p:nvPr>
            <p:ph type="sldNum" sz="quarter" idx="12"/>
          </p:nvPr>
        </p:nvSpPr>
        <p:spPr/>
        <p:txBody>
          <a:bodyPr/>
          <a:lstStyle/>
          <a:p>
            <a:fld id="{9EA0BE3B-158A-4EDF-80DC-E394A0D1600F}" type="slidenum">
              <a:rPr lang="en-US" smtClean="0"/>
              <a:pPr/>
              <a:t>25</a:t>
            </a:fld>
            <a:endParaRPr lang="en-US"/>
          </a:p>
        </p:txBody>
      </p:sp>
      <p:sp>
        <p:nvSpPr>
          <p:cNvPr id="3" name="Title 2">
            <a:extLst>
              <a:ext uri="{FF2B5EF4-FFF2-40B4-BE49-F238E27FC236}">
                <a16:creationId xmlns:a16="http://schemas.microsoft.com/office/drawing/2014/main" id="{900A04E7-6375-A802-929B-2D7C7B2CC90A}"/>
              </a:ext>
            </a:extLst>
          </p:cNvPr>
          <p:cNvSpPr>
            <a:spLocks noGrp="1"/>
          </p:cNvSpPr>
          <p:nvPr>
            <p:ph type="title"/>
          </p:nvPr>
        </p:nvSpPr>
        <p:spPr/>
        <p:txBody>
          <a:bodyPr lIns="91440" tIns="45720" rIns="91440" bIns="45720" anchor="t"/>
          <a:lstStyle/>
          <a:p>
            <a:r>
              <a:rPr lang="en-US">
                <a:latin typeface="Lato"/>
                <a:ea typeface="Lato"/>
                <a:cs typeface="Lato"/>
              </a:rPr>
              <a:t>4.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bản</a:t>
            </a:r>
            <a:r>
              <a:rPr lang="en-US">
                <a:latin typeface="Lato"/>
                <a:ea typeface="Lato"/>
                <a:cs typeface="Lato"/>
              </a:rPr>
              <a:t> </a:t>
            </a:r>
            <a:r>
              <a:rPr lang="en-US" err="1">
                <a:latin typeface="Lato"/>
                <a:ea typeface="Lato"/>
                <a:cs typeface="Lato"/>
              </a:rPr>
              <a:t>đồ</a:t>
            </a:r>
            <a:r>
              <a:rPr lang="en-US">
                <a:latin typeface="Lato"/>
                <a:ea typeface="Lato"/>
                <a:cs typeface="Lato"/>
              </a:rPr>
              <a:t> </a:t>
            </a:r>
            <a:r>
              <a:rPr lang="en-US" err="1">
                <a:latin typeface="Lato"/>
                <a:ea typeface="Lato"/>
                <a:cs typeface="Lato"/>
              </a:rPr>
              <a:t>vùng</a:t>
            </a:r>
            <a:r>
              <a:rPr lang="en-US">
                <a:latin typeface="Lato"/>
                <a:ea typeface="Lato"/>
                <a:cs typeface="Lato"/>
              </a:rPr>
              <a:t> </a:t>
            </a:r>
            <a:r>
              <a:rPr lang="en-US" err="1">
                <a:latin typeface="Lato"/>
                <a:ea typeface="Lato"/>
                <a:cs typeface="Lato"/>
              </a:rPr>
              <a:t>nuôi</a:t>
            </a:r>
            <a:r>
              <a:rPr lang="en-US">
                <a:latin typeface="Lato"/>
                <a:ea typeface="Lato"/>
                <a:cs typeface="Lato"/>
              </a:rPr>
              <a:t> </a:t>
            </a:r>
            <a:r>
              <a:rPr lang="en-US" err="1">
                <a:latin typeface="Lato"/>
                <a:ea typeface="Lato"/>
                <a:cs typeface="Lato"/>
              </a:rPr>
              <a:t>trồng</a:t>
            </a:r>
            <a:endParaRPr lang="en-US">
              <a:latin typeface="Lato"/>
            </a:endParaRPr>
          </a:p>
          <a:p>
            <a:endParaRPr lang="en-US">
              <a:latin typeface="Lato"/>
              <a:ea typeface="Lato"/>
              <a:cs typeface="Lato"/>
            </a:endParaRPr>
          </a:p>
        </p:txBody>
      </p:sp>
      <p:sp>
        <p:nvSpPr>
          <p:cNvPr id="4" name="TextBox 3">
            <a:extLst>
              <a:ext uri="{FF2B5EF4-FFF2-40B4-BE49-F238E27FC236}">
                <a16:creationId xmlns:a16="http://schemas.microsoft.com/office/drawing/2014/main" id="{C0EB1CC8-0219-D5D1-3A55-396A5D8E3F26}"/>
              </a:ext>
            </a:extLst>
          </p:cNvPr>
          <p:cNvSpPr txBox="1"/>
          <p:nvPr/>
        </p:nvSpPr>
        <p:spPr>
          <a:xfrm>
            <a:off x="235077" y="847285"/>
            <a:ext cx="4629794" cy="369332"/>
          </a:xfrm>
          <a:prstGeom prst="rect">
            <a:avLst/>
          </a:prstGeom>
          <a:noFill/>
        </p:spPr>
        <p:txBody>
          <a:bodyPr wrap="none" lIns="91440" tIns="45720" rIns="91440" bIns="45720" rtlCol="0" anchor="t">
            <a:spAutoFit/>
          </a:bodyPr>
          <a:lstStyle/>
          <a:p>
            <a:r>
              <a:rPr lang="en-US" b="1">
                <a:latin typeface="Lato"/>
                <a:ea typeface="Lato"/>
                <a:cs typeface="Lato"/>
              </a:rPr>
              <a:t>Thông tin </a:t>
            </a:r>
            <a:r>
              <a:rPr lang="en-US" b="1" err="1">
                <a:latin typeface="Lato"/>
                <a:ea typeface="Lato"/>
                <a:cs typeface="Lato"/>
              </a:rPr>
              <a:t>dữ</a:t>
            </a:r>
            <a:r>
              <a:rPr lang="en-US" b="1">
                <a:latin typeface="Lato"/>
                <a:ea typeface="Lato"/>
                <a:cs typeface="Lato"/>
              </a:rPr>
              <a:t> </a:t>
            </a:r>
            <a:r>
              <a:rPr lang="en-US" b="1" err="1">
                <a:latin typeface="Lato"/>
                <a:ea typeface="Lato"/>
                <a:cs typeface="Lato"/>
              </a:rPr>
              <a:t>liệu</a:t>
            </a:r>
            <a:r>
              <a:rPr lang="en-US" b="1">
                <a:latin typeface="Lato"/>
                <a:ea typeface="Lato"/>
                <a:cs typeface="Lato"/>
              </a:rPr>
              <a:t> </a:t>
            </a:r>
            <a:r>
              <a:rPr lang="en-US" b="1" err="1">
                <a:latin typeface="Lato"/>
                <a:ea typeface="Lato"/>
                <a:cs typeface="Lato"/>
              </a:rPr>
              <a:t>danh</a:t>
            </a:r>
            <a:r>
              <a:rPr lang="en-US" b="1">
                <a:latin typeface="Lato"/>
                <a:ea typeface="Lato"/>
                <a:cs typeface="Lato"/>
              </a:rPr>
              <a:t> </a:t>
            </a:r>
            <a:r>
              <a:rPr lang="en-US" b="1" err="1">
                <a:latin typeface="Lato"/>
                <a:ea typeface="Lato"/>
                <a:cs typeface="Lato"/>
              </a:rPr>
              <a:t>sách</a:t>
            </a:r>
            <a:r>
              <a:rPr lang="en-US" b="1">
                <a:latin typeface="Lato"/>
                <a:ea typeface="Lato"/>
                <a:cs typeface="Lato"/>
              </a:rPr>
              <a:t> </a:t>
            </a:r>
            <a:r>
              <a:rPr lang="en-US" b="1" err="1">
                <a:latin typeface="Lato"/>
                <a:ea typeface="Lato"/>
                <a:cs typeface="Lato"/>
              </a:rPr>
              <a:t>trạm</a:t>
            </a:r>
            <a:r>
              <a:rPr lang="en-US" b="1">
                <a:latin typeface="Lato"/>
                <a:ea typeface="Lato"/>
                <a:cs typeface="Lato"/>
              </a:rPr>
              <a:t> </a:t>
            </a:r>
            <a:r>
              <a:rPr lang="en-US" b="1" err="1">
                <a:latin typeface="Lato"/>
                <a:ea typeface="Lato"/>
                <a:cs typeface="Lato"/>
              </a:rPr>
              <a:t>quan</a:t>
            </a:r>
            <a:r>
              <a:rPr lang="en-US" b="1">
                <a:latin typeface="Lato"/>
                <a:ea typeface="Lato"/>
                <a:cs typeface="Lato"/>
              </a:rPr>
              <a:t> </a:t>
            </a:r>
            <a:r>
              <a:rPr lang="en-US" b="1" err="1">
                <a:latin typeface="Lato"/>
                <a:ea typeface="Lato"/>
                <a:cs typeface="Lato"/>
              </a:rPr>
              <a:t>trắc</a:t>
            </a:r>
            <a:endParaRPr lang="en-US" b="1">
              <a:latin typeface="Lato"/>
              <a:ea typeface="Lato"/>
              <a:cs typeface="Lato"/>
            </a:endParaRPr>
          </a:p>
        </p:txBody>
      </p:sp>
      <p:pic>
        <p:nvPicPr>
          <p:cNvPr id="5" name="Picture 4">
            <a:extLst>
              <a:ext uri="{FF2B5EF4-FFF2-40B4-BE49-F238E27FC236}">
                <a16:creationId xmlns:a16="http://schemas.microsoft.com/office/drawing/2014/main" id="{CD7C8011-B041-0F1D-99AB-40BDE4255E57}"/>
              </a:ext>
            </a:extLst>
          </p:cNvPr>
          <p:cNvPicPr>
            <a:picLocks noChangeAspect="1"/>
          </p:cNvPicPr>
          <p:nvPr/>
        </p:nvPicPr>
        <p:blipFill>
          <a:blip r:embed="rId3"/>
          <a:stretch>
            <a:fillRect/>
          </a:stretch>
        </p:blipFill>
        <p:spPr>
          <a:xfrm>
            <a:off x="1815379" y="1223096"/>
            <a:ext cx="5781676" cy="5026602"/>
          </a:xfrm>
          <a:prstGeom prst="rect">
            <a:avLst/>
          </a:prstGeom>
        </p:spPr>
      </p:pic>
    </p:spTree>
    <p:extLst>
      <p:ext uri="{BB962C8B-B14F-4D97-AF65-F5344CB8AC3E}">
        <p14:creationId xmlns:p14="http://schemas.microsoft.com/office/powerpoint/2010/main" val="2595605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190AD-BA38-F193-37C7-2EB445DC12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55C94F-A180-80CD-3FFA-D9F8124F9922}"/>
              </a:ext>
            </a:extLst>
          </p:cNvPr>
          <p:cNvSpPr>
            <a:spLocks noGrp="1"/>
          </p:cNvSpPr>
          <p:nvPr>
            <p:ph type="sldNum" sz="quarter" idx="12"/>
          </p:nvPr>
        </p:nvSpPr>
        <p:spPr/>
        <p:txBody>
          <a:bodyPr/>
          <a:lstStyle/>
          <a:p>
            <a:fld id="{9EA0BE3B-158A-4EDF-80DC-E394A0D1600F}" type="slidenum">
              <a:rPr lang="en-US" smtClean="0"/>
              <a:pPr/>
              <a:t>26</a:t>
            </a:fld>
            <a:endParaRPr lang="en-US"/>
          </a:p>
        </p:txBody>
      </p:sp>
      <p:sp>
        <p:nvSpPr>
          <p:cNvPr id="3" name="Title 2">
            <a:extLst>
              <a:ext uri="{FF2B5EF4-FFF2-40B4-BE49-F238E27FC236}">
                <a16:creationId xmlns:a16="http://schemas.microsoft.com/office/drawing/2014/main" id="{66FD3CF1-C014-FBF0-9605-3B52ADFE3952}"/>
              </a:ext>
            </a:extLst>
          </p:cNvPr>
          <p:cNvSpPr>
            <a:spLocks noGrp="1"/>
          </p:cNvSpPr>
          <p:nvPr>
            <p:ph type="title"/>
          </p:nvPr>
        </p:nvSpPr>
        <p:spPr/>
        <p:txBody>
          <a:bodyPr lIns="91440" tIns="45720" rIns="91440" bIns="45720" anchor="t"/>
          <a:lstStyle/>
          <a:p>
            <a:r>
              <a:rPr lang="en-US">
                <a:latin typeface="Lato"/>
                <a:ea typeface="Lato"/>
                <a:cs typeface="Lato"/>
              </a:rPr>
              <a:t>4.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bản</a:t>
            </a:r>
            <a:r>
              <a:rPr lang="en-US">
                <a:latin typeface="Lato"/>
                <a:ea typeface="Lato"/>
                <a:cs typeface="Lato"/>
              </a:rPr>
              <a:t> </a:t>
            </a:r>
            <a:r>
              <a:rPr lang="en-US" err="1">
                <a:latin typeface="Lato"/>
                <a:ea typeface="Lato"/>
                <a:cs typeface="Lato"/>
              </a:rPr>
              <a:t>đồ</a:t>
            </a:r>
            <a:r>
              <a:rPr lang="en-US">
                <a:latin typeface="Lato"/>
                <a:ea typeface="Lato"/>
                <a:cs typeface="Lato"/>
              </a:rPr>
              <a:t> </a:t>
            </a:r>
            <a:r>
              <a:rPr lang="en-US" err="1">
                <a:latin typeface="Lato"/>
                <a:ea typeface="Lato"/>
                <a:cs typeface="Lato"/>
              </a:rPr>
              <a:t>vùng</a:t>
            </a:r>
            <a:r>
              <a:rPr lang="en-US">
                <a:latin typeface="Lato"/>
                <a:ea typeface="Lato"/>
                <a:cs typeface="Lato"/>
              </a:rPr>
              <a:t> </a:t>
            </a:r>
            <a:r>
              <a:rPr lang="en-US" err="1">
                <a:latin typeface="Lato"/>
                <a:ea typeface="Lato"/>
                <a:cs typeface="Lato"/>
              </a:rPr>
              <a:t>nuôi</a:t>
            </a:r>
            <a:r>
              <a:rPr lang="en-US">
                <a:latin typeface="Lato"/>
                <a:ea typeface="Lato"/>
                <a:cs typeface="Lato"/>
              </a:rPr>
              <a:t> </a:t>
            </a:r>
            <a:r>
              <a:rPr lang="en-US" err="1">
                <a:latin typeface="Lato"/>
                <a:ea typeface="Lato"/>
                <a:cs typeface="Lato"/>
              </a:rPr>
              <a:t>trồng</a:t>
            </a:r>
            <a:endParaRPr lang="en-US">
              <a:latin typeface="Lato"/>
            </a:endParaRPr>
          </a:p>
          <a:p>
            <a:endParaRPr lang="en-US">
              <a:latin typeface="Lato"/>
              <a:ea typeface="Lato"/>
              <a:cs typeface="Lato"/>
            </a:endParaRPr>
          </a:p>
        </p:txBody>
      </p:sp>
      <p:sp>
        <p:nvSpPr>
          <p:cNvPr id="4" name="TextBox 3">
            <a:extLst>
              <a:ext uri="{FF2B5EF4-FFF2-40B4-BE49-F238E27FC236}">
                <a16:creationId xmlns:a16="http://schemas.microsoft.com/office/drawing/2014/main" id="{15E47615-B362-2394-FBBB-784282894222}"/>
              </a:ext>
            </a:extLst>
          </p:cNvPr>
          <p:cNvSpPr txBox="1"/>
          <p:nvPr/>
        </p:nvSpPr>
        <p:spPr>
          <a:xfrm>
            <a:off x="235077" y="847285"/>
            <a:ext cx="1984839" cy="369332"/>
          </a:xfrm>
          <a:prstGeom prst="rect">
            <a:avLst/>
          </a:prstGeom>
          <a:noFill/>
        </p:spPr>
        <p:txBody>
          <a:bodyPr wrap="none" lIns="91440" tIns="45720" rIns="91440" bIns="45720" rtlCol="0" anchor="t">
            <a:spAutoFit/>
          </a:bodyPr>
          <a:lstStyle/>
          <a:p>
            <a:r>
              <a:rPr lang="en-US" b="1">
                <a:latin typeface="Lato"/>
                <a:ea typeface="Lato"/>
                <a:cs typeface="Lato"/>
              </a:rPr>
              <a:t>Layout </a:t>
            </a:r>
            <a:r>
              <a:rPr lang="en-US" b="1" err="1">
                <a:latin typeface="Lato"/>
                <a:ea typeface="Lato"/>
                <a:cs typeface="Lato"/>
              </a:rPr>
              <a:t>tổng</a:t>
            </a:r>
            <a:r>
              <a:rPr lang="en-US" b="1">
                <a:latin typeface="Lato"/>
                <a:ea typeface="Lato"/>
                <a:cs typeface="Lato"/>
              </a:rPr>
              <a:t> </a:t>
            </a:r>
            <a:r>
              <a:rPr lang="en-US" b="1" err="1">
                <a:latin typeface="Lato"/>
                <a:ea typeface="Lato"/>
                <a:cs typeface="Lato"/>
              </a:rPr>
              <a:t>quan</a:t>
            </a:r>
            <a:endParaRPr lang="en-US" b="1">
              <a:latin typeface="Lato"/>
              <a:ea typeface="Lato"/>
              <a:cs typeface="Lato"/>
            </a:endParaRPr>
          </a:p>
        </p:txBody>
      </p:sp>
      <p:pic>
        <p:nvPicPr>
          <p:cNvPr id="8" name="Picture 7">
            <a:extLst>
              <a:ext uri="{FF2B5EF4-FFF2-40B4-BE49-F238E27FC236}">
                <a16:creationId xmlns:a16="http://schemas.microsoft.com/office/drawing/2014/main" id="{921CB27A-AF30-0414-4122-04CE69EAADF6}"/>
              </a:ext>
            </a:extLst>
          </p:cNvPr>
          <p:cNvPicPr>
            <a:picLocks noChangeAspect="1"/>
          </p:cNvPicPr>
          <p:nvPr/>
        </p:nvPicPr>
        <p:blipFill>
          <a:blip r:embed="rId3"/>
          <a:stretch>
            <a:fillRect/>
          </a:stretch>
        </p:blipFill>
        <p:spPr>
          <a:xfrm>
            <a:off x="599868" y="1370376"/>
            <a:ext cx="4944146" cy="4856426"/>
          </a:xfrm>
          <a:prstGeom prst="rect">
            <a:avLst/>
          </a:prstGeom>
        </p:spPr>
      </p:pic>
      <p:pic>
        <p:nvPicPr>
          <p:cNvPr id="9" name="Picture 8">
            <a:extLst>
              <a:ext uri="{FF2B5EF4-FFF2-40B4-BE49-F238E27FC236}">
                <a16:creationId xmlns:a16="http://schemas.microsoft.com/office/drawing/2014/main" id="{90674607-1E06-21AC-D126-3D37405C6CF3}"/>
              </a:ext>
            </a:extLst>
          </p:cNvPr>
          <p:cNvPicPr>
            <a:picLocks noChangeAspect="1"/>
          </p:cNvPicPr>
          <p:nvPr/>
        </p:nvPicPr>
        <p:blipFill>
          <a:blip r:embed="rId4"/>
          <a:stretch>
            <a:fillRect/>
          </a:stretch>
        </p:blipFill>
        <p:spPr>
          <a:xfrm>
            <a:off x="5730943" y="2912308"/>
            <a:ext cx="3202030" cy="3238704"/>
          </a:xfrm>
          <a:prstGeom prst="rect">
            <a:avLst/>
          </a:prstGeom>
        </p:spPr>
      </p:pic>
    </p:spTree>
    <p:extLst>
      <p:ext uri="{BB962C8B-B14F-4D97-AF65-F5344CB8AC3E}">
        <p14:creationId xmlns:p14="http://schemas.microsoft.com/office/powerpoint/2010/main" val="1344404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4A81B-FA6C-811F-AD3D-F480725859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BE3441-D890-F35E-D9C6-246EB4341027}"/>
              </a:ext>
            </a:extLst>
          </p:cNvPr>
          <p:cNvSpPr>
            <a:spLocks noGrp="1"/>
          </p:cNvSpPr>
          <p:nvPr>
            <p:ph type="sldNum" sz="quarter" idx="12"/>
          </p:nvPr>
        </p:nvSpPr>
        <p:spPr/>
        <p:txBody>
          <a:bodyPr/>
          <a:lstStyle/>
          <a:p>
            <a:fld id="{9EA0BE3B-158A-4EDF-80DC-E394A0D1600F}" type="slidenum">
              <a:rPr lang="en-US" smtClean="0"/>
              <a:pPr/>
              <a:t>27</a:t>
            </a:fld>
            <a:endParaRPr lang="en-US"/>
          </a:p>
        </p:txBody>
      </p:sp>
      <p:sp>
        <p:nvSpPr>
          <p:cNvPr id="3" name="Title 2">
            <a:extLst>
              <a:ext uri="{FF2B5EF4-FFF2-40B4-BE49-F238E27FC236}">
                <a16:creationId xmlns:a16="http://schemas.microsoft.com/office/drawing/2014/main" id="{784356BE-5E31-7CBE-7304-A885FA91C773}"/>
              </a:ext>
            </a:extLst>
          </p:cNvPr>
          <p:cNvSpPr>
            <a:spLocks noGrp="1"/>
          </p:cNvSpPr>
          <p:nvPr>
            <p:ph type="title"/>
          </p:nvPr>
        </p:nvSpPr>
        <p:spPr/>
        <p:txBody>
          <a:bodyPr lIns="91440" tIns="45720" rIns="91440" bIns="45720" anchor="t"/>
          <a:lstStyle/>
          <a:p>
            <a:r>
              <a:rPr lang="en-US">
                <a:latin typeface="Lato"/>
                <a:ea typeface="Lato"/>
                <a:cs typeface="Lato"/>
              </a:rPr>
              <a:t>4.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bản</a:t>
            </a:r>
            <a:r>
              <a:rPr lang="en-US">
                <a:latin typeface="Lato"/>
                <a:ea typeface="Lato"/>
                <a:cs typeface="Lato"/>
              </a:rPr>
              <a:t> </a:t>
            </a:r>
            <a:r>
              <a:rPr lang="en-US" err="1">
                <a:latin typeface="Lato"/>
                <a:ea typeface="Lato"/>
                <a:cs typeface="Lato"/>
              </a:rPr>
              <a:t>đồ</a:t>
            </a:r>
            <a:r>
              <a:rPr lang="en-US">
                <a:latin typeface="Lato"/>
                <a:ea typeface="Lato"/>
                <a:cs typeface="Lato"/>
              </a:rPr>
              <a:t> </a:t>
            </a:r>
            <a:r>
              <a:rPr lang="en-US" err="1">
                <a:latin typeface="Lato"/>
                <a:ea typeface="Lato"/>
                <a:cs typeface="Lato"/>
              </a:rPr>
              <a:t>vùng</a:t>
            </a:r>
            <a:r>
              <a:rPr lang="en-US">
                <a:latin typeface="Lato"/>
                <a:ea typeface="Lato"/>
                <a:cs typeface="Lato"/>
              </a:rPr>
              <a:t> </a:t>
            </a:r>
            <a:r>
              <a:rPr lang="en-US" err="1">
                <a:latin typeface="Lato"/>
                <a:ea typeface="Lato"/>
                <a:cs typeface="Lato"/>
              </a:rPr>
              <a:t>nuôi</a:t>
            </a:r>
            <a:r>
              <a:rPr lang="en-US">
                <a:latin typeface="Lato"/>
                <a:ea typeface="Lato"/>
                <a:cs typeface="Lato"/>
              </a:rPr>
              <a:t> </a:t>
            </a:r>
            <a:r>
              <a:rPr lang="en-US" err="1">
                <a:latin typeface="Lato"/>
                <a:ea typeface="Lato"/>
                <a:cs typeface="Lato"/>
              </a:rPr>
              <a:t>trồng</a:t>
            </a:r>
            <a:endParaRPr lang="en-US">
              <a:latin typeface="Lato"/>
            </a:endParaRPr>
          </a:p>
          <a:p>
            <a:endParaRPr lang="en-US">
              <a:latin typeface="Lato"/>
              <a:ea typeface="Lato"/>
              <a:cs typeface="Lato"/>
            </a:endParaRPr>
          </a:p>
        </p:txBody>
      </p:sp>
      <p:sp>
        <p:nvSpPr>
          <p:cNvPr id="4" name="TextBox 3">
            <a:extLst>
              <a:ext uri="{FF2B5EF4-FFF2-40B4-BE49-F238E27FC236}">
                <a16:creationId xmlns:a16="http://schemas.microsoft.com/office/drawing/2014/main" id="{98065F9D-D5DB-ECD6-7855-D19ED25CBAF4}"/>
              </a:ext>
            </a:extLst>
          </p:cNvPr>
          <p:cNvSpPr txBox="1"/>
          <p:nvPr/>
        </p:nvSpPr>
        <p:spPr>
          <a:xfrm>
            <a:off x="235077" y="847285"/>
            <a:ext cx="4578497" cy="369332"/>
          </a:xfrm>
          <a:prstGeom prst="rect">
            <a:avLst/>
          </a:prstGeom>
          <a:noFill/>
        </p:spPr>
        <p:txBody>
          <a:bodyPr wrap="none" lIns="91440" tIns="45720" rIns="91440" bIns="45720" rtlCol="0" anchor="t">
            <a:spAutoFit/>
          </a:bodyPr>
          <a:lstStyle/>
          <a:p>
            <a:r>
              <a:rPr lang="en-US" b="1" err="1">
                <a:latin typeface="Lato"/>
                <a:ea typeface="Lato"/>
                <a:cs typeface="Lato"/>
              </a:rPr>
              <a:t>Biểu</a:t>
            </a:r>
            <a:r>
              <a:rPr lang="en-US" b="1">
                <a:latin typeface="Lato"/>
                <a:ea typeface="Lato"/>
                <a:cs typeface="Lato"/>
              </a:rPr>
              <a:t> </a:t>
            </a:r>
            <a:r>
              <a:rPr lang="en-US" b="1" err="1">
                <a:latin typeface="Lato"/>
                <a:ea typeface="Lato"/>
                <a:cs typeface="Lato"/>
              </a:rPr>
              <a:t>đồ</a:t>
            </a:r>
            <a:r>
              <a:rPr lang="en-US" b="1">
                <a:latin typeface="Lato"/>
                <a:ea typeface="Lato"/>
                <a:cs typeface="Lato"/>
              </a:rPr>
              <a:t> HSI </a:t>
            </a:r>
            <a:r>
              <a:rPr lang="en-US" b="1" err="1">
                <a:latin typeface="Lato"/>
                <a:ea typeface="Lato"/>
                <a:cs typeface="Lato"/>
              </a:rPr>
              <a:t>theo</a:t>
            </a:r>
            <a:r>
              <a:rPr lang="en-US" b="1">
                <a:latin typeface="Lato"/>
                <a:ea typeface="Lato"/>
                <a:cs typeface="Lato"/>
              </a:rPr>
              <a:t> </a:t>
            </a:r>
            <a:r>
              <a:rPr lang="en-US" b="1" err="1">
                <a:latin typeface="Lato"/>
                <a:ea typeface="Lato"/>
                <a:cs typeface="Lato"/>
              </a:rPr>
              <a:t>kết</a:t>
            </a:r>
            <a:r>
              <a:rPr lang="en-US" b="1">
                <a:latin typeface="Lato"/>
                <a:ea typeface="Lato"/>
                <a:cs typeface="Lato"/>
              </a:rPr>
              <a:t> </a:t>
            </a:r>
            <a:r>
              <a:rPr lang="en-US" b="1" err="1">
                <a:latin typeface="Lato"/>
                <a:ea typeface="Lato"/>
                <a:cs typeface="Lato"/>
              </a:rPr>
              <a:t>quả</a:t>
            </a:r>
            <a:r>
              <a:rPr lang="en-US" b="1">
                <a:latin typeface="Lato"/>
                <a:ea typeface="Lato"/>
                <a:cs typeface="Lato"/>
              </a:rPr>
              <a:t> </a:t>
            </a:r>
            <a:r>
              <a:rPr lang="en-US" b="1" err="1">
                <a:latin typeface="Lato"/>
                <a:ea typeface="Lato"/>
                <a:cs typeface="Lato"/>
              </a:rPr>
              <a:t>dự</a:t>
            </a:r>
            <a:r>
              <a:rPr lang="en-US" b="1">
                <a:latin typeface="Lato"/>
                <a:ea typeface="Lato"/>
                <a:cs typeface="Lato"/>
              </a:rPr>
              <a:t> </a:t>
            </a:r>
            <a:r>
              <a:rPr lang="en-US" b="1" err="1">
                <a:latin typeface="Lato"/>
                <a:ea typeface="Lato"/>
                <a:cs typeface="Lato"/>
              </a:rPr>
              <a:t>báo</a:t>
            </a:r>
            <a:r>
              <a:rPr lang="en-US" b="1">
                <a:latin typeface="Lato"/>
                <a:ea typeface="Lato"/>
                <a:cs typeface="Lato"/>
              </a:rPr>
              <a:t> </a:t>
            </a:r>
            <a:r>
              <a:rPr lang="en-US" b="1" err="1">
                <a:latin typeface="Lato"/>
                <a:ea typeface="Lato"/>
                <a:cs typeface="Lato"/>
              </a:rPr>
              <a:t>tại</a:t>
            </a:r>
            <a:r>
              <a:rPr lang="en-US" b="1">
                <a:latin typeface="Lato"/>
                <a:ea typeface="Lato"/>
                <a:cs typeface="Lato"/>
              </a:rPr>
              <a:t> 1 </a:t>
            </a:r>
            <a:r>
              <a:rPr lang="en-US" b="1" err="1">
                <a:latin typeface="Lato"/>
                <a:ea typeface="Lato"/>
                <a:cs typeface="Lato"/>
              </a:rPr>
              <a:t>trạm</a:t>
            </a:r>
            <a:endParaRPr lang="en-US" b="1">
              <a:latin typeface="Lato"/>
              <a:ea typeface="Lato"/>
              <a:cs typeface="Lato"/>
            </a:endParaRPr>
          </a:p>
        </p:txBody>
      </p:sp>
      <p:pic>
        <p:nvPicPr>
          <p:cNvPr id="7" name="Picture 6">
            <a:extLst>
              <a:ext uri="{FF2B5EF4-FFF2-40B4-BE49-F238E27FC236}">
                <a16:creationId xmlns:a16="http://schemas.microsoft.com/office/drawing/2014/main" id="{B7A1142E-2AB8-CB5F-4613-B98745F6CF02}"/>
              </a:ext>
            </a:extLst>
          </p:cNvPr>
          <p:cNvPicPr>
            <a:picLocks noChangeAspect="1"/>
          </p:cNvPicPr>
          <p:nvPr/>
        </p:nvPicPr>
        <p:blipFill>
          <a:blip r:embed="rId3"/>
          <a:stretch>
            <a:fillRect/>
          </a:stretch>
        </p:blipFill>
        <p:spPr>
          <a:xfrm>
            <a:off x="1200150" y="1161616"/>
            <a:ext cx="6596496" cy="5002357"/>
          </a:xfrm>
          <a:prstGeom prst="rect">
            <a:avLst/>
          </a:prstGeom>
        </p:spPr>
      </p:pic>
    </p:spTree>
    <p:extLst>
      <p:ext uri="{BB962C8B-B14F-4D97-AF65-F5344CB8AC3E}">
        <p14:creationId xmlns:p14="http://schemas.microsoft.com/office/powerpoint/2010/main" val="29393416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E64F4-FA8B-193F-625F-6CA1D4CDD6D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3C11F9-0345-974A-A995-E9CD2E386361}"/>
              </a:ext>
            </a:extLst>
          </p:cNvPr>
          <p:cNvSpPr>
            <a:spLocks noGrp="1"/>
          </p:cNvSpPr>
          <p:nvPr>
            <p:ph type="sldNum" sz="quarter" idx="12"/>
          </p:nvPr>
        </p:nvSpPr>
        <p:spPr/>
        <p:txBody>
          <a:bodyPr/>
          <a:lstStyle/>
          <a:p>
            <a:fld id="{9EA0BE3B-158A-4EDF-80DC-E394A0D1600F}" type="slidenum">
              <a:rPr lang="en-US" smtClean="0"/>
              <a:pPr/>
              <a:t>28</a:t>
            </a:fld>
            <a:endParaRPr lang="en-US"/>
          </a:p>
        </p:txBody>
      </p:sp>
      <p:sp>
        <p:nvSpPr>
          <p:cNvPr id="3" name="Title 2">
            <a:extLst>
              <a:ext uri="{FF2B5EF4-FFF2-40B4-BE49-F238E27FC236}">
                <a16:creationId xmlns:a16="http://schemas.microsoft.com/office/drawing/2014/main" id="{4DAEAFE9-CEA9-FD7E-4A0A-1BB663914526}"/>
              </a:ext>
            </a:extLst>
          </p:cNvPr>
          <p:cNvSpPr>
            <a:spLocks noGrp="1"/>
          </p:cNvSpPr>
          <p:nvPr>
            <p:ph type="title"/>
          </p:nvPr>
        </p:nvSpPr>
        <p:spPr/>
        <p:txBody>
          <a:bodyPr lIns="91440" tIns="45720" rIns="91440" bIns="45720" anchor="t"/>
          <a:lstStyle/>
          <a:p>
            <a:r>
              <a:rPr lang="en-US">
                <a:latin typeface="Lato"/>
                <a:ea typeface="Lato"/>
                <a:cs typeface="Lato"/>
              </a:rPr>
              <a:t>4. </a:t>
            </a:r>
            <a:r>
              <a:rPr lang="en-US" err="1">
                <a:latin typeface="Lato"/>
                <a:ea typeface="Lato"/>
                <a:cs typeface="Lato"/>
              </a:rPr>
              <a:t>Xây</a:t>
            </a:r>
            <a:r>
              <a:rPr lang="en-US">
                <a:latin typeface="Lato"/>
                <a:ea typeface="Lato"/>
                <a:cs typeface="Lato"/>
              </a:rPr>
              <a:t> </a:t>
            </a:r>
            <a:r>
              <a:rPr lang="en-US" err="1">
                <a:latin typeface="Lato"/>
                <a:ea typeface="Lato"/>
                <a:cs typeface="Lato"/>
              </a:rPr>
              <a:t>dựng</a:t>
            </a:r>
            <a:r>
              <a:rPr lang="en-US">
                <a:latin typeface="Lato"/>
                <a:ea typeface="Lato"/>
                <a:cs typeface="Lato"/>
              </a:rPr>
              <a:t> </a:t>
            </a:r>
            <a:r>
              <a:rPr lang="en-US" err="1">
                <a:latin typeface="Lato"/>
                <a:ea typeface="Lato"/>
                <a:cs typeface="Lato"/>
              </a:rPr>
              <a:t>bản</a:t>
            </a:r>
            <a:r>
              <a:rPr lang="en-US">
                <a:latin typeface="Lato"/>
                <a:ea typeface="Lato"/>
                <a:cs typeface="Lato"/>
              </a:rPr>
              <a:t> </a:t>
            </a:r>
            <a:r>
              <a:rPr lang="en-US" err="1">
                <a:latin typeface="Lato"/>
                <a:ea typeface="Lato"/>
                <a:cs typeface="Lato"/>
              </a:rPr>
              <a:t>đồ</a:t>
            </a:r>
            <a:r>
              <a:rPr lang="en-US">
                <a:latin typeface="Lato"/>
                <a:ea typeface="Lato"/>
                <a:cs typeface="Lato"/>
              </a:rPr>
              <a:t> </a:t>
            </a:r>
            <a:r>
              <a:rPr lang="en-US" err="1">
                <a:latin typeface="Lato"/>
                <a:ea typeface="Lato"/>
                <a:cs typeface="Lato"/>
              </a:rPr>
              <a:t>vùng</a:t>
            </a:r>
            <a:r>
              <a:rPr lang="en-US">
                <a:latin typeface="Lato"/>
                <a:ea typeface="Lato"/>
                <a:cs typeface="Lato"/>
              </a:rPr>
              <a:t> </a:t>
            </a:r>
            <a:r>
              <a:rPr lang="en-US" err="1">
                <a:latin typeface="Lato"/>
                <a:ea typeface="Lato"/>
                <a:cs typeface="Lato"/>
              </a:rPr>
              <a:t>nuôi</a:t>
            </a:r>
            <a:r>
              <a:rPr lang="en-US">
                <a:latin typeface="Lato"/>
                <a:ea typeface="Lato"/>
                <a:cs typeface="Lato"/>
              </a:rPr>
              <a:t> </a:t>
            </a:r>
            <a:r>
              <a:rPr lang="en-US" err="1">
                <a:latin typeface="Lato"/>
                <a:ea typeface="Lato"/>
                <a:cs typeface="Lato"/>
              </a:rPr>
              <a:t>trồng</a:t>
            </a:r>
            <a:endParaRPr lang="en-US">
              <a:latin typeface="Lato"/>
            </a:endParaRPr>
          </a:p>
          <a:p>
            <a:endParaRPr lang="en-US">
              <a:latin typeface="Lato"/>
              <a:ea typeface="Lato"/>
              <a:cs typeface="Lato"/>
            </a:endParaRPr>
          </a:p>
        </p:txBody>
      </p:sp>
      <p:sp>
        <p:nvSpPr>
          <p:cNvPr id="4" name="TextBox 3">
            <a:extLst>
              <a:ext uri="{FF2B5EF4-FFF2-40B4-BE49-F238E27FC236}">
                <a16:creationId xmlns:a16="http://schemas.microsoft.com/office/drawing/2014/main" id="{233EC05D-7B14-8D16-6717-370683D51187}"/>
              </a:ext>
            </a:extLst>
          </p:cNvPr>
          <p:cNvSpPr txBox="1"/>
          <p:nvPr/>
        </p:nvSpPr>
        <p:spPr>
          <a:xfrm>
            <a:off x="235077" y="847285"/>
            <a:ext cx="6764993" cy="369332"/>
          </a:xfrm>
          <a:prstGeom prst="rect">
            <a:avLst/>
          </a:prstGeom>
          <a:noFill/>
        </p:spPr>
        <p:txBody>
          <a:bodyPr wrap="none" lIns="91440" tIns="45720" rIns="91440" bIns="45720" rtlCol="0" anchor="t">
            <a:spAutoFit/>
          </a:bodyPr>
          <a:lstStyle/>
          <a:p>
            <a:r>
              <a:rPr lang="en-US" b="1" err="1">
                <a:latin typeface="Lato"/>
                <a:ea typeface="Lato"/>
                <a:cs typeface="Lato"/>
              </a:rPr>
              <a:t>Biểu</a:t>
            </a:r>
            <a:r>
              <a:rPr lang="en-US" b="1">
                <a:latin typeface="Lato"/>
                <a:ea typeface="Lato"/>
                <a:cs typeface="Lato"/>
              </a:rPr>
              <a:t> </a:t>
            </a:r>
            <a:r>
              <a:rPr lang="en-US" b="1" err="1">
                <a:latin typeface="Lato"/>
                <a:ea typeface="Lato"/>
                <a:cs typeface="Lato"/>
              </a:rPr>
              <a:t>đồ</a:t>
            </a:r>
            <a:r>
              <a:rPr lang="en-US" b="1">
                <a:latin typeface="Lato"/>
                <a:ea typeface="Lato"/>
                <a:cs typeface="Lato"/>
              </a:rPr>
              <a:t> </a:t>
            </a:r>
            <a:r>
              <a:rPr lang="en-US" b="1" err="1">
                <a:latin typeface="Lato"/>
                <a:ea typeface="Lato"/>
                <a:cs typeface="Lato"/>
              </a:rPr>
              <a:t>các</a:t>
            </a:r>
            <a:r>
              <a:rPr lang="en-US" b="1">
                <a:latin typeface="Lato"/>
                <a:ea typeface="Lato"/>
                <a:cs typeface="Lato"/>
              </a:rPr>
              <a:t> </a:t>
            </a:r>
            <a:r>
              <a:rPr lang="en-US" b="1" err="1">
                <a:latin typeface="Lato"/>
                <a:ea typeface="Lato"/>
                <a:cs typeface="Lato"/>
              </a:rPr>
              <a:t>thông</a:t>
            </a:r>
            <a:r>
              <a:rPr lang="en-US" b="1">
                <a:latin typeface="Lato"/>
                <a:ea typeface="Lato"/>
                <a:cs typeface="Lato"/>
              </a:rPr>
              <a:t> </a:t>
            </a:r>
            <a:r>
              <a:rPr lang="en-US" b="1" err="1">
                <a:latin typeface="Lato"/>
                <a:ea typeface="Lato"/>
                <a:cs typeface="Lato"/>
              </a:rPr>
              <a:t>số</a:t>
            </a:r>
            <a:r>
              <a:rPr lang="en-US" b="1">
                <a:latin typeface="Lato"/>
                <a:ea typeface="Lato"/>
                <a:cs typeface="Lato"/>
              </a:rPr>
              <a:t> </a:t>
            </a:r>
            <a:r>
              <a:rPr lang="en-US" b="1" err="1">
                <a:latin typeface="Lato"/>
                <a:ea typeface="Lato"/>
                <a:cs typeface="Lato"/>
              </a:rPr>
              <a:t>môi</a:t>
            </a:r>
            <a:r>
              <a:rPr lang="en-US" b="1">
                <a:latin typeface="Lato"/>
                <a:ea typeface="Lato"/>
                <a:cs typeface="Lato"/>
              </a:rPr>
              <a:t> </a:t>
            </a:r>
            <a:r>
              <a:rPr lang="en-US" b="1" err="1">
                <a:latin typeface="Lato"/>
                <a:ea typeface="Lato"/>
                <a:cs typeface="Lato"/>
              </a:rPr>
              <a:t>trường</a:t>
            </a:r>
            <a:r>
              <a:rPr lang="en-US" b="1">
                <a:latin typeface="Lato"/>
                <a:ea typeface="Lato"/>
                <a:cs typeface="Lato"/>
              </a:rPr>
              <a:t> </a:t>
            </a:r>
            <a:r>
              <a:rPr lang="en-US" b="1" err="1">
                <a:latin typeface="Lato"/>
                <a:ea typeface="Lato"/>
                <a:cs typeface="Lato"/>
              </a:rPr>
              <a:t>theo</a:t>
            </a:r>
            <a:r>
              <a:rPr lang="en-US" b="1">
                <a:latin typeface="Lato"/>
                <a:ea typeface="Lato"/>
                <a:cs typeface="Lato"/>
              </a:rPr>
              <a:t> </a:t>
            </a:r>
            <a:r>
              <a:rPr lang="en-US" b="1" err="1">
                <a:latin typeface="Lato"/>
                <a:ea typeface="Lato"/>
                <a:cs typeface="Lato"/>
              </a:rPr>
              <a:t>kết</a:t>
            </a:r>
            <a:r>
              <a:rPr lang="en-US" b="1">
                <a:latin typeface="Lato"/>
                <a:ea typeface="Lato"/>
                <a:cs typeface="Lato"/>
              </a:rPr>
              <a:t> </a:t>
            </a:r>
            <a:r>
              <a:rPr lang="en-US" b="1" err="1">
                <a:latin typeface="Lato"/>
                <a:ea typeface="Lato"/>
                <a:cs typeface="Lato"/>
              </a:rPr>
              <a:t>quả</a:t>
            </a:r>
            <a:r>
              <a:rPr lang="en-US" b="1">
                <a:latin typeface="Lato"/>
                <a:ea typeface="Lato"/>
                <a:cs typeface="Lato"/>
              </a:rPr>
              <a:t> </a:t>
            </a:r>
            <a:r>
              <a:rPr lang="en-US" b="1" err="1">
                <a:latin typeface="Lato"/>
                <a:ea typeface="Lato"/>
                <a:cs typeface="Lato"/>
              </a:rPr>
              <a:t>dự</a:t>
            </a:r>
            <a:r>
              <a:rPr lang="en-US" b="1">
                <a:latin typeface="Lato"/>
                <a:ea typeface="Lato"/>
                <a:cs typeface="Lato"/>
              </a:rPr>
              <a:t> </a:t>
            </a:r>
            <a:r>
              <a:rPr lang="en-US" b="1" err="1">
                <a:latin typeface="Lato"/>
                <a:ea typeface="Lato"/>
                <a:cs typeface="Lato"/>
              </a:rPr>
              <a:t>báo</a:t>
            </a:r>
            <a:r>
              <a:rPr lang="en-US" b="1">
                <a:latin typeface="Lato"/>
                <a:ea typeface="Lato"/>
                <a:cs typeface="Lato"/>
              </a:rPr>
              <a:t> </a:t>
            </a:r>
            <a:r>
              <a:rPr lang="en-US" b="1" err="1">
                <a:latin typeface="Lato"/>
                <a:ea typeface="Lato"/>
                <a:cs typeface="Lato"/>
              </a:rPr>
              <a:t>tại</a:t>
            </a:r>
            <a:r>
              <a:rPr lang="en-US" b="1">
                <a:latin typeface="Lato"/>
                <a:ea typeface="Lato"/>
                <a:cs typeface="Lato"/>
              </a:rPr>
              <a:t> 1 </a:t>
            </a:r>
            <a:r>
              <a:rPr lang="en-US" b="1" err="1">
                <a:latin typeface="Lato"/>
                <a:ea typeface="Lato"/>
                <a:cs typeface="Lato"/>
              </a:rPr>
              <a:t>trạm</a:t>
            </a:r>
            <a:endParaRPr lang="en-US" b="1">
              <a:latin typeface="Lato"/>
              <a:ea typeface="Lato"/>
              <a:cs typeface="Lato"/>
            </a:endParaRPr>
          </a:p>
        </p:txBody>
      </p:sp>
      <p:pic>
        <p:nvPicPr>
          <p:cNvPr id="5" name="Picture 4">
            <a:extLst>
              <a:ext uri="{FF2B5EF4-FFF2-40B4-BE49-F238E27FC236}">
                <a16:creationId xmlns:a16="http://schemas.microsoft.com/office/drawing/2014/main" id="{CE05D7ED-C62E-2FCE-0EC1-1A6D2D6AFF8F}"/>
              </a:ext>
            </a:extLst>
          </p:cNvPr>
          <p:cNvPicPr>
            <a:picLocks noChangeAspect="1"/>
          </p:cNvPicPr>
          <p:nvPr/>
        </p:nvPicPr>
        <p:blipFill>
          <a:blip r:embed="rId3"/>
          <a:stretch>
            <a:fillRect/>
          </a:stretch>
        </p:blipFill>
        <p:spPr>
          <a:xfrm>
            <a:off x="389659" y="1221797"/>
            <a:ext cx="5593773" cy="4942610"/>
          </a:xfrm>
          <a:prstGeom prst="rect">
            <a:avLst/>
          </a:prstGeom>
        </p:spPr>
      </p:pic>
      <p:pic>
        <p:nvPicPr>
          <p:cNvPr id="6" name="Picture 5">
            <a:extLst>
              <a:ext uri="{FF2B5EF4-FFF2-40B4-BE49-F238E27FC236}">
                <a16:creationId xmlns:a16="http://schemas.microsoft.com/office/drawing/2014/main" id="{7D030BF1-BEF3-90BE-9C29-245B1A1A59A8}"/>
              </a:ext>
            </a:extLst>
          </p:cNvPr>
          <p:cNvPicPr>
            <a:picLocks noChangeAspect="1"/>
          </p:cNvPicPr>
          <p:nvPr/>
        </p:nvPicPr>
        <p:blipFill>
          <a:blip r:embed="rId4"/>
          <a:stretch>
            <a:fillRect/>
          </a:stretch>
        </p:blipFill>
        <p:spPr>
          <a:xfrm>
            <a:off x="3399993" y="4581092"/>
            <a:ext cx="5452630" cy="1583748"/>
          </a:xfrm>
          <a:prstGeom prst="rect">
            <a:avLst/>
          </a:prstGeom>
        </p:spPr>
      </p:pic>
    </p:spTree>
    <p:extLst>
      <p:ext uri="{BB962C8B-B14F-4D97-AF65-F5344CB8AC3E}">
        <p14:creationId xmlns:p14="http://schemas.microsoft.com/office/powerpoint/2010/main" val="408489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29</a:t>
            </a:fld>
            <a:endParaRPr lang="en-US"/>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3694</Words>
  <Application>Microsoft Macintosh PowerPoint</Application>
  <PresentationFormat>On-screen Show (4:3)</PresentationFormat>
  <Paragraphs>333</Paragraphs>
  <Slides>29</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Cambria Math</vt:lpstr>
      <vt:lpstr>Lato</vt:lpstr>
      <vt:lpstr>Times New Roman</vt:lpstr>
      <vt:lpstr>Office Theme</vt:lpstr>
      <vt:lpstr>PowerPoint Presentation</vt:lpstr>
      <vt:lpstr>PowerPoint Presentation</vt:lpstr>
      <vt:lpstr>Mục lục</vt:lpstr>
      <vt:lpstr>1. Giới thiệu đề tài </vt:lpstr>
      <vt:lpstr>1. Giới thiệu đề tài </vt:lpstr>
      <vt:lpstr>1. Giới thiệu đề tài </vt:lpstr>
      <vt:lpstr>2. Bộ dữ liệu và tiền xử lý dữ liệu </vt:lpstr>
      <vt:lpstr>2. Bộ dữ liệu và tiền xử lý dữ liệu </vt:lpstr>
      <vt:lpstr>2. Bộ dữ liệu và tiền xử lý dữ liệu </vt:lpstr>
      <vt:lpstr>2. Bộ dữ liệu và tiền xử lý dữ liệu </vt:lpstr>
      <vt:lpstr>2. Bộ dữ liệu và tiền xử lý dữ liệu </vt:lpstr>
      <vt:lpstr>2. Bộ dữ liệu và tiền xử lý dữ liệu </vt:lpstr>
      <vt:lpstr>2. Bộ dữ liệu và tiền xử lý dữ liệu </vt:lpstr>
      <vt:lpstr>2. Bộ dữ liệu và tiền xử lý dữ liệu </vt:lpstr>
      <vt:lpstr>3. Xây dựng mô hình dự đoán </vt:lpstr>
      <vt:lpstr>3. Xây dựng mô hình dự đoán </vt:lpstr>
      <vt:lpstr>3. Xây dựng mô hình dự đoán </vt:lpstr>
      <vt:lpstr>3. Xây dựng mô hình dự đoán </vt:lpstr>
      <vt:lpstr>3. Xây dựng mô hình dự đoán </vt:lpstr>
      <vt:lpstr>3. Xây dựng mô hình dự đoán </vt:lpstr>
      <vt:lpstr>4. Xây dựng bản đồ vùng nuôi trồng </vt:lpstr>
      <vt:lpstr>4. Xây dựng bản đồ vùng nuôi trồng </vt:lpstr>
      <vt:lpstr>4. Xây dựng bản đồ vùng nuôi trồng </vt:lpstr>
      <vt:lpstr>4. Xây dựng bản đồ vùng nuôi trồng </vt:lpstr>
      <vt:lpstr>4. Xây dựng bản đồ vùng nuôi trồng </vt:lpstr>
      <vt:lpstr>4. Xây dựng bản đồ vùng nuôi trồng </vt:lpstr>
      <vt:lpstr>4. Xây dựng bản đồ vùng nuôi trồng </vt:lpstr>
      <vt:lpstr>4. Xây dựng bản đồ vùng nuôi trồng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Bui Le Hung 20224994</cp:lastModifiedBy>
  <cp:revision>2</cp:revision>
  <dcterms:created xsi:type="dcterms:W3CDTF">2021-05-28T04:32:29Z</dcterms:created>
  <dcterms:modified xsi:type="dcterms:W3CDTF">2026-01-07T12:50:35Z</dcterms:modified>
</cp:coreProperties>
</file>