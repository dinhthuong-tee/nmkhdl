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9144000"/>
  <p:notesSz cx="6858000" cy="9144000"/>
  <p:embeddedFontLst>
    <p:embeddedFont>
      <p:font typeface="Lato"/>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jt9FD/xS/bqA7aTK9L/lCBl4QpJ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8022354-B5E6-4B01-843D-61041E234A23}">
  <a:tblStyle styleId="{48022354-B5E6-4B01-843D-61041E234A23}" styleName="Table_0">
    <a:wholeTbl>
      <a:tcTxStyle b="off" i="off">
        <a:font>
          <a:latin typeface="Calibri"/>
          <a:ea typeface="Calibri"/>
          <a:cs typeface="Calibri"/>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Lato-boldItalic.fntdata"/><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Lato-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Lato-italic.fntdata"/><Relationship Id="rId6" Type="http://schemas.openxmlformats.org/officeDocument/2006/relationships/slide" Target="slides/slide1.xml"/><Relationship Id="rId18" Type="http://schemas.openxmlformats.org/officeDocument/2006/relationships/font" Target="fonts/Lato-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 name="Google Shape;57;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 name="Google Shape;61;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 name="Google Shape;6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Việt Nam có đường bờ biển dài với điều kiện tự nhiên thuận lợi cho nuôi trồng thủy sản. Trong đó, cá giò và hàu là hai đối tượng nuôi có giá trị kinh tế cao, đóng vai trò quan trọng trong phát triển kinh tế biển và sinh kế người dân ven biển.</a:t>
            </a:r>
            <a:endParaRPr/>
          </a:p>
        </p:txBody>
      </p:sp>
      <p:sp>
        <p:nvSpPr>
          <p:cNvPr id="70" name="Google Shape;7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Hiệu quả và tính bền vững của nuôi trồng phụ thuộc chặt chẽ vào chất lượng môi trường nước. Các thông số như oxy hòa tan, pH, nhiệt độ, độ mặn hay các chất ô nhiễm đều ảnh hưởng trực tiếp đến sức khỏe, tăng trưởng và tỷ lệ sống của cá giò và hàu.</a:t>
            </a:r>
            <a:endParaRPr/>
          </a:p>
          <a:p>
            <a:pPr indent="0" lvl="0" marL="0" rtl="0" algn="l">
              <a:spcBef>
                <a:spcPts val="0"/>
              </a:spcBef>
              <a:spcAft>
                <a:spcPts val="0"/>
              </a:spcAft>
              <a:buNone/>
            </a:pPr>
            <a:r>
              <a:rPr lang="en-US"/>
              <a:t>Dưới tác động của biến đổi khí hậu, nước biển dâng và gia tăng các hoạt động xả thải, môi trường biển ven bờ ngày càng biến động mạnh và khó dự đoán. Các phương pháp đánh giá truyền thống thường không phản ánh được đầy đủ tính động và tính phi tuyến của hệ thống môi trường.</a:t>
            </a:r>
            <a:endParaRPr/>
          </a:p>
        </p:txBody>
      </p:sp>
      <p:sp>
        <p:nvSpPr>
          <p:cNvPr id="83" name="Google Shape;8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b="1" lang="en-US"/>
              <a:t>Mục tiêu:</a:t>
            </a:r>
            <a:r>
              <a:rPr lang="en-US"/>
              <a:t> Môi trường biển ven bờ Việt Nam đóng vai trò quan trọng trong nuôi trồng cá giò và hàu, nhưng chịu ảnh hưởng lớn từ các yếu tố như pH, độ mặn, DO, NH₃, H₂S và biến đổi khí hậu. Sự biến động khó lường của các yếu tố này gây rủi ro cho sức khỏe và năng suất nuôi trồng. Đề tài hướng đến ứng dụng học máy để phân tích dữ liệu quan trắc, dự báo sớm rủi ro môi trường và xác định vùng nuôi tối ưu, góp phần hỗ trợ quản lý bền vững và ra quyết định kịp thời.</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n-US">
                <a:latin typeface="Arial"/>
                <a:ea typeface="Arial"/>
                <a:cs typeface="Arial"/>
                <a:sym typeface="Arial"/>
              </a:rPr>
              <a:t>Trong khuôn khổ dự án, nhóm xây dựng một quy trình hoàn chỉnh từ tiền xử lý dữ liệu, dự báo các yếu tố môi trường theo quý bằng mô hình XGBoost, đến tính toán chỉ số HSI nhằm đánh giá mức độ phù hợp sinh cảnh cho cá giò và hàu.</a:t>
            </a:r>
            <a:endParaRPr>
              <a:latin typeface="Arial"/>
              <a:ea typeface="Arial"/>
              <a:cs typeface="Arial"/>
              <a:sym typeface="Arial"/>
            </a:endParaRPr>
          </a:p>
          <a:p>
            <a:pPr indent="0" lvl="0" marL="0" rtl="0" algn="l">
              <a:spcBef>
                <a:spcPts val="0"/>
              </a:spcBef>
              <a:spcAft>
                <a:spcPts val="0"/>
              </a:spcAft>
              <a:buNone/>
            </a:pPr>
            <a:r>
              <a:rPr lang="en-US">
                <a:latin typeface="Arial"/>
                <a:ea typeface="Arial"/>
                <a:cs typeface="Arial"/>
                <a:sym typeface="Arial"/>
              </a:rPr>
              <a:t>Kết quả được trực quan hóa dưới dạng bản đồ, cho phép theo dõi sự thay đổi mức độ phù hợp môi trường theo không gian và thời gian. Điều này hỗ trợ hiệu quả cho công tác quản lý, quy hoạch và phát triển nuôi trồng thủy sản theo hướng bền vững.</a:t>
            </a:r>
            <a:endParaRPr>
              <a:latin typeface="Arial"/>
              <a:ea typeface="Arial"/>
              <a:cs typeface="Arial"/>
              <a:sym typeface="Arial"/>
            </a:endParaRPr>
          </a:p>
        </p:txBody>
      </p:sp>
      <p:sp>
        <p:nvSpPr>
          <p:cNvPr id="95" name="Google Shape;9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 name="Google Shape;12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2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bg>
      <p:bgPr>
        <a:blipFill>
          <a:blip r:embed="rId2">
            <a:alphaModFix/>
          </a:blip>
          <a:stretch>
            <a:fillRect/>
          </a:stretch>
        </a:blip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bg>
      <p:bgPr>
        <a:blipFill>
          <a:blip r:embed="rId2">
            <a:alphaModFix/>
          </a:blip>
          <a:stretch>
            <a:fillRect/>
          </a:stretch>
        </a:blipFill>
      </p:bgPr>
    </p:bg>
    <p:spTree>
      <p:nvGrpSpPr>
        <p:cNvPr id="11" name="Shape 11"/>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p:cSld name="1_Section Header">
    <p:bg>
      <p:bgPr>
        <a:blipFill>
          <a:blip r:embed="rId2">
            <a:alphaModFix/>
          </a:blip>
          <a:stretch>
            <a:fillRect/>
          </a:stretch>
        </a:blipFill>
      </p:bgPr>
    </p:bg>
    <p:spTree>
      <p:nvGrpSpPr>
        <p:cNvPr id="12" name="Shape 12"/>
        <p:cNvGrpSpPr/>
        <p:nvPr/>
      </p:nvGrpSpPr>
      <p:grpSpPr>
        <a:xfrm>
          <a:off x="0" y="0"/>
          <a:ext cx="0" cy="0"/>
          <a:chOff x="0" y="0"/>
          <a:chExt cx="0" cy="0"/>
        </a:xfrm>
      </p:grpSpPr>
      <p:sp>
        <p:nvSpPr>
          <p:cNvPr id="13" name="Google Shape;13;p33"/>
          <p:cNvSpPr txBox="1"/>
          <p:nvPr>
            <p:ph idx="10" type="dt"/>
          </p:nvPr>
        </p:nvSpPr>
        <p:spPr>
          <a:xfrm>
            <a:off x="628650" y="6565257"/>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sz="1200">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33"/>
          <p:cNvSpPr txBox="1"/>
          <p:nvPr>
            <p:ph idx="11" type="ftr"/>
          </p:nvPr>
        </p:nvSpPr>
        <p:spPr>
          <a:xfrm>
            <a:off x="3028950" y="6565257"/>
            <a:ext cx="30861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sz="1200">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33"/>
          <p:cNvSpPr txBox="1"/>
          <p:nvPr>
            <p:ph idx="12" type="sldNum"/>
          </p:nvPr>
        </p:nvSpPr>
        <p:spPr>
          <a:xfrm>
            <a:off x="6867383" y="6572126"/>
            <a:ext cx="20574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sz="1200">
                <a:solidFill>
                  <a:srgbClr val="C00000"/>
                </a:solidFill>
                <a:latin typeface="Lato"/>
                <a:ea typeface="Lato"/>
                <a:cs typeface="Lato"/>
                <a:sym typeface="Lato"/>
              </a:defRPr>
            </a:lvl1pPr>
            <a:lvl2pPr indent="0" lvl="1" marL="0" marR="0" rtl="0" algn="r">
              <a:spcBef>
                <a:spcPts val="0"/>
              </a:spcBef>
              <a:buNone/>
              <a:defRPr b="1" sz="1200">
                <a:solidFill>
                  <a:srgbClr val="C00000"/>
                </a:solidFill>
                <a:latin typeface="Lato"/>
                <a:ea typeface="Lato"/>
                <a:cs typeface="Lato"/>
                <a:sym typeface="Lato"/>
              </a:defRPr>
            </a:lvl2pPr>
            <a:lvl3pPr indent="0" lvl="2" marL="0" marR="0" rtl="0" algn="r">
              <a:spcBef>
                <a:spcPts val="0"/>
              </a:spcBef>
              <a:buNone/>
              <a:defRPr b="1" sz="1200">
                <a:solidFill>
                  <a:srgbClr val="C00000"/>
                </a:solidFill>
                <a:latin typeface="Lato"/>
                <a:ea typeface="Lato"/>
                <a:cs typeface="Lato"/>
                <a:sym typeface="Lato"/>
              </a:defRPr>
            </a:lvl3pPr>
            <a:lvl4pPr indent="0" lvl="3" marL="0" marR="0" rtl="0" algn="r">
              <a:spcBef>
                <a:spcPts val="0"/>
              </a:spcBef>
              <a:buNone/>
              <a:defRPr b="1" sz="1200">
                <a:solidFill>
                  <a:srgbClr val="C00000"/>
                </a:solidFill>
                <a:latin typeface="Lato"/>
                <a:ea typeface="Lato"/>
                <a:cs typeface="Lato"/>
                <a:sym typeface="Lato"/>
              </a:defRPr>
            </a:lvl4pPr>
            <a:lvl5pPr indent="0" lvl="4" marL="0" marR="0" rtl="0" algn="r">
              <a:spcBef>
                <a:spcPts val="0"/>
              </a:spcBef>
              <a:buNone/>
              <a:defRPr b="1" sz="1200">
                <a:solidFill>
                  <a:srgbClr val="C00000"/>
                </a:solidFill>
                <a:latin typeface="Lato"/>
                <a:ea typeface="Lato"/>
                <a:cs typeface="Lato"/>
                <a:sym typeface="Lato"/>
              </a:defRPr>
            </a:lvl5pPr>
            <a:lvl6pPr indent="0" lvl="5" marL="0" marR="0" rtl="0" algn="r">
              <a:spcBef>
                <a:spcPts val="0"/>
              </a:spcBef>
              <a:buNone/>
              <a:defRPr b="1" sz="1200">
                <a:solidFill>
                  <a:srgbClr val="C00000"/>
                </a:solidFill>
                <a:latin typeface="Lato"/>
                <a:ea typeface="Lato"/>
                <a:cs typeface="Lato"/>
                <a:sym typeface="Lato"/>
              </a:defRPr>
            </a:lvl6pPr>
            <a:lvl7pPr indent="0" lvl="6" marL="0" marR="0" rtl="0" algn="r">
              <a:spcBef>
                <a:spcPts val="0"/>
              </a:spcBef>
              <a:buNone/>
              <a:defRPr b="1" sz="1200">
                <a:solidFill>
                  <a:srgbClr val="C00000"/>
                </a:solidFill>
                <a:latin typeface="Lato"/>
                <a:ea typeface="Lato"/>
                <a:cs typeface="Lato"/>
                <a:sym typeface="Lato"/>
              </a:defRPr>
            </a:lvl7pPr>
            <a:lvl8pPr indent="0" lvl="7" marL="0" marR="0" rtl="0" algn="r">
              <a:spcBef>
                <a:spcPts val="0"/>
              </a:spcBef>
              <a:buNone/>
              <a:defRPr b="1" sz="1200">
                <a:solidFill>
                  <a:srgbClr val="C00000"/>
                </a:solidFill>
                <a:latin typeface="Lato"/>
                <a:ea typeface="Lato"/>
                <a:cs typeface="Lato"/>
                <a:sym typeface="Lato"/>
              </a:defRPr>
            </a:lvl8pPr>
            <a:lvl9pPr indent="0" lvl="8" marL="0" marR="0" rtl="0" algn="r">
              <a:spcBef>
                <a:spcPts val="0"/>
              </a:spcBef>
              <a:buNone/>
              <a:defRPr b="1" sz="1200">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16" name="Google Shape;16;p33"/>
          <p:cNvSpPr txBox="1"/>
          <p:nvPr>
            <p:ph type="title"/>
          </p:nvPr>
        </p:nvSpPr>
        <p:spPr>
          <a:xfrm>
            <a:off x="235077" y="78613"/>
            <a:ext cx="8673846" cy="451739"/>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7" name="Google Shape;17;p33"/>
          <p:cNvSpPr txBox="1"/>
          <p:nvPr>
            <p:ph idx="1" type="body"/>
          </p:nvPr>
        </p:nvSpPr>
        <p:spPr>
          <a:xfrm>
            <a:off x="235077" y="841247"/>
            <a:ext cx="8674100" cy="530339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with Caption">
  <p:cSld name="1_Content with Caption">
    <p:bg>
      <p:bgPr>
        <a:blipFill>
          <a:blip r:embed="rId2">
            <a:alphaModFix/>
          </a:blip>
          <a:stretch>
            <a:fillRect/>
          </a:stretch>
        </a:blipFill>
      </p:bgPr>
    </p:bg>
    <p:spTree>
      <p:nvGrpSpPr>
        <p:cNvPr id="18" name="Shape 18"/>
        <p:cNvGrpSpPr/>
        <p:nvPr/>
      </p:nvGrpSpPr>
      <p:grpSpPr>
        <a:xfrm>
          <a:off x="0" y="0"/>
          <a:ext cx="0" cy="0"/>
          <a:chOff x="0" y="0"/>
          <a:chExt cx="0" cy="0"/>
        </a:xfrm>
      </p:grpSpPr>
      <p:sp>
        <p:nvSpPr>
          <p:cNvPr id="19" name="Google Shape;19;p34"/>
          <p:cNvSpPr txBox="1"/>
          <p:nvPr>
            <p:ph idx="10" type="dt"/>
          </p:nvPr>
        </p:nvSpPr>
        <p:spPr>
          <a:xfrm>
            <a:off x="628650" y="6565257"/>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sz="1200">
                <a:solidFill>
                  <a:srgbClr val="F2F2F2"/>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0" name="Google Shape;20;p34"/>
          <p:cNvSpPr txBox="1"/>
          <p:nvPr>
            <p:ph idx="11" type="ftr"/>
          </p:nvPr>
        </p:nvSpPr>
        <p:spPr>
          <a:xfrm>
            <a:off x="3028950" y="6565257"/>
            <a:ext cx="30861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sz="1200">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1" name="Google Shape;21;p34"/>
          <p:cNvSpPr txBox="1"/>
          <p:nvPr>
            <p:ph idx="12" type="sldNum"/>
          </p:nvPr>
        </p:nvSpPr>
        <p:spPr>
          <a:xfrm>
            <a:off x="6867383" y="6572126"/>
            <a:ext cx="20574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sz="1200">
                <a:solidFill>
                  <a:srgbClr val="C00000"/>
                </a:solidFill>
                <a:latin typeface="Lato"/>
                <a:ea typeface="Lato"/>
                <a:cs typeface="Lato"/>
                <a:sym typeface="Lato"/>
              </a:defRPr>
            </a:lvl1pPr>
            <a:lvl2pPr indent="0" lvl="1" marL="0" marR="0" rtl="0" algn="r">
              <a:spcBef>
                <a:spcPts val="0"/>
              </a:spcBef>
              <a:buNone/>
              <a:defRPr b="1" sz="1200">
                <a:solidFill>
                  <a:srgbClr val="C00000"/>
                </a:solidFill>
                <a:latin typeface="Lato"/>
                <a:ea typeface="Lato"/>
                <a:cs typeface="Lato"/>
                <a:sym typeface="Lato"/>
              </a:defRPr>
            </a:lvl2pPr>
            <a:lvl3pPr indent="0" lvl="2" marL="0" marR="0" rtl="0" algn="r">
              <a:spcBef>
                <a:spcPts val="0"/>
              </a:spcBef>
              <a:buNone/>
              <a:defRPr b="1" sz="1200">
                <a:solidFill>
                  <a:srgbClr val="C00000"/>
                </a:solidFill>
                <a:latin typeface="Lato"/>
                <a:ea typeface="Lato"/>
                <a:cs typeface="Lato"/>
                <a:sym typeface="Lato"/>
              </a:defRPr>
            </a:lvl3pPr>
            <a:lvl4pPr indent="0" lvl="3" marL="0" marR="0" rtl="0" algn="r">
              <a:spcBef>
                <a:spcPts val="0"/>
              </a:spcBef>
              <a:buNone/>
              <a:defRPr b="1" sz="1200">
                <a:solidFill>
                  <a:srgbClr val="C00000"/>
                </a:solidFill>
                <a:latin typeface="Lato"/>
                <a:ea typeface="Lato"/>
                <a:cs typeface="Lato"/>
                <a:sym typeface="Lato"/>
              </a:defRPr>
            </a:lvl4pPr>
            <a:lvl5pPr indent="0" lvl="4" marL="0" marR="0" rtl="0" algn="r">
              <a:spcBef>
                <a:spcPts val="0"/>
              </a:spcBef>
              <a:buNone/>
              <a:defRPr b="1" sz="1200">
                <a:solidFill>
                  <a:srgbClr val="C00000"/>
                </a:solidFill>
                <a:latin typeface="Lato"/>
                <a:ea typeface="Lato"/>
                <a:cs typeface="Lato"/>
                <a:sym typeface="Lato"/>
              </a:defRPr>
            </a:lvl5pPr>
            <a:lvl6pPr indent="0" lvl="5" marL="0" marR="0" rtl="0" algn="r">
              <a:spcBef>
                <a:spcPts val="0"/>
              </a:spcBef>
              <a:buNone/>
              <a:defRPr b="1" sz="1200">
                <a:solidFill>
                  <a:srgbClr val="C00000"/>
                </a:solidFill>
                <a:latin typeface="Lato"/>
                <a:ea typeface="Lato"/>
                <a:cs typeface="Lato"/>
                <a:sym typeface="Lato"/>
              </a:defRPr>
            </a:lvl6pPr>
            <a:lvl7pPr indent="0" lvl="6" marL="0" marR="0" rtl="0" algn="r">
              <a:spcBef>
                <a:spcPts val="0"/>
              </a:spcBef>
              <a:buNone/>
              <a:defRPr b="1" sz="1200">
                <a:solidFill>
                  <a:srgbClr val="C00000"/>
                </a:solidFill>
                <a:latin typeface="Lato"/>
                <a:ea typeface="Lato"/>
                <a:cs typeface="Lato"/>
                <a:sym typeface="Lato"/>
              </a:defRPr>
            </a:lvl7pPr>
            <a:lvl8pPr indent="0" lvl="7" marL="0" marR="0" rtl="0" algn="r">
              <a:spcBef>
                <a:spcPts val="0"/>
              </a:spcBef>
              <a:buNone/>
              <a:defRPr b="1" sz="1200">
                <a:solidFill>
                  <a:srgbClr val="C00000"/>
                </a:solidFill>
                <a:latin typeface="Lato"/>
                <a:ea typeface="Lato"/>
                <a:cs typeface="Lato"/>
                <a:sym typeface="Lato"/>
              </a:defRPr>
            </a:lvl8pPr>
            <a:lvl9pPr indent="0" lvl="8" marL="0" marR="0" rtl="0" algn="r">
              <a:spcBef>
                <a:spcPts val="0"/>
              </a:spcBef>
              <a:buNone/>
              <a:defRPr b="1" sz="1200">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wo Content">
  <p:cSld name="2_Two Content">
    <p:bg>
      <p:bgPr>
        <a:blipFill>
          <a:blip r:embed="rId2">
            <a:alphaModFix/>
          </a:blip>
          <a:stretch>
            <a:fillRect/>
          </a:stretch>
        </a:blipFill>
      </p:bgPr>
    </p:bg>
    <p:spTree>
      <p:nvGrpSpPr>
        <p:cNvPr id="22" name="Shape 22"/>
        <p:cNvGrpSpPr/>
        <p:nvPr/>
      </p:nvGrpSpPr>
      <p:grpSpPr>
        <a:xfrm>
          <a:off x="0" y="0"/>
          <a:ext cx="0" cy="0"/>
          <a:chOff x="0" y="0"/>
          <a:chExt cx="0" cy="0"/>
        </a:xfrm>
      </p:grpSpPr>
      <p:sp>
        <p:nvSpPr>
          <p:cNvPr id="23" name="Google Shape;23;p35"/>
          <p:cNvSpPr txBox="1"/>
          <p:nvPr>
            <p:ph idx="10" type="dt"/>
          </p:nvPr>
        </p:nvSpPr>
        <p:spPr>
          <a:xfrm>
            <a:off x="628650" y="6565257"/>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sz="1200">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4" name="Google Shape;24;p35"/>
          <p:cNvSpPr txBox="1"/>
          <p:nvPr>
            <p:ph idx="11" type="ftr"/>
          </p:nvPr>
        </p:nvSpPr>
        <p:spPr>
          <a:xfrm>
            <a:off x="3028950" y="6565257"/>
            <a:ext cx="30861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sz="1200">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5" name="Google Shape;25;p35"/>
          <p:cNvSpPr txBox="1"/>
          <p:nvPr>
            <p:ph idx="12" type="sldNum"/>
          </p:nvPr>
        </p:nvSpPr>
        <p:spPr>
          <a:xfrm>
            <a:off x="6867383" y="6572126"/>
            <a:ext cx="20574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sz="1200">
                <a:solidFill>
                  <a:srgbClr val="C00000"/>
                </a:solidFill>
                <a:latin typeface="Lato"/>
                <a:ea typeface="Lato"/>
                <a:cs typeface="Lato"/>
                <a:sym typeface="Lato"/>
              </a:defRPr>
            </a:lvl1pPr>
            <a:lvl2pPr indent="0" lvl="1" marL="0" marR="0" rtl="0" algn="r">
              <a:spcBef>
                <a:spcPts val="0"/>
              </a:spcBef>
              <a:buNone/>
              <a:defRPr b="1" sz="1200">
                <a:solidFill>
                  <a:srgbClr val="C00000"/>
                </a:solidFill>
                <a:latin typeface="Lato"/>
                <a:ea typeface="Lato"/>
                <a:cs typeface="Lato"/>
                <a:sym typeface="Lato"/>
              </a:defRPr>
            </a:lvl2pPr>
            <a:lvl3pPr indent="0" lvl="2" marL="0" marR="0" rtl="0" algn="r">
              <a:spcBef>
                <a:spcPts val="0"/>
              </a:spcBef>
              <a:buNone/>
              <a:defRPr b="1" sz="1200">
                <a:solidFill>
                  <a:srgbClr val="C00000"/>
                </a:solidFill>
                <a:latin typeface="Lato"/>
                <a:ea typeface="Lato"/>
                <a:cs typeface="Lato"/>
                <a:sym typeface="Lato"/>
              </a:defRPr>
            </a:lvl3pPr>
            <a:lvl4pPr indent="0" lvl="3" marL="0" marR="0" rtl="0" algn="r">
              <a:spcBef>
                <a:spcPts val="0"/>
              </a:spcBef>
              <a:buNone/>
              <a:defRPr b="1" sz="1200">
                <a:solidFill>
                  <a:srgbClr val="C00000"/>
                </a:solidFill>
                <a:latin typeface="Lato"/>
                <a:ea typeface="Lato"/>
                <a:cs typeface="Lato"/>
                <a:sym typeface="Lato"/>
              </a:defRPr>
            </a:lvl4pPr>
            <a:lvl5pPr indent="0" lvl="4" marL="0" marR="0" rtl="0" algn="r">
              <a:spcBef>
                <a:spcPts val="0"/>
              </a:spcBef>
              <a:buNone/>
              <a:defRPr b="1" sz="1200">
                <a:solidFill>
                  <a:srgbClr val="C00000"/>
                </a:solidFill>
                <a:latin typeface="Lato"/>
                <a:ea typeface="Lato"/>
                <a:cs typeface="Lato"/>
                <a:sym typeface="Lato"/>
              </a:defRPr>
            </a:lvl5pPr>
            <a:lvl6pPr indent="0" lvl="5" marL="0" marR="0" rtl="0" algn="r">
              <a:spcBef>
                <a:spcPts val="0"/>
              </a:spcBef>
              <a:buNone/>
              <a:defRPr b="1" sz="1200">
                <a:solidFill>
                  <a:srgbClr val="C00000"/>
                </a:solidFill>
                <a:latin typeface="Lato"/>
                <a:ea typeface="Lato"/>
                <a:cs typeface="Lato"/>
                <a:sym typeface="Lato"/>
              </a:defRPr>
            </a:lvl6pPr>
            <a:lvl7pPr indent="0" lvl="6" marL="0" marR="0" rtl="0" algn="r">
              <a:spcBef>
                <a:spcPts val="0"/>
              </a:spcBef>
              <a:buNone/>
              <a:defRPr b="1" sz="1200">
                <a:solidFill>
                  <a:srgbClr val="C00000"/>
                </a:solidFill>
                <a:latin typeface="Lato"/>
                <a:ea typeface="Lato"/>
                <a:cs typeface="Lato"/>
                <a:sym typeface="Lato"/>
              </a:defRPr>
            </a:lvl7pPr>
            <a:lvl8pPr indent="0" lvl="7" marL="0" marR="0" rtl="0" algn="r">
              <a:spcBef>
                <a:spcPts val="0"/>
              </a:spcBef>
              <a:buNone/>
              <a:defRPr b="1" sz="1200">
                <a:solidFill>
                  <a:srgbClr val="C00000"/>
                </a:solidFill>
                <a:latin typeface="Lato"/>
                <a:ea typeface="Lato"/>
                <a:cs typeface="Lato"/>
                <a:sym typeface="Lato"/>
              </a:defRPr>
            </a:lvl8pPr>
            <a:lvl9pPr indent="0" lvl="8" marL="0" marR="0" rtl="0" algn="r">
              <a:spcBef>
                <a:spcPts val="0"/>
              </a:spcBef>
              <a:buNone/>
              <a:defRPr b="1" sz="1200">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26" name="Google Shape;26;p35"/>
          <p:cNvSpPr txBox="1"/>
          <p:nvPr>
            <p:ph idx="1" type="body"/>
          </p:nvPr>
        </p:nvSpPr>
        <p:spPr>
          <a:xfrm>
            <a:off x="528828" y="1423289"/>
            <a:ext cx="38862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7" name="Google Shape;27;p35"/>
          <p:cNvSpPr txBox="1"/>
          <p:nvPr>
            <p:ph idx="2" type="body"/>
          </p:nvPr>
        </p:nvSpPr>
        <p:spPr>
          <a:xfrm>
            <a:off x="4572000" y="1423289"/>
            <a:ext cx="38862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8" name="Google Shape;28;p35"/>
          <p:cNvSpPr txBox="1"/>
          <p:nvPr>
            <p:ph type="title"/>
          </p:nvPr>
        </p:nvSpPr>
        <p:spPr>
          <a:xfrm>
            <a:off x="235077" y="78613"/>
            <a:ext cx="8673846" cy="451739"/>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lank">
  <p:cSld name="2_Blank">
    <p:bg>
      <p:bgPr>
        <a:blipFill>
          <a:blip r:embed="rId2">
            <a:alphaModFix/>
          </a:blip>
          <a:stretch>
            <a:fillRect/>
          </a:stretch>
        </a:blipFill>
      </p:bgPr>
    </p:bg>
    <p:spTree>
      <p:nvGrpSpPr>
        <p:cNvPr id="29" name="Shape 29"/>
        <p:cNvGrpSpPr/>
        <p:nvPr/>
      </p:nvGrpSpPr>
      <p:grpSpPr>
        <a:xfrm>
          <a:off x="0" y="0"/>
          <a:ext cx="0" cy="0"/>
          <a:chOff x="0" y="0"/>
          <a:chExt cx="0" cy="0"/>
        </a:xfrm>
      </p:grpSpPr>
      <p:sp>
        <p:nvSpPr>
          <p:cNvPr id="30" name="Google Shape;30;p36"/>
          <p:cNvSpPr txBox="1"/>
          <p:nvPr>
            <p:ph type="title"/>
          </p:nvPr>
        </p:nvSpPr>
        <p:spPr>
          <a:xfrm>
            <a:off x="235077" y="78613"/>
            <a:ext cx="8673846" cy="451739"/>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1" name="Google Shape;31;p36"/>
          <p:cNvSpPr txBox="1"/>
          <p:nvPr>
            <p:ph idx="1" type="body"/>
          </p:nvPr>
        </p:nvSpPr>
        <p:spPr>
          <a:xfrm>
            <a:off x="595884" y="1533017"/>
            <a:ext cx="38862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2" name="Google Shape;32;p36"/>
          <p:cNvSpPr txBox="1"/>
          <p:nvPr>
            <p:ph idx="2" type="body"/>
          </p:nvPr>
        </p:nvSpPr>
        <p:spPr>
          <a:xfrm>
            <a:off x="4639056" y="1533017"/>
            <a:ext cx="38862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3" name="Google Shape;33;p36"/>
          <p:cNvSpPr txBox="1"/>
          <p:nvPr>
            <p:ph idx="10" type="dt"/>
          </p:nvPr>
        </p:nvSpPr>
        <p:spPr>
          <a:xfrm>
            <a:off x="628650" y="6565257"/>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sz="1200">
                <a:solidFill>
                  <a:srgbClr val="1F3864"/>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4" name="Google Shape;34;p36"/>
          <p:cNvSpPr txBox="1"/>
          <p:nvPr>
            <p:ph idx="11" type="ftr"/>
          </p:nvPr>
        </p:nvSpPr>
        <p:spPr>
          <a:xfrm>
            <a:off x="3028950" y="6565257"/>
            <a:ext cx="30861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sz="1200">
                <a:solidFill>
                  <a:srgbClr val="1F3864"/>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5" name="Google Shape;35;p36"/>
          <p:cNvSpPr txBox="1"/>
          <p:nvPr>
            <p:ph idx="12" type="sldNum"/>
          </p:nvPr>
        </p:nvSpPr>
        <p:spPr>
          <a:xfrm>
            <a:off x="6867383" y="6572126"/>
            <a:ext cx="20574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sz="1200">
                <a:solidFill>
                  <a:srgbClr val="1F3864"/>
                </a:solidFill>
                <a:latin typeface="Lato"/>
                <a:ea typeface="Lato"/>
                <a:cs typeface="Lato"/>
                <a:sym typeface="Lato"/>
              </a:defRPr>
            </a:lvl1pPr>
            <a:lvl2pPr indent="0" lvl="1" marL="0" marR="0" rtl="0" algn="r">
              <a:spcBef>
                <a:spcPts val="0"/>
              </a:spcBef>
              <a:buNone/>
              <a:defRPr b="1" sz="1200">
                <a:solidFill>
                  <a:srgbClr val="1F3864"/>
                </a:solidFill>
                <a:latin typeface="Lato"/>
                <a:ea typeface="Lato"/>
                <a:cs typeface="Lato"/>
                <a:sym typeface="Lato"/>
              </a:defRPr>
            </a:lvl2pPr>
            <a:lvl3pPr indent="0" lvl="2" marL="0" marR="0" rtl="0" algn="r">
              <a:spcBef>
                <a:spcPts val="0"/>
              </a:spcBef>
              <a:buNone/>
              <a:defRPr b="1" sz="1200">
                <a:solidFill>
                  <a:srgbClr val="1F3864"/>
                </a:solidFill>
                <a:latin typeface="Lato"/>
                <a:ea typeface="Lato"/>
                <a:cs typeface="Lato"/>
                <a:sym typeface="Lato"/>
              </a:defRPr>
            </a:lvl3pPr>
            <a:lvl4pPr indent="0" lvl="3" marL="0" marR="0" rtl="0" algn="r">
              <a:spcBef>
                <a:spcPts val="0"/>
              </a:spcBef>
              <a:buNone/>
              <a:defRPr b="1" sz="1200">
                <a:solidFill>
                  <a:srgbClr val="1F3864"/>
                </a:solidFill>
                <a:latin typeface="Lato"/>
                <a:ea typeface="Lato"/>
                <a:cs typeface="Lato"/>
                <a:sym typeface="Lato"/>
              </a:defRPr>
            </a:lvl4pPr>
            <a:lvl5pPr indent="0" lvl="4" marL="0" marR="0" rtl="0" algn="r">
              <a:spcBef>
                <a:spcPts val="0"/>
              </a:spcBef>
              <a:buNone/>
              <a:defRPr b="1" sz="1200">
                <a:solidFill>
                  <a:srgbClr val="1F3864"/>
                </a:solidFill>
                <a:latin typeface="Lato"/>
                <a:ea typeface="Lato"/>
                <a:cs typeface="Lato"/>
                <a:sym typeface="Lato"/>
              </a:defRPr>
            </a:lvl5pPr>
            <a:lvl6pPr indent="0" lvl="5" marL="0" marR="0" rtl="0" algn="r">
              <a:spcBef>
                <a:spcPts val="0"/>
              </a:spcBef>
              <a:buNone/>
              <a:defRPr b="1" sz="1200">
                <a:solidFill>
                  <a:srgbClr val="1F3864"/>
                </a:solidFill>
                <a:latin typeface="Lato"/>
                <a:ea typeface="Lato"/>
                <a:cs typeface="Lato"/>
                <a:sym typeface="Lato"/>
              </a:defRPr>
            </a:lvl6pPr>
            <a:lvl7pPr indent="0" lvl="6" marL="0" marR="0" rtl="0" algn="r">
              <a:spcBef>
                <a:spcPts val="0"/>
              </a:spcBef>
              <a:buNone/>
              <a:defRPr b="1" sz="1200">
                <a:solidFill>
                  <a:srgbClr val="1F3864"/>
                </a:solidFill>
                <a:latin typeface="Lato"/>
                <a:ea typeface="Lato"/>
                <a:cs typeface="Lato"/>
                <a:sym typeface="Lato"/>
              </a:defRPr>
            </a:lvl7pPr>
            <a:lvl8pPr indent="0" lvl="7" marL="0" marR="0" rtl="0" algn="r">
              <a:spcBef>
                <a:spcPts val="0"/>
              </a:spcBef>
              <a:buNone/>
              <a:defRPr b="1" sz="1200">
                <a:solidFill>
                  <a:srgbClr val="1F3864"/>
                </a:solidFill>
                <a:latin typeface="Lato"/>
                <a:ea typeface="Lato"/>
                <a:cs typeface="Lato"/>
                <a:sym typeface="Lato"/>
              </a:defRPr>
            </a:lvl8pPr>
            <a:lvl9pPr indent="0" lvl="8" marL="0" marR="0" rtl="0" algn="r">
              <a:spcBef>
                <a:spcPts val="0"/>
              </a:spcBef>
              <a:buNone/>
              <a:defRPr b="1" sz="1200">
                <a:solidFill>
                  <a:srgbClr val="1F3864"/>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mparison">
  <p:cSld name="2_Comparison">
    <p:bg>
      <p:bgPr>
        <a:blipFill>
          <a:blip r:embed="rId2">
            <a:alphaModFix/>
          </a:blip>
          <a:stretch>
            <a:fillRect/>
          </a:stretch>
        </a:blipFill>
      </p:bgPr>
    </p:bg>
    <p:spTree>
      <p:nvGrpSpPr>
        <p:cNvPr id="36" name="Shape 36"/>
        <p:cNvGrpSpPr/>
        <p:nvPr/>
      </p:nvGrpSpPr>
      <p:grpSpPr>
        <a:xfrm>
          <a:off x="0" y="0"/>
          <a:ext cx="0" cy="0"/>
          <a:chOff x="0" y="0"/>
          <a:chExt cx="0" cy="0"/>
        </a:xfrm>
      </p:grpSpPr>
      <p:sp>
        <p:nvSpPr>
          <p:cNvPr id="37" name="Google Shape;37;p37"/>
          <p:cNvSpPr txBox="1"/>
          <p:nvPr>
            <p:ph idx="10" type="dt"/>
          </p:nvPr>
        </p:nvSpPr>
        <p:spPr>
          <a:xfrm>
            <a:off x="628650" y="6565257"/>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sz="1200">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8" name="Google Shape;38;p37"/>
          <p:cNvSpPr txBox="1"/>
          <p:nvPr>
            <p:ph idx="11" type="ftr"/>
          </p:nvPr>
        </p:nvSpPr>
        <p:spPr>
          <a:xfrm>
            <a:off x="3028950" y="6565257"/>
            <a:ext cx="30861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sz="1200">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9" name="Google Shape;39;p37"/>
          <p:cNvSpPr txBox="1"/>
          <p:nvPr>
            <p:ph idx="12" type="sldNum"/>
          </p:nvPr>
        </p:nvSpPr>
        <p:spPr>
          <a:xfrm>
            <a:off x="6867383" y="6572126"/>
            <a:ext cx="20574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sz="1200">
                <a:solidFill>
                  <a:srgbClr val="C00000"/>
                </a:solidFill>
                <a:latin typeface="Lato"/>
                <a:ea typeface="Lato"/>
                <a:cs typeface="Lato"/>
                <a:sym typeface="Lato"/>
              </a:defRPr>
            </a:lvl1pPr>
            <a:lvl2pPr indent="0" lvl="1" marL="0" marR="0" rtl="0" algn="r">
              <a:spcBef>
                <a:spcPts val="0"/>
              </a:spcBef>
              <a:buNone/>
              <a:defRPr b="1" sz="1200">
                <a:solidFill>
                  <a:srgbClr val="C00000"/>
                </a:solidFill>
                <a:latin typeface="Lato"/>
                <a:ea typeface="Lato"/>
                <a:cs typeface="Lato"/>
                <a:sym typeface="Lato"/>
              </a:defRPr>
            </a:lvl2pPr>
            <a:lvl3pPr indent="0" lvl="2" marL="0" marR="0" rtl="0" algn="r">
              <a:spcBef>
                <a:spcPts val="0"/>
              </a:spcBef>
              <a:buNone/>
              <a:defRPr b="1" sz="1200">
                <a:solidFill>
                  <a:srgbClr val="C00000"/>
                </a:solidFill>
                <a:latin typeface="Lato"/>
                <a:ea typeface="Lato"/>
                <a:cs typeface="Lato"/>
                <a:sym typeface="Lato"/>
              </a:defRPr>
            </a:lvl3pPr>
            <a:lvl4pPr indent="0" lvl="3" marL="0" marR="0" rtl="0" algn="r">
              <a:spcBef>
                <a:spcPts val="0"/>
              </a:spcBef>
              <a:buNone/>
              <a:defRPr b="1" sz="1200">
                <a:solidFill>
                  <a:srgbClr val="C00000"/>
                </a:solidFill>
                <a:latin typeface="Lato"/>
                <a:ea typeface="Lato"/>
                <a:cs typeface="Lato"/>
                <a:sym typeface="Lato"/>
              </a:defRPr>
            </a:lvl4pPr>
            <a:lvl5pPr indent="0" lvl="4" marL="0" marR="0" rtl="0" algn="r">
              <a:spcBef>
                <a:spcPts val="0"/>
              </a:spcBef>
              <a:buNone/>
              <a:defRPr b="1" sz="1200">
                <a:solidFill>
                  <a:srgbClr val="C00000"/>
                </a:solidFill>
                <a:latin typeface="Lato"/>
                <a:ea typeface="Lato"/>
                <a:cs typeface="Lato"/>
                <a:sym typeface="Lato"/>
              </a:defRPr>
            </a:lvl5pPr>
            <a:lvl6pPr indent="0" lvl="5" marL="0" marR="0" rtl="0" algn="r">
              <a:spcBef>
                <a:spcPts val="0"/>
              </a:spcBef>
              <a:buNone/>
              <a:defRPr b="1" sz="1200">
                <a:solidFill>
                  <a:srgbClr val="C00000"/>
                </a:solidFill>
                <a:latin typeface="Lato"/>
                <a:ea typeface="Lato"/>
                <a:cs typeface="Lato"/>
                <a:sym typeface="Lato"/>
              </a:defRPr>
            </a:lvl6pPr>
            <a:lvl7pPr indent="0" lvl="6" marL="0" marR="0" rtl="0" algn="r">
              <a:spcBef>
                <a:spcPts val="0"/>
              </a:spcBef>
              <a:buNone/>
              <a:defRPr b="1" sz="1200">
                <a:solidFill>
                  <a:srgbClr val="C00000"/>
                </a:solidFill>
                <a:latin typeface="Lato"/>
                <a:ea typeface="Lato"/>
                <a:cs typeface="Lato"/>
                <a:sym typeface="Lato"/>
              </a:defRPr>
            </a:lvl7pPr>
            <a:lvl8pPr indent="0" lvl="7" marL="0" marR="0" rtl="0" algn="r">
              <a:spcBef>
                <a:spcPts val="0"/>
              </a:spcBef>
              <a:buNone/>
              <a:defRPr b="1" sz="1200">
                <a:solidFill>
                  <a:srgbClr val="C00000"/>
                </a:solidFill>
                <a:latin typeface="Lato"/>
                <a:ea typeface="Lato"/>
                <a:cs typeface="Lato"/>
                <a:sym typeface="Lato"/>
              </a:defRPr>
            </a:lvl8pPr>
            <a:lvl9pPr indent="0" lvl="8" marL="0" marR="0" rtl="0" algn="r">
              <a:spcBef>
                <a:spcPts val="0"/>
              </a:spcBef>
              <a:buNone/>
              <a:defRPr b="1" sz="1200">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40" name="Google Shape;40;p37"/>
          <p:cNvSpPr txBox="1"/>
          <p:nvPr>
            <p:ph type="title"/>
          </p:nvPr>
        </p:nvSpPr>
        <p:spPr>
          <a:xfrm>
            <a:off x="235077" y="78613"/>
            <a:ext cx="8673846" cy="451739"/>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1" name="Google Shape;41;p37"/>
          <p:cNvSpPr txBox="1"/>
          <p:nvPr>
            <p:ph idx="1" type="body"/>
          </p:nvPr>
        </p:nvSpPr>
        <p:spPr>
          <a:xfrm>
            <a:off x="234950" y="1227550"/>
            <a:ext cx="8674100" cy="4868449"/>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Blank">
  <p:cSld name="3_Blank">
    <p:bg>
      <p:bgPr>
        <a:blipFill>
          <a:blip r:embed="rId2">
            <a:alphaModFix/>
          </a:blip>
          <a:stretch>
            <a:fillRect/>
          </a:stretch>
        </a:blipFill>
      </p:bgPr>
    </p:bg>
    <p:spTree>
      <p:nvGrpSpPr>
        <p:cNvPr id="42" name="Shape 42"/>
        <p:cNvGrpSpPr/>
        <p:nvPr/>
      </p:nvGrpSpPr>
      <p:grpSpPr>
        <a:xfrm>
          <a:off x="0" y="0"/>
          <a:ext cx="0" cy="0"/>
          <a:chOff x="0" y="0"/>
          <a:chExt cx="0" cy="0"/>
        </a:xfrm>
      </p:grpSpPr>
      <p:sp>
        <p:nvSpPr>
          <p:cNvPr id="43" name="Google Shape;43;p38"/>
          <p:cNvSpPr txBox="1"/>
          <p:nvPr>
            <p:ph type="title"/>
          </p:nvPr>
        </p:nvSpPr>
        <p:spPr>
          <a:xfrm>
            <a:off x="235077" y="78613"/>
            <a:ext cx="8673846" cy="451739"/>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4" name="Google Shape;44;p38"/>
          <p:cNvSpPr txBox="1"/>
          <p:nvPr>
            <p:ph idx="1" type="body"/>
          </p:nvPr>
        </p:nvSpPr>
        <p:spPr>
          <a:xfrm>
            <a:off x="595884" y="1533017"/>
            <a:ext cx="38862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5" name="Google Shape;45;p38"/>
          <p:cNvSpPr txBox="1"/>
          <p:nvPr>
            <p:ph idx="2" type="body"/>
          </p:nvPr>
        </p:nvSpPr>
        <p:spPr>
          <a:xfrm>
            <a:off x="4639056" y="1533017"/>
            <a:ext cx="38862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6" name="Google Shape;46;p38"/>
          <p:cNvSpPr txBox="1"/>
          <p:nvPr>
            <p:ph idx="10" type="dt"/>
          </p:nvPr>
        </p:nvSpPr>
        <p:spPr>
          <a:xfrm>
            <a:off x="628650" y="6565257"/>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sz="1200">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7" name="Google Shape;47;p38"/>
          <p:cNvSpPr txBox="1"/>
          <p:nvPr>
            <p:ph idx="11" type="ftr"/>
          </p:nvPr>
        </p:nvSpPr>
        <p:spPr>
          <a:xfrm>
            <a:off x="3028950" y="6565257"/>
            <a:ext cx="30861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sz="1200">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8" name="Google Shape;48;p38"/>
          <p:cNvSpPr txBox="1"/>
          <p:nvPr>
            <p:ph idx="12" type="sldNum"/>
          </p:nvPr>
        </p:nvSpPr>
        <p:spPr>
          <a:xfrm>
            <a:off x="6867383" y="6572126"/>
            <a:ext cx="20574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sz="1200">
                <a:solidFill>
                  <a:srgbClr val="C00000"/>
                </a:solidFill>
                <a:latin typeface="Lato"/>
                <a:ea typeface="Lato"/>
                <a:cs typeface="Lato"/>
                <a:sym typeface="Lato"/>
              </a:defRPr>
            </a:lvl1pPr>
            <a:lvl2pPr indent="0" lvl="1" marL="0" marR="0" rtl="0" algn="r">
              <a:spcBef>
                <a:spcPts val="0"/>
              </a:spcBef>
              <a:buNone/>
              <a:defRPr b="1" sz="1200">
                <a:solidFill>
                  <a:srgbClr val="C00000"/>
                </a:solidFill>
                <a:latin typeface="Lato"/>
                <a:ea typeface="Lato"/>
                <a:cs typeface="Lato"/>
                <a:sym typeface="Lato"/>
              </a:defRPr>
            </a:lvl2pPr>
            <a:lvl3pPr indent="0" lvl="2" marL="0" marR="0" rtl="0" algn="r">
              <a:spcBef>
                <a:spcPts val="0"/>
              </a:spcBef>
              <a:buNone/>
              <a:defRPr b="1" sz="1200">
                <a:solidFill>
                  <a:srgbClr val="C00000"/>
                </a:solidFill>
                <a:latin typeface="Lato"/>
                <a:ea typeface="Lato"/>
                <a:cs typeface="Lato"/>
                <a:sym typeface="Lato"/>
              </a:defRPr>
            </a:lvl3pPr>
            <a:lvl4pPr indent="0" lvl="3" marL="0" marR="0" rtl="0" algn="r">
              <a:spcBef>
                <a:spcPts val="0"/>
              </a:spcBef>
              <a:buNone/>
              <a:defRPr b="1" sz="1200">
                <a:solidFill>
                  <a:srgbClr val="C00000"/>
                </a:solidFill>
                <a:latin typeface="Lato"/>
                <a:ea typeface="Lato"/>
                <a:cs typeface="Lato"/>
                <a:sym typeface="Lato"/>
              </a:defRPr>
            </a:lvl4pPr>
            <a:lvl5pPr indent="0" lvl="4" marL="0" marR="0" rtl="0" algn="r">
              <a:spcBef>
                <a:spcPts val="0"/>
              </a:spcBef>
              <a:buNone/>
              <a:defRPr b="1" sz="1200">
                <a:solidFill>
                  <a:srgbClr val="C00000"/>
                </a:solidFill>
                <a:latin typeface="Lato"/>
                <a:ea typeface="Lato"/>
                <a:cs typeface="Lato"/>
                <a:sym typeface="Lato"/>
              </a:defRPr>
            </a:lvl5pPr>
            <a:lvl6pPr indent="0" lvl="5" marL="0" marR="0" rtl="0" algn="r">
              <a:spcBef>
                <a:spcPts val="0"/>
              </a:spcBef>
              <a:buNone/>
              <a:defRPr b="1" sz="1200">
                <a:solidFill>
                  <a:srgbClr val="C00000"/>
                </a:solidFill>
                <a:latin typeface="Lato"/>
                <a:ea typeface="Lato"/>
                <a:cs typeface="Lato"/>
                <a:sym typeface="Lato"/>
              </a:defRPr>
            </a:lvl6pPr>
            <a:lvl7pPr indent="0" lvl="6" marL="0" marR="0" rtl="0" algn="r">
              <a:spcBef>
                <a:spcPts val="0"/>
              </a:spcBef>
              <a:buNone/>
              <a:defRPr b="1" sz="1200">
                <a:solidFill>
                  <a:srgbClr val="C00000"/>
                </a:solidFill>
                <a:latin typeface="Lato"/>
                <a:ea typeface="Lato"/>
                <a:cs typeface="Lato"/>
                <a:sym typeface="Lato"/>
              </a:defRPr>
            </a:lvl7pPr>
            <a:lvl8pPr indent="0" lvl="7" marL="0" marR="0" rtl="0" algn="r">
              <a:spcBef>
                <a:spcPts val="0"/>
              </a:spcBef>
              <a:buNone/>
              <a:defRPr b="1" sz="1200">
                <a:solidFill>
                  <a:srgbClr val="C00000"/>
                </a:solidFill>
                <a:latin typeface="Lato"/>
                <a:ea typeface="Lato"/>
                <a:cs typeface="Lato"/>
                <a:sym typeface="Lato"/>
              </a:defRPr>
            </a:lvl8pPr>
            <a:lvl9pPr indent="0" lvl="8" marL="0" marR="0" rtl="0" algn="r">
              <a:spcBef>
                <a:spcPts val="0"/>
              </a:spcBef>
              <a:buNone/>
              <a:defRPr b="1" sz="1200">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omparison">
  <p:cSld name="3_Comparison">
    <p:bg>
      <p:bgPr>
        <a:blipFill>
          <a:blip r:embed="rId2">
            <a:alphaModFix/>
          </a:blip>
          <a:stretch>
            <a:fillRect/>
          </a:stretch>
        </a:blipFill>
      </p:bgPr>
    </p:bg>
    <p:spTree>
      <p:nvGrpSpPr>
        <p:cNvPr id="49" name="Shape 49"/>
        <p:cNvGrpSpPr/>
        <p:nvPr/>
      </p:nvGrpSpPr>
      <p:grpSpPr>
        <a:xfrm>
          <a:off x="0" y="0"/>
          <a:ext cx="0" cy="0"/>
          <a:chOff x="0" y="0"/>
          <a:chExt cx="0" cy="0"/>
        </a:xfrm>
      </p:grpSpPr>
      <p:sp>
        <p:nvSpPr>
          <p:cNvPr id="50" name="Google Shape;50;p39"/>
          <p:cNvSpPr txBox="1"/>
          <p:nvPr>
            <p:ph idx="10" type="dt"/>
          </p:nvPr>
        </p:nvSpPr>
        <p:spPr>
          <a:xfrm>
            <a:off x="628650" y="6565257"/>
            <a:ext cx="20574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sz="1200">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1" name="Google Shape;51;p39"/>
          <p:cNvSpPr txBox="1"/>
          <p:nvPr>
            <p:ph idx="11" type="ftr"/>
          </p:nvPr>
        </p:nvSpPr>
        <p:spPr>
          <a:xfrm>
            <a:off x="3028950" y="6565257"/>
            <a:ext cx="30861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sz="1200">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2" name="Google Shape;52;p39"/>
          <p:cNvSpPr txBox="1"/>
          <p:nvPr>
            <p:ph idx="12" type="sldNum"/>
          </p:nvPr>
        </p:nvSpPr>
        <p:spPr>
          <a:xfrm>
            <a:off x="6867383" y="6572126"/>
            <a:ext cx="20574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sz="1200">
                <a:solidFill>
                  <a:srgbClr val="C00000"/>
                </a:solidFill>
                <a:latin typeface="Lato"/>
                <a:ea typeface="Lato"/>
                <a:cs typeface="Lato"/>
                <a:sym typeface="Lato"/>
              </a:defRPr>
            </a:lvl1pPr>
            <a:lvl2pPr indent="0" lvl="1" marL="0" marR="0" rtl="0" algn="r">
              <a:spcBef>
                <a:spcPts val="0"/>
              </a:spcBef>
              <a:buNone/>
              <a:defRPr b="1" sz="1200">
                <a:solidFill>
                  <a:srgbClr val="C00000"/>
                </a:solidFill>
                <a:latin typeface="Lato"/>
                <a:ea typeface="Lato"/>
                <a:cs typeface="Lato"/>
                <a:sym typeface="Lato"/>
              </a:defRPr>
            </a:lvl2pPr>
            <a:lvl3pPr indent="0" lvl="2" marL="0" marR="0" rtl="0" algn="r">
              <a:spcBef>
                <a:spcPts val="0"/>
              </a:spcBef>
              <a:buNone/>
              <a:defRPr b="1" sz="1200">
                <a:solidFill>
                  <a:srgbClr val="C00000"/>
                </a:solidFill>
                <a:latin typeface="Lato"/>
                <a:ea typeface="Lato"/>
                <a:cs typeface="Lato"/>
                <a:sym typeface="Lato"/>
              </a:defRPr>
            </a:lvl3pPr>
            <a:lvl4pPr indent="0" lvl="3" marL="0" marR="0" rtl="0" algn="r">
              <a:spcBef>
                <a:spcPts val="0"/>
              </a:spcBef>
              <a:buNone/>
              <a:defRPr b="1" sz="1200">
                <a:solidFill>
                  <a:srgbClr val="C00000"/>
                </a:solidFill>
                <a:latin typeface="Lato"/>
                <a:ea typeface="Lato"/>
                <a:cs typeface="Lato"/>
                <a:sym typeface="Lato"/>
              </a:defRPr>
            </a:lvl4pPr>
            <a:lvl5pPr indent="0" lvl="4" marL="0" marR="0" rtl="0" algn="r">
              <a:spcBef>
                <a:spcPts val="0"/>
              </a:spcBef>
              <a:buNone/>
              <a:defRPr b="1" sz="1200">
                <a:solidFill>
                  <a:srgbClr val="C00000"/>
                </a:solidFill>
                <a:latin typeface="Lato"/>
                <a:ea typeface="Lato"/>
                <a:cs typeface="Lato"/>
                <a:sym typeface="Lato"/>
              </a:defRPr>
            </a:lvl5pPr>
            <a:lvl6pPr indent="0" lvl="5" marL="0" marR="0" rtl="0" algn="r">
              <a:spcBef>
                <a:spcPts val="0"/>
              </a:spcBef>
              <a:buNone/>
              <a:defRPr b="1" sz="1200">
                <a:solidFill>
                  <a:srgbClr val="C00000"/>
                </a:solidFill>
                <a:latin typeface="Lato"/>
                <a:ea typeface="Lato"/>
                <a:cs typeface="Lato"/>
                <a:sym typeface="Lato"/>
              </a:defRPr>
            </a:lvl6pPr>
            <a:lvl7pPr indent="0" lvl="6" marL="0" marR="0" rtl="0" algn="r">
              <a:spcBef>
                <a:spcPts val="0"/>
              </a:spcBef>
              <a:buNone/>
              <a:defRPr b="1" sz="1200">
                <a:solidFill>
                  <a:srgbClr val="C00000"/>
                </a:solidFill>
                <a:latin typeface="Lato"/>
                <a:ea typeface="Lato"/>
                <a:cs typeface="Lato"/>
                <a:sym typeface="Lato"/>
              </a:defRPr>
            </a:lvl7pPr>
            <a:lvl8pPr indent="0" lvl="7" marL="0" marR="0" rtl="0" algn="r">
              <a:spcBef>
                <a:spcPts val="0"/>
              </a:spcBef>
              <a:buNone/>
              <a:defRPr b="1" sz="1200">
                <a:solidFill>
                  <a:srgbClr val="C00000"/>
                </a:solidFill>
                <a:latin typeface="Lato"/>
                <a:ea typeface="Lato"/>
                <a:cs typeface="Lato"/>
                <a:sym typeface="Lato"/>
              </a:defRPr>
            </a:lvl8pPr>
            <a:lvl9pPr indent="0" lvl="8" marL="0" marR="0" rtl="0" algn="r">
              <a:spcBef>
                <a:spcPts val="0"/>
              </a:spcBef>
              <a:buNone/>
              <a:defRPr b="1" sz="1200">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53" name="Google Shape;53;p39"/>
          <p:cNvSpPr txBox="1"/>
          <p:nvPr>
            <p:ph type="title"/>
          </p:nvPr>
        </p:nvSpPr>
        <p:spPr>
          <a:xfrm>
            <a:off x="235077" y="78613"/>
            <a:ext cx="8673846" cy="451739"/>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4" name="Google Shape;54;p39"/>
          <p:cNvSpPr txBox="1"/>
          <p:nvPr>
            <p:ph idx="1" type="body"/>
          </p:nvPr>
        </p:nvSpPr>
        <p:spPr>
          <a:xfrm>
            <a:off x="234950" y="1164920"/>
            <a:ext cx="8674100" cy="4931079"/>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2.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jpg"/><Relationship Id="rId4" Type="http://schemas.openxmlformats.org/officeDocument/2006/relationships/image" Target="../media/image4.jpg"/><Relationship Id="rId5"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pic>
        <p:nvPicPr>
          <p:cNvPr id="63" name="Google Shape;63;p2"/>
          <p:cNvPicPr preferRelativeResize="0"/>
          <p:nvPr/>
        </p:nvPicPr>
        <p:blipFill rotWithShape="1">
          <a:blip r:embed="rId3">
            <a:alphaModFix/>
          </a:blip>
          <a:srcRect b="0" l="0" r="0" t="0"/>
          <a:stretch/>
        </p:blipFill>
        <p:spPr>
          <a:xfrm>
            <a:off x="413012" y="398419"/>
            <a:ext cx="2037225" cy="611594"/>
          </a:xfrm>
          <a:prstGeom prst="rect">
            <a:avLst/>
          </a:prstGeom>
          <a:noFill/>
          <a:ln>
            <a:noFill/>
          </a:ln>
        </p:spPr>
      </p:pic>
      <p:sp>
        <p:nvSpPr>
          <p:cNvPr id="64" name="Google Shape;64;p2"/>
          <p:cNvSpPr txBox="1"/>
          <p:nvPr/>
        </p:nvSpPr>
        <p:spPr>
          <a:xfrm>
            <a:off x="401834" y="2071413"/>
            <a:ext cx="8628351" cy="84879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C00000"/>
              </a:buClr>
              <a:buSzPts val="3600"/>
              <a:buFont typeface="Lato"/>
              <a:buNone/>
            </a:pPr>
            <a:r>
              <a:rPr b="1" i="0" lang="en-US" sz="3600" u="none" cap="none" strike="noStrike">
                <a:solidFill>
                  <a:srgbClr val="C00000"/>
                </a:solidFill>
                <a:latin typeface="Lato"/>
                <a:ea typeface="Lato"/>
                <a:cs typeface="Lato"/>
                <a:sym typeface="Lato"/>
              </a:rPr>
              <a:t>DỰ BÁO MÔI TRƯỜNG </a:t>
            </a:r>
            <a:endParaRPr b="1" i="0" sz="5400" u="none" cap="none" strike="noStrike">
              <a:solidFill>
                <a:srgbClr val="C00000"/>
              </a:solidFill>
              <a:latin typeface="Lato"/>
              <a:ea typeface="Lato"/>
              <a:cs typeface="Lato"/>
              <a:sym typeface="Lato"/>
            </a:endParaRPr>
          </a:p>
          <a:p>
            <a:pPr indent="0" lvl="0" marL="0" marR="0" rtl="0" algn="l">
              <a:lnSpc>
                <a:spcPct val="90000"/>
              </a:lnSpc>
              <a:spcBef>
                <a:spcPts val="0"/>
              </a:spcBef>
              <a:spcAft>
                <a:spcPts val="0"/>
              </a:spcAft>
              <a:buClr>
                <a:srgbClr val="C00000"/>
              </a:buClr>
              <a:buSzPts val="3600"/>
              <a:buFont typeface="Lato"/>
              <a:buNone/>
            </a:pPr>
            <a:r>
              <a:rPr b="1" i="0" lang="en-US" sz="3600" u="none" cap="none" strike="noStrike">
                <a:solidFill>
                  <a:srgbClr val="C00000"/>
                </a:solidFill>
                <a:latin typeface="Lato"/>
                <a:ea typeface="Lato"/>
                <a:cs typeface="Lato"/>
                <a:sym typeface="Lato"/>
              </a:rPr>
              <a:t>NUÔI TRỒNG CHO CÁ GIÒ VÀ HÀU</a:t>
            </a:r>
            <a:endParaRPr b="1" i="0" sz="5400" u="none" cap="none" strike="noStrike">
              <a:solidFill>
                <a:srgbClr val="C00000"/>
              </a:solidFill>
              <a:latin typeface="Lato"/>
              <a:ea typeface="Lato"/>
              <a:cs typeface="Lato"/>
              <a:sym typeface="Lato"/>
            </a:endParaRPr>
          </a:p>
        </p:txBody>
      </p:sp>
      <p:sp>
        <p:nvSpPr>
          <p:cNvPr id="65" name="Google Shape;65;p2"/>
          <p:cNvSpPr txBox="1"/>
          <p:nvPr/>
        </p:nvSpPr>
        <p:spPr>
          <a:xfrm>
            <a:off x="401834" y="3274606"/>
            <a:ext cx="7342500" cy="8487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C00000"/>
              </a:buClr>
              <a:buSzPts val="2400"/>
              <a:buFont typeface="Lato"/>
              <a:buNone/>
            </a:pPr>
            <a:r>
              <a:rPr b="1" i="0" lang="en-US" sz="2400" u="none" cap="none" strike="noStrike">
                <a:solidFill>
                  <a:srgbClr val="C00000"/>
                </a:solidFill>
                <a:latin typeface="Lato"/>
                <a:ea typeface="Lato"/>
                <a:cs typeface="Lato"/>
                <a:sym typeface="Lato"/>
              </a:rPr>
              <a:t>Nhóm sinh viên thực hiện:</a:t>
            </a:r>
            <a:endParaRPr/>
          </a:p>
          <a:p>
            <a:pPr indent="0" lvl="0" marL="0" marR="0" rtl="0" algn="l">
              <a:lnSpc>
                <a:spcPct val="90000"/>
              </a:lnSpc>
              <a:spcBef>
                <a:spcPts val="0"/>
              </a:spcBef>
              <a:spcAft>
                <a:spcPts val="0"/>
              </a:spcAft>
              <a:buClr>
                <a:srgbClr val="C00000"/>
              </a:buClr>
              <a:buSzPts val="5400"/>
              <a:buFont typeface="Lato"/>
              <a:buNone/>
            </a:pPr>
            <a:r>
              <a:t/>
            </a:r>
            <a:endParaRPr b="1" i="0" sz="5400" u="none" cap="none" strike="noStrike">
              <a:solidFill>
                <a:srgbClr val="C00000"/>
              </a:solidFill>
              <a:latin typeface="Lato"/>
              <a:ea typeface="Lato"/>
              <a:cs typeface="Lato"/>
              <a:sym typeface="Lato"/>
            </a:endParaRPr>
          </a:p>
          <a:p>
            <a:pPr indent="0" lvl="0" marL="0" marR="0" rtl="0" algn="l">
              <a:lnSpc>
                <a:spcPct val="90000"/>
              </a:lnSpc>
              <a:spcBef>
                <a:spcPts val="0"/>
              </a:spcBef>
              <a:spcAft>
                <a:spcPts val="0"/>
              </a:spcAft>
              <a:buClr>
                <a:srgbClr val="C00000"/>
              </a:buClr>
              <a:buSzPts val="5400"/>
              <a:buFont typeface="Lato"/>
              <a:buNone/>
            </a:pPr>
            <a:r>
              <a:t/>
            </a:r>
            <a:endParaRPr b="1" i="0" sz="5400" u="none" cap="none" strike="noStrike">
              <a:solidFill>
                <a:srgbClr val="C00000"/>
              </a:solidFill>
              <a:latin typeface="Lato"/>
              <a:ea typeface="Lato"/>
              <a:cs typeface="Lato"/>
              <a:sym typeface="Lato"/>
            </a:endParaRPr>
          </a:p>
        </p:txBody>
      </p:sp>
      <p:sp>
        <p:nvSpPr>
          <p:cNvPr id="66" name="Google Shape;66;p2"/>
          <p:cNvSpPr txBox="1"/>
          <p:nvPr/>
        </p:nvSpPr>
        <p:spPr>
          <a:xfrm>
            <a:off x="401825" y="3746271"/>
            <a:ext cx="4155300" cy="2247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C00000"/>
                </a:solidFill>
                <a:latin typeface="Lato"/>
                <a:ea typeface="Lato"/>
                <a:cs typeface="Lato"/>
                <a:sym typeface="Lato"/>
              </a:rPr>
              <a:t>Hồ Lương An</a:t>
            </a:r>
            <a:r>
              <a:rPr b="0" i="0" lang="en-US" sz="2000">
                <a:solidFill>
                  <a:srgbClr val="C00000"/>
                </a:solidFill>
                <a:latin typeface="Lato"/>
                <a:ea typeface="Lato"/>
                <a:cs typeface="Lato"/>
                <a:sym typeface="Lato"/>
              </a:rPr>
              <a:t> – 20224</a:t>
            </a:r>
            <a:r>
              <a:rPr lang="en-US" sz="2000">
                <a:solidFill>
                  <a:srgbClr val="C00000"/>
                </a:solidFill>
                <a:latin typeface="Lato"/>
                <a:ea typeface="Lato"/>
                <a:cs typeface="Lato"/>
                <a:sym typeface="Lato"/>
              </a:rPr>
              <a:t>821</a:t>
            </a:r>
            <a:r>
              <a:rPr b="0" i="0" lang="en-US" sz="2000">
                <a:solidFill>
                  <a:srgbClr val="C00000"/>
                </a:solidFill>
                <a:latin typeface="Lato"/>
                <a:ea typeface="Lato"/>
                <a:cs typeface="Lato"/>
                <a:sym typeface="Lato"/>
              </a:rPr>
              <a:t>                 </a:t>
            </a:r>
            <a:endParaRPr sz="2000">
              <a:solidFill>
                <a:srgbClr val="C00000"/>
              </a:solidFill>
              <a:latin typeface="Lato"/>
              <a:ea typeface="Lato"/>
              <a:cs typeface="Lato"/>
              <a:sym typeface="Lato"/>
            </a:endParaRPr>
          </a:p>
          <a:p>
            <a:pPr indent="0" lvl="0" marL="0" marR="0" rtl="0" algn="l">
              <a:spcBef>
                <a:spcPts val="0"/>
              </a:spcBef>
              <a:spcAft>
                <a:spcPts val="0"/>
              </a:spcAft>
              <a:buNone/>
            </a:pPr>
            <a:r>
              <a:rPr lang="en-US" sz="2000">
                <a:solidFill>
                  <a:srgbClr val="C00000"/>
                </a:solidFill>
                <a:latin typeface="Lato"/>
                <a:ea typeface="Lato"/>
                <a:cs typeface="Lato"/>
                <a:sym typeface="Lato"/>
              </a:rPr>
              <a:t>Phạm Quang Khánh</a:t>
            </a:r>
            <a:r>
              <a:rPr b="0" i="0" lang="en-US" sz="2000">
                <a:solidFill>
                  <a:srgbClr val="C00000"/>
                </a:solidFill>
                <a:latin typeface="Lato"/>
                <a:ea typeface="Lato"/>
                <a:cs typeface="Lato"/>
                <a:sym typeface="Lato"/>
              </a:rPr>
              <a:t> </a:t>
            </a:r>
            <a:r>
              <a:rPr lang="en-US" sz="2000">
                <a:solidFill>
                  <a:srgbClr val="C00000"/>
                </a:solidFill>
                <a:latin typeface="Lato"/>
                <a:ea typeface="Lato"/>
                <a:cs typeface="Lato"/>
                <a:sym typeface="Lato"/>
              </a:rPr>
              <a:t>– </a:t>
            </a:r>
            <a:r>
              <a:rPr b="0" i="0" lang="en-US" sz="2000">
                <a:solidFill>
                  <a:srgbClr val="C00000"/>
                </a:solidFill>
                <a:latin typeface="Lato"/>
                <a:ea typeface="Lato"/>
                <a:cs typeface="Lato"/>
                <a:sym typeface="Lato"/>
              </a:rPr>
              <a:t>2022</a:t>
            </a:r>
            <a:r>
              <a:rPr lang="en-US" sz="2000">
                <a:solidFill>
                  <a:srgbClr val="C00000"/>
                </a:solidFill>
                <a:latin typeface="Lato"/>
                <a:ea typeface="Lato"/>
                <a:cs typeface="Lato"/>
                <a:sym typeface="Lato"/>
              </a:rPr>
              <a:t>4867</a:t>
            </a:r>
            <a:endParaRPr sz="2000">
              <a:solidFill>
                <a:srgbClr val="C00000"/>
              </a:solidFill>
              <a:latin typeface="Lato"/>
              <a:ea typeface="Lato"/>
              <a:cs typeface="Lato"/>
              <a:sym typeface="Lato"/>
            </a:endParaRPr>
          </a:p>
          <a:p>
            <a:pPr indent="0" lvl="0" marL="0" marR="0" rtl="0" algn="l">
              <a:spcBef>
                <a:spcPts val="0"/>
              </a:spcBef>
              <a:spcAft>
                <a:spcPts val="0"/>
              </a:spcAft>
              <a:buNone/>
            </a:pPr>
            <a:r>
              <a:rPr lang="en-US" sz="2000">
                <a:solidFill>
                  <a:srgbClr val="C00000"/>
                </a:solidFill>
                <a:latin typeface="Lato"/>
                <a:ea typeface="Lato"/>
                <a:cs typeface="Lato"/>
                <a:sym typeface="Lato"/>
              </a:rPr>
              <a:t>Đinh Văn Thượng</a:t>
            </a:r>
            <a:r>
              <a:rPr lang="en-US" sz="2000">
                <a:solidFill>
                  <a:srgbClr val="C00000"/>
                </a:solidFill>
                <a:latin typeface="Lato"/>
                <a:ea typeface="Lato"/>
                <a:cs typeface="Lato"/>
                <a:sym typeface="Lato"/>
              </a:rPr>
              <a:t> - 20225</a:t>
            </a:r>
            <a:r>
              <a:rPr lang="en-US" sz="2000">
                <a:solidFill>
                  <a:srgbClr val="C00000"/>
                </a:solidFill>
                <a:latin typeface="Lato"/>
                <a:ea typeface="Lato"/>
                <a:cs typeface="Lato"/>
                <a:sym typeface="Lato"/>
              </a:rPr>
              <a:t>098</a:t>
            </a:r>
            <a:endParaRPr sz="2000">
              <a:solidFill>
                <a:srgbClr val="C00000"/>
              </a:solidFill>
              <a:latin typeface="Lato"/>
              <a:ea typeface="Lato"/>
              <a:cs typeface="Lato"/>
              <a:sym typeface="Lato"/>
            </a:endParaRPr>
          </a:p>
          <a:p>
            <a:pPr indent="0" lvl="0" marL="0" marR="0" rtl="0" algn="l">
              <a:spcBef>
                <a:spcPts val="0"/>
              </a:spcBef>
              <a:spcAft>
                <a:spcPts val="0"/>
              </a:spcAft>
              <a:buNone/>
            </a:pPr>
            <a:r>
              <a:rPr lang="en-US" sz="2000">
                <a:solidFill>
                  <a:srgbClr val="C00000"/>
                </a:solidFill>
                <a:latin typeface="Lato"/>
                <a:ea typeface="Lato"/>
                <a:cs typeface="Lato"/>
                <a:sym typeface="Lato"/>
              </a:rPr>
              <a:t>Nguyễn Phương Linh - 20224871</a:t>
            </a:r>
            <a:endParaRPr sz="2000">
              <a:solidFill>
                <a:srgbClr val="C00000"/>
              </a:solidFill>
              <a:latin typeface="Lato"/>
              <a:ea typeface="Lato"/>
              <a:cs typeface="Lato"/>
              <a:sym typeface="Lato"/>
            </a:endParaRPr>
          </a:p>
          <a:p>
            <a:pPr indent="0" lvl="0" marL="0" marR="0" rtl="0" algn="l">
              <a:spcBef>
                <a:spcPts val="0"/>
              </a:spcBef>
              <a:spcAft>
                <a:spcPts val="0"/>
              </a:spcAft>
              <a:buNone/>
            </a:pPr>
            <a:r>
              <a:rPr lang="en-US" sz="2000">
                <a:solidFill>
                  <a:srgbClr val="C00000"/>
                </a:solidFill>
                <a:latin typeface="Lato"/>
                <a:ea typeface="Lato"/>
                <a:cs typeface="Lato"/>
                <a:sym typeface="Lato"/>
              </a:rPr>
              <a:t>Chu Phúc Anh - 20224822</a:t>
            </a:r>
            <a:endParaRPr sz="2000">
              <a:solidFill>
                <a:srgbClr val="C00000"/>
              </a:solidFill>
              <a:latin typeface="Lato"/>
              <a:ea typeface="Lato"/>
              <a:cs typeface="Lato"/>
              <a:sym typeface="Lato"/>
            </a:endParaRPr>
          </a:p>
          <a:p>
            <a:pPr indent="0" lvl="0" marL="0" marR="0" rtl="0" algn="l">
              <a:spcBef>
                <a:spcPts val="0"/>
              </a:spcBef>
              <a:spcAft>
                <a:spcPts val="0"/>
              </a:spcAft>
              <a:buNone/>
            </a:pPr>
            <a:r>
              <a:rPr lang="en-US" sz="2000">
                <a:solidFill>
                  <a:srgbClr val="C00000"/>
                </a:solidFill>
                <a:latin typeface="Lato"/>
                <a:ea typeface="Lato"/>
                <a:cs typeface="Lato"/>
                <a:sym typeface="Lato"/>
              </a:rPr>
              <a:t>Vũ Phương Ly - 20225039</a:t>
            </a:r>
            <a:endParaRPr sz="2000">
              <a:solidFill>
                <a:srgbClr val="C00000"/>
              </a:solidFill>
              <a:latin typeface="Lato"/>
              <a:ea typeface="Lato"/>
              <a:cs typeface="Lato"/>
              <a:sym typeface="Lato"/>
            </a:endParaRPr>
          </a:p>
          <a:p>
            <a:pPr indent="0" lvl="0" marL="0" marR="0" rtl="0" algn="l">
              <a:spcBef>
                <a:spcPts val="0"/>
              </a:spcBef>
              <a:spcAft>
                <a:spcPts val="0"/>
              </a:spcAft>
              <a:buNone/>
            </a:pPr>
            <a:r>
              <a:t/>
            </a:r>
            <a:endParaRPr sz="2000">
              <a:solidFill>
                <a:schemeClr val="dk1"/>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4"/>
          <p:cNvSpPr txBox="1"/>
          <p:nvPr>
            <p:ph idx="12" type="sldNum"/>
          </p:nvPr>
        </p:nvSpPr>
        <p:spPr>
          <a:xfrm>
            <a:off x="6867383" y="6572126"/>
            <a:ext cx="20574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73" name="Google Shape;73;p4"/>
          <p:cNvSpPr txBox="1"/>
          <p:nvPr>
            <p:ph type="title"/>
          </p:nvPr>
        </p:nvSpPr>
        <p:spPr>
          <a:xfrm>
            <a:off x="235077" y="78613"/>
            <a:ext cx="8673846" cy="45173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en-US">
                <a:solidFill>
                  <a:srgbClr val="FFFFFF"/>
                </a:solidFill>
                <a:latin typeface="Lato"/>
                <a:ea typeface="Lato"/>
                <a:cs typeface="Lato"/>
                <a:sym typeface="Lato"/>
              </a:rPr>
              <a:t>Giới thiệu đề tài</a:t>
            </a:r>
            <a:endParaRPr>
              <a:solidFill>
                <a:srgbClr val="FFFFFF"/>
              </a:solidFill>
              <a:latin typeface="Lato"/>
              <a:ea typeface="Lato"/>
              <a:cs typeface="Lato"/>
              <a:sym typeface="Lato"/>
            </a:endParaRPr>
          </a:p>
          <a:p>
            <a:pPr indent="0" lvl="0" marL="0" rtl="0" algn="l">
              <a:lnSpc>
                <a:spcPct val="90000"/>
              </a:lnSpc>
              <a:spcBef>
                <a:spcPts val="0"/>
              </a:spcBef>
              <a:spcAft>
                <a:spcPts val="0"/>
              </a:spcAft>
              <a:buClr>
                <a:schemeClr val="lt1"/>
              </a:buClr>
              <a:buSzPts val="2800"/>
              <a:buFont typeface="Lato"/>
              <a:buNone/>
            </a:pPr>
            <a:r>
              <a:t/>
            </a:r>
            <a:endParaRPr>
              <a:latin typeface="Lato"/>
              <a:ea typeface="Lato"/>
              <a:cs typeface="Lato"/>
              <a:sym typeface="Lato"/>
            </a:endParaRPr>
          </a:p>
        </p:txBody>
      </p:sp>
      <p:sp>
        <p:nvSpPr>
          <p:cNvPr id="74" name="Google Shape;74;p4"/>
          <p:cNvSpPr txBox="1"/>
          <p:nvPr/>
        </p:nvSpPr>
        <p:spPr>
          <a:xfrm>
            <a:off x="683110" y="6964864"/>
            <a:ext cx="8544910"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Mục tiêu:</a:t>
            </a:r>
            <a:r>
              <a:rPr lang="en-US" sz="1800">
                <a:solidFill>
                  <a:schemeClr val="dk1"/>
                </a:solidFill>
                <a:latin typeface="Calibri"/>
                <a:ea typeface="Calibri"/>
                <a:cs typeface="Calibri"/>
                <a:sym typeface="Calibri"/>
              </a:rPr>
              <a:t> Môi trường biển ven bờ Việt Nam đóng vai trò quan trọng trong nuôi trồng cá giò và hàu, nhưng chịu ảnh hưởng lớn từ các yếu tố như pH, độ mặn, DO, NH₃, H₂S và biến đổi khí hậu. Sự biến động khó lường của các yếu tố này gây rủi ro cho sức khỏe và năng suất nuôi trồng. Đề tài hướng đến ứng dụng học máy để phân tích dữ liệu quan trắc, dự báo sớm rủi ro môi trường và xác định vùng nuôi tối ưu, góp phần hỗ trợ quản lý bền vững và ra quyết định kịp thời.</a:t>
            </a:r>
            <a:endParaRPr sz="1800">
              <a:solidFill>
                <a:schemeClr val="dk1"/>
              </a:solidFill>
              <a:latin typeface="Calibri"/>
              <a:ea typeface="Calibri"/>
              <a:cs typeface="Calibri"/>
              <a:sym typeface="Calibri"/>
            </a:endParaRPr>
          </a:p>
        </p:txBody>
      </p:sp>
      <p:pic>
        <p:nvPicPr>
          <p:cNvPr descr="A map of the vietnam&#10;&#10;Description automatically generated" id="75" name="Google Shape;75;p4"/>
          <p:cNvPicPr preferRelativeResize="0"/>
          <p:nvPr/>
        </p:nvPicPr>
        <p:blipFill rotWithShape="1">
          <a:blip r:embed="rId3">
            <a:alphaModFix/>
          </a:blip>
          <a:srcRect b="0" l="0" r="0" t="0"/>
          <a:stretch/>
        </p:blipFill>
        <p:spPr>
          <a:xfrm>
            <a:off x="850468" y="1228778"/>
            <a:ext cx="3035731" cy="4295560"/>
          </a:xfrm>
          <a:prstGeom prst="rect">
            <a:avLst/>
          </a:prstGeom>
          <a:noFill/>
          <a:ln>
            <a:noFill/>
          </a:ln>
        </p:spPr>
      </p:pic>
      <p:pic>
        <p:nvPicPr>
          <p:cNvPr descr="Fish in a pool of water&#10;&#10;Description automatically generated" id="76" name="Google Shape;76;p4"/>
          <p:cNvPicPr preferRelativeResize="0"/>
          <p:nvPr/>
        </p:nvPicPr>
        <p:blipFill rotWithShape="1">
          <a:blip r:embed="rId4">
            <a:alphaModFix/>
          </a:blip>
          <a:srcRect b="0" l="0" r="0" t="10822"/>
          <a:stretch/>
        </p:blipFill>
        <p:spPr>
          <a:xfrm>
            <a:off x="5127173" y="1196465"/>
            <a:ext cx="3035731" cy="2030400"/>
          </a:xfrm>
          <a:prstGeom prst="rect">
            <a:avLst/>
          </a:prstGeom>
          <a:noFill/>
          <a:ln>
            <a:noFill/>
          </a:ln>
        </p:spPr>
      </p:pic>
      <p:pic>
        <p:nvPicPr>
          <p:cNvPr descr="A group of people on a raft with fish in it&#10;&#10;Description automatically generated" id="77" name="Google Shape;77;p4"/>
          <p:cNvPicPr preferRelativeResize="0"/>
          <p:nvPr/>
        </p:nvPicPr>
        <p:blipFill rotWithShape="1">
          <a:blip r:embed="rId5">
            <a:alphaModFix/>
          </a:blip>
          <a:srcRect b="0" l="8930" r="2539" t="15584"/>
          <a:stretch/>
        </p:blipFill>
        <p:spPr>
          <a:xfrm>
            <a:off x="5127173" y="3493012"/>
            <a:ext cx="3035731" cy="2031326"/>
          </a:xfrm>
          <a:prstGeom prst="rect">
            <a:avLst/>
          </a:prstGeom>
          <a:noFill/>
          <a:ln>
            <a:noFill/>
          </a:ln>
        </p:spPr>
      </p:pic>
      <p:sp>
        <p:nvSpPr>
          <p:cNvPr id="78" name="Google Shape;78;p4"/>
          <p:cNvSpPr txBox="1"/>
          <p:nvPr/>
        </p:nvSpPr>
        <p:spPr>
          <a:xfrm>
            <a:off x="1020848" y="5629222"/>
            <a:ext cx="2694969"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400">
                <a:solidFill>
                  <a:schemeClr val="dk1"/>
                </a:solidFill>
                <a:latin typeface="Lato"/>
                <a:ea typeface="Lato"/>
                <a:cs typeface="Lato"/>
                <a:sym typeface="Lato"/>
              </a:rPr>
              <a:t>Bản đồ biển Việt Nam</a:t>
            </a:r>
            <a:endParaRPr/>
          </a:p>
          <a:p>
            <a:pPr indent="0" lvl="0" marL="0" marR="0" rtl="0" algn="ctr">
              <a:spcBef>
                <a:spcPts val="0"/>
              </a:spcBef>
              <a:spcAft>
                <a:spcPts val="0"/>
              </a:spcAft>
              <a:buNone/>
            </a:pPr>
            <a:r>
              <a:rPr i="1" lang="en-US" sz="1400">
                <a:solidFill>
                  <a:schemeClr val="dk1"/>
                </a:solidFill>
                <a:latin typeface="Lato"/>
                <a:ea typeface="Lato"/>
                <a:cs typeface="Lato"/>
                <a:sym typeface="Lato"/>
              </a:rPr>
              <a:t>(Nguồn: bandothegioikholon.com)</a:t>
            </a:r>
            <a:endParaRPr i="1" sz="1400">
              <a:solidFill>
                <a:schemeClr val="dk1"/>
              </a:solidFill>
              <a:latin typeface="Lato"/>
              <a:ea typeface="Lato"/>
              <a:cs typeface="Lato"/>
              <a:sym typeface="Lato"/>
            </a:endParaRPr>
          </a:p>
        </p:txBody>
      </p:sp>
      <p:sp>
        <p:nvSpPr>
          <p:cNvPr id="79" name="Google Shape;79;p4"/>
          <p:cNvSpPr txBox="1"/>
          <p:nvPr/>
        </p:nvSpPr>
        <p:spPr>
          <a:xfrm>
            <a:off x="5197366" y="5623742"/>
            <a:ext cx="2895344"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400">
                <a:solidFill>
                  <a:schemeClr val="dk1"/>
                </a:solidFill>
                <a:latin typeface="Lato"/>
                <a:ea typeface="Lato"/>
                <a:cs typeface="Lato"/>
                <a:sym typeface="Lato"/>
              </a:rPr>
              <a:t>Nuôi trồng cá giò và hàu ở Việt Nam</a:t>
            </a:r>
            <a:endParaRPr i="1" sz="1400">
              <a:solidFill>
                <a:schemeClr val="dk1"/>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5"/>
          <p:cNvSpPr txBox="1"/>
          <p:nvPr>
            <p:ph idx="12" type="sldNum"/>
          </p:nvPr>
        </p:nvSpPr>
        <p:spPr>
          <a:xfrm>
            <a:off x="6867383" y="6572126"/>
            <a:ext cx="20574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6" name="Google Shape;86;p5"/>
          <p:cNvSpPr txBox="1"/>
          <p:nvPr>
            <p:ph type="title"/>
          </p:nvPr>
        </p:nvSpPr>
        <p:spPr>
          <a:xfrm>
            <a:off x="235077" y="78613"/>
            <a:ext cx="8673846" cy="45173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en-US">
                <a:solidFill>
                  <a:srgbClr val="FFFFFF"/>
                </a:solidFill>
                <a:latin typeface="Lato"/>
                <a:ea typeface="Lato"/>
                <a:cs typeface="Lato"/>
                <a:sym typeface="Lato"/>
              </a:rPr>
              <a:t>Giới thiệu đề tài</a:t>
            </a:r>
            <a:endParaRPr>
              <a:solidFill>
                <a:srgbClr val="FFFFFF"/>
              </a:solidFill>
              <a:latin typeface="Lato"/>
              <a:ea typeface="Lato"/>
              <a:cs typeface="Lato"/>
              <a:sym typeface="Lato"/>
            </a:endParaRPr>
          </a:p>
          <a:p>
            <a:pPr indent="0" lvl="0" marL="0" rtl="0" algn="l">
              <a:lnSpc>
                <a:spcPct val="90000"/>
              </a:lnSpc>
              <a:spcBef>
                <a:spcPts val="0"/>
              </a:spcBef>
              <a:spcAft>
                <a:spcPts val="0"/>
              </a:spcAft>
              <a:buClr>
                <a:schemeClr val="lt1"/>
              </a:buClr>
              <a:buSzPts val="2800"/>
              <a:buFont typeface="Lato"/>
              <a:buNone/>
            </a:pPr>
            <a:r>
              <a:t/>
            </a:r>
            <a:endParaRPr>
              <a:latin typeface="Lato"/>
              <a:ea typeface="Lato"/>
              <a:cs typeface="Lato"/>
              <a:sym typeface="Lato"/>
            </a:endParaRPr>
          </a:p>
        </p:txBody>
      </p:sp>
      <p:sp>
        <p:nvSpPr>
          <p:cNvPr id="87" name="Google Shape;87;p5"/>
          <p:cNvSpPr txBox="1"/>
          <p:nvPr/>
        </p:nvSpPr>
        <p:spPr>
          <a:xfrm>
            <a:off x="683110" y="6964864"/>
            <a:ext cx="8544910"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Mục tiêu:</a:t>
            </a:r>
            <a:r>
              <a:rPr lang="en-US" sz="1800">
                <a:solidFill>
                  <a:schemeClr val="dk1"/>
                </a:solidFill>
                <a:latin typeface="Calibri"/>
                <a:ea typeface="Calibri"/>
                <a:cs typeface="Calibri"/>
                <a:sym typeface="Calibri"/>
              </a:rPr>
              <a:t> Môi trường biển ven bờ Việt Nam đóng vai trò quan trọng trong nuôi trồng cá giò và hàu, nhưng chịu ảnh hưởng lớn từ các yếu tố như pH, độ mặn, DO, NH₃, H₂S và biến đổi khí hậu. Sự biến động khó lường của các yếu tố này gây rủi ro cho sức khỏe và năng suất nuôi trồng. Đề tài hướng đến ứng dụng học máy để phân tích dữ liệu quan trắc, dự báo sớm rủi ro môi trường và xác định vùng nuôi tối ưu, góp phần hỗ trợ quản lý bền vững và ra quyết định kịp thời.</a:t>
            </a:r>
            <a:endParaRPr sz="1800">
              <a:solidFill>
                <a:schemeClr val="dk1"/>
              </a:solidFill>
              <a:latin typeface="Calibri"/>
              <a:ea typeface="Calibri"/>
              <a:cs typeface="Calibri"/>
              <a:sym typeface="Calibri"/>
            </a:endParaRPr>
          </a:p>
        </p:txBody>
      </p:sp>
      <p:sp>
        <p:nvSpPr>
          <p:cNvPr id="88" name="Google Shape;88;p5"/>
          <p:cNvSpPr txBox="1"/>
          <p:nvPr/>
        </p:nvSpPr>
        <p:spPr>
          <a:xfrm>
            <a:off x="219217" y="5402229"/>
            <a:ext cx="3959738"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400">
                <a:solidFill>
                  <a:schemeClr val="dk1"/>
                </a:solidFill>
                <a:latin typeface="Lato"/>
                <a:ea typeface="Lato"/>
                <a:cs typeface="Lato"/>
                <a:sym typeface="Lato"/>
              </a:rPr>
              <a:t>Biểu đồ nhiệt độ bề mặt đại dương (Nguồn: NOAA)</a:t>
            </a:r>
            <a:endParaRPr i="1" sz="1400">
              <a:solidFill>
                <a:schemeClr val="dk1"/>
              </a:solidFill>
              <a:latin typeface="Lato"/>
              <a:ea typeface="Lato"/>
              <a:cs typeface="Lato"/>
              <a:sym typeface="Lato"/>
            </a:endParaRPr>
          </a:p>
        </p:txBody>
      </p:sp>
      <p:pic>
        <p:nvPicPr>
          <p:cNvPr descr="A diagram of a fish and oysters&#10;&#10;Description automatically generated" id="89" name="Google Shape;89;p5"/>
          <p:cNvPicPr preferRelativeResize="0"/>
          <p:nvPr/>
        </p:nvPicPr>
        <p:blipFill rotWithShape="1">
          <a:blip r:embed="rId3">
            <a:alphaModFix/>
          </a:blip>
          <a:srcRect b="0" l="0" r="0" t="0"/>
          <a:stretch/>
        </p:blipFill>
        <p:spPr>
          <a:xfrm>
            <a:off x="406020" y="1245893"/>
            <a:ext cx="3178628" cy="2119086"/>
          </a:xfrm>
          <a:prstGeom prst="rect">
            <a:avLst/>
          </a:prstGeom>
          <a:noFill/>
          <a:ln>
            <a:noFill/>
          </a:ln>
        </p:spPr>
      </p:pic>
      <p:pic>
        <p:nvPicPr>
          <p:cNvPr descr="A graph showing the temperature of the year&#10;&#10;Description automatically generated" id="90" name="Google Shape;90;p5"/>
          <p:cNvPicPr preferRelativeResize="0"/>
          <p:nvPr/>
        </p:nvPicPr>
        <p:blipFill rotWithShape="1">
          <a:blip r:embed="rId4">
            <a:alphaModFix/>
          </a:blip>
          <a:srcRect b="0" l="0" r="0" t="0"/>
          <a:stretch/>
        </p:blipFill>
        <p:spPr>
          <a:xfrm>
            <a:off x="514877" y="3434971"/>
            <a:ext cx="3178628" cy="1897266"/>
          </a:xfrm>
          <a:prstGeom prst="rect">
            <a:avLst/>
          </a:prstGeom>
          <a:noFill/>
          <a:ln>
            <a:noFill/>
          </a:ln>
        </p:spPr>
      </p:pic>
      <p:sp>
        <p:nvSpPr>
          <p:cNvPr id="91" name="Google Shape;91;p5"/>
          <p:cNvSpPr txBox="1"/>
          <p:nvPr/>
        </p:nvSpPr>
        <p:spPr>
          <a:xfrm>
            <a:off x="4113378" y="1579680"/>
            <a:ext cx="4795545" cy="3139321"/>
          </a:xfrm>
          <a:prstGeom prst="rect">
            <a:avLst/>
          </a:prstGeom>
          <a:blipFill rotWithShape="1">
            <a:blip r:embed="rId5">
              <a:alphaModFix/>
            </a:blip>
            <a:stretch>
              <a:fillRect b="0" l="-1145" r="-1399" t="-77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6"/>
          <p:cNvSpPr txBox="1"/>
          <p:nvPr>
            <p:ph idx="12" type="sldNum"/>
          </p:nvPr>
        </p:nvSpPr>
        <p:spPr>
          <a:xfrm>
            <a:off x="6867383" y="6572126"/>
            <a:ext cx="20574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8" name="Google Shape;98;p6"/>
          <p:cNvSpPr txBox="1"/>
          <p:nvPr>
            <p:ph type="title"/>
          </p:nvPr>
        </p:nvSpPr>
        <p:spPr>
          <a:xfrm>
            <a:off x="235077" y="78613"/>
            <a:ext cx="8673846" cy="45173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en-US">
                <a:solidFill>
                  <a:srgbClr val="FFFFFF"/>
                </a:solidFill>
                <a:latin typeface="Lato"/>
                <a:ea typeface="Lato"/>
                <a:cs typeface="Lato"/>
                <a:sym typeface="Lato"/>
              </a:rPr>
              <a:t>Giới thiệu đề tài</a:t>
            </a:r>
            <a:endParaRPr>
              <a:solidFill>
                <a:srgbClr val="FFFFFF"/>
              </a:solidFill>
              <a:latin typeface="Lato"/>
              <a:ea typeface="Lato"/>
              <a:cs typeface="Lato"/>
              <a:sym typeface="Lato"/>
            </a:endParaRPr>
          </a:p>
          <a:p>
            <a:pPr indent="0" lvl="0" marL="0" rtl="0" algn="l">
              <a:lnSpc>
                <a:spcPct val="90000"/>
              </a:lnSpc>
              <a:spcBef>
                <a:spcPts val="0"/>
              </a:spcBef>
              <a:spcAft>
                <a:spcPts val="0"/>
              </a:spcAft>
              <a:buClr>
                <a:schemeClr val="lt1"/>
              </a:buClr>
              <a:buSzPts val="2800"/>
              <a:buFont typeface="Lato"/>
              <a:buNone/>
            </a:pPr>
            <a:r>
              <a:t/>
            </a:r>
            <a:endParaRPr>
              <a:latin typeface="Lato"/>
              <a:ea typeface="Lato"/>
              <a:cs typeface="Lato"/>
              <a:sym typeface="Lato"/>
            </a:endParaRPr>
          </a:p>
        </p:txBody>
      </p:sp>
      <p:sp>
        <p:nvSpPr>
          <p:cNvPr id="99" name="Google Shape;99;p6"/>
          <p:cNvSpPr txBox="1"/>
          <p:nvPr/>
        </p:nvSpPr>
        <p:spPr>
          <a:xfrm>
            <a:off x="235077" y="1515552"/>
            <a:ext cx="4795545"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Lato"/>
                <a:ea typeface="Lato"/>
                <a:cs typeface="Lato"/>
                <a:sym typeface="Lato"/>
              </a:rPr>
              <a:t>Đề tài lựa chọn hướng tiếp cận dựa trên phân tích dữ liệu và học máy. Thông qua khai thác dữ liệu quan trắc lịch sử, mô hình học được các quy luật ẩn và hỗ trợ dự báo tương lai.</a:t>
            </a:r>
            <a:endParaRPr/>
          </a:p>
          <a:p>
            <a:pPr indent="0" lvl="0" marL="0" marR="0" rtl="0" algn="l">
              <a:spcBef>
                <a:spcPts val="0"/>
              </a:spcBef>
              <a:spcAft>
                <a:spcPts val="0"/>
              </a:spcAft>
              <a:buNone/>
            </a:pPr>
            <a:r>
              <a:rPr lang="en-US" sz="1800">
                <a:solidFill>
                  <a:schemeClr val="dk1"/>
                </a:solidFill>
                <a:latin typeface="Lato"/>
                <a:ea typeface="Lato"/>
                <a:cs typeface="Lato"/>
                <a:sym typeface="Lato"/>
              </a:rPr>
              <a:t>Nội dung thực hiện:</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Lato"/>
                <a:ea typeface="Lato"/>
                <a:cs typeface="Lato"/>
                <a:sym typeface="Lato"/>
              </a:rPr>
              <a:t>Tiền xử lý dữ liệu</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Lato"/>
                <a:ea typeface="Lato"/>
                <a:cs typeface="Lato"/>
                <a:sym typeface="Lato"/>
              </a:rPr>
              <a:t>Xây dựng mô hình dự đoán môi trường theo quý</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Lato"/>
                <a:ea typeface="Lato"/>
                <a:cs typeface="Lato"/>
                <a:sym typeface="Lato"/>
              </a:rPr>
              <a:t>Tính chỉ số HSI</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Lato"/>
                <a:ea typeface="Lato"/>
                <a:cs typeface="Lato"/>
                <a:sym typeface="Lato"/>
              </a:rPr>
              <a:t>Đánh giá vùng nuôi</a:t>
            </a:r>
            <a:endParaRPr/>
          </a:p>
          <a:p>
            <a:pPr indent="0" lvl="0" marL="0" marR="0" rtl="0" algn="l">
              <a:spcBef>
                <a:spcPts val="0"/>
              </a:spcBef>
              <a:spcAft>
                <a:spcPts val="0"/>
              </a:spcAft>
              <a:buNone/>
            </a:pPr>
            <a:r>
              <a:t/>
            </a:r>
            <a:endParaRPr sz="1800">
              <a:solidFill>
                <a:schemeClr val="dk1"/>
              </a:solidFill>
              <a:latin typeface="Lato"/>
              <a:ea typeface="Lato"/>
              <a:cs typeface="Lato"/>
              <a:sym typeface="Lato"/>
            </a:endParaRPr>
          </a:p>
          <a:p>
            <a:pPr indent="0" lvl="0" marL="0" marR="0" rtl="0" algn="l">
              <a:spcBef>
                <a:spcPts val="0"/>
              </a:spcBef>
              <a:spcAft>
                <a:spcPts val="0"/>
              </a:spcAft>
              <a:buNone/>
            </a:pPr>
            <a:r>
              <a:t/>
            </a:r>
            <a:endParaRPr sz="1800">
              <a:solidFill>
                <a:schemeClr val="dk1"/>
              </a:solidFill>
              <a:latin typeface="Lato"/>
              <a:ea typeface="Lato"/>
              <a:cs typeface="Lato"/>
              <a:sym typeface="Lato"/>
            </a:endParaRPr>
          </a:p>
        </p:txBody>
      </p:sp>
      <p:pic>
        <p:nvPicPr>
          <p:cNvPr id="100" name="Google Shape;100;p6"/>
          <p:cNvPicPr preferRelativeResize="0"/>
          <p:nvPr/>
        </p:nvPicPr>
        <p:blipFill rotWithShape="1">
          <a:blip r:embed="rId3">
            <a:alphaModFix/>
          </a:blip>
          <a:srcRect b="0" l="0" r="0" t="0"/>
          <a:stretch/>
        </p:blipFill>
        <p:spPr>
          <a:xfrm>
            <a:off x="4806768" y="1515552"/>
            <a:ext cx="4121229" cy="274993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7"/>
          <p:cNvSpPr txBox="1"/>
          <p:nvPr>
            <p:ph idx="12" type="sldNum"/>
          </p:nvPr>
        </p:nvSpPr>
        <p:spPr>
          <a:xfrm>
            <a:off x="6867383" y="6572126"/>
            <a:ext cx="20574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7" name="Google Shape;107;p7"/>
          <p:cNvSpPr txBox="1"/>
          <p:nvPr>
            <p:ph type="title"/>
          </p:nvPr>
        </p:nvSpPr>
        <p:spPr>
          <a:xfrm>
            <a:off x="235077" y="78613"/>
            <a:ext cx="8673846" cy="45173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en-US"/>
              <a:t>Mục tiêu &amp; Những nội dung đã hoàn thành</a:t>
            </a:r>
            <a:endParaRPr>
              <a:latin typeface="Lato"/>
              <a:ea typeface="Lato"/>
              <a:cs typeface="Lato"/>
              <a:sym typeface="Lato"/>
            </a:endParaRPr>
          </a:p>
        </p:txBody>
      </p:sp>
      <p:sp>
        <p:nvSpPr>
          <p:cNvPr id="108" name="Google Shape;108;p7"/>
          <p:cNvSpPr txBox="1"/>
          <p:nvPr/>
        </p:nvSpPr>
        <p:spPr>
          <a:xfrm>
            <a:off x="235071" y="847275"/>
            <a:ext cx="8832000" cy="1662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700">
                <a:solidFill>
                  <a:schemeClr val="dk1"/>
                </a:solidFill>
                <a:latin typeface="Lato"/>
                <a:ea typeface="Lato"/>
                <a:cs typeface="Lato"/>
                <a:sym typeface="Lato"/>
              </a:rPr>
              <a:t>Dữ liệu : Hoàn thành làm sạch, chuẩn hóa HK Dataset và Quảng Ninh Dataset (2021-2024).</a:t>
            </a:r>
            <a:endParaRPr sz="1700">
              <a:solidFill>
                <a:schemeClr val="dk1"/>
              </a:solidFill>
              <a:latin typeface="Lato"/>
              <a:ea typeface="Lato"/>
              <a:cs typeface="Lato"/>
              <a:sym typeface="Lato"/>
            </a:endParaRPr>
          </a:p>
          <a:p>
            <a:pPr indent="0" lvl="0" marL="0" marR="0" rtl="0" algn="l">
              <a:spcBef>
                <a:spcPts val="0"/>
              </a:spcBef>
              <a:spcAft>
                <a:spcPts val="0"/>
              </a:spcAft>
              <a:buNone/>
            </a:pPr>
            <a:r>
              <a:rPr lang="en-US" sz="1700">
                <a:solidFill>
                  <a:schemeClr val="dk1"/>
                </a:solidFill>
                <a:latin typeface="Lato"/>
                <a:ea typeface="Lato"/>
                <a:cs typeface="Lato"/>
                <a:sym typeface="Lato"/>
              </a:rPr>
              <a:t>Thuật toán : Xây dựng thành công mô hình XGBoost Multi-output và kỹ thuật Transfer Learning từ Hồng Kông về Việt Nam.</a:t>
            </a:r>
            <a:endParaRPr sz="1700">
              <a:solidFill>
                <a:schemeClr val="dk1"/>
              </a:solidFill>
              <a:latin typeface="Lato"/>
              <a:ea typeface="Lato"/>
              <a:cs typeface="Lato"/>
              <a:sym typeface="Lato"/>
            </a:endParaRPr>
          </a:p>
          <a:p>
            <a:pPr indent="0" lvl="0" marL="0" marR="0" rtl="0" algn="l">
              <a:spcBef>
                <a:spcPts val="0"/>
              </a:spcBef>
              <a:spcAft>
                <a:spcPts val="0"/>
              </a:spcAft>
              <a:buNone/>
            </a:pPr>
            <a:r>
              <a:rPr lang="en-US" sz="1700">
                <a:solidFill>
                  <a:schemeClr val="dk1"/>
                </a:solidFill>
                <a:latin typeface="Lato"/>
                <a:ea typeface="Lato"/>
                <a:cs typeface="Lato"/>
                <a:sym typeface="Lato"/>
              </a:rPr>
              <a:t>Tính toán sinh thái : Thiết lập bộ chỉ số HSI (Habitat Suitability Index) cho cá giò và hàu.</a:t>
            </a:r>
            <a:endParaRPr sz="1700">
              <a:solidFill>
                <a:schemeClr val="dk1"/>
              </a:solidFill>
              <a:latin typeface="Lato"/>
              <a:ea typeface="Lato"/>
              <a:cs typeface="Lato"/>
              <a:sym typeface="Lato"/>
            </a:endParaRPr>
          </a:p>
          <a:p>
            <a:pPr indent="0" lvl="0" marL="0" marR="0" rtl="0" algn="l">
              <a:spcBef>
                <a:spcPts val="0"/>
              </a:spcBef>
              <a:spcAft>
                <a:spcPts val="0"/>
              </a:spcAft>
              <a:buNone/>
            </a:pPr>
            <a:r>
              <a:rPr lang="en-US" sz="1700">
                <a:solidFill>
                  <a:schemeClr val="dk1"/>
                </a:solidFill>
                <a:latin typeface="Lato"/>
                <a:ea typeface="Lato"/>
                <a:cs typeface="Lato"/>
                <a:sym typeface="Lato"/>
              </a:rPr>
              <a:t>Hệ thống : Hoàn thiện khung giao diện Dashboard trên Streamlit, hiển thị bản đồ và biểu đồ dự báo.</a:t>
            </a:r>
            <a:endParaRPr sz="1700">
              <a:solidFill>
                <a:schemeClr val="dk1"/>
              </a:solidFill>
              <a:latin typeface="Lato"/>
              <a:ea typeface="Lato"/>
              <a:cs typeface="Lato"/>
              <a:sym typeface="Lato"/>
            </a:endParaRPr>
          </a:p>
        </p:txBody>
      </p:sp>
      <p:pic>
        <p:nvPicPr>
          <p:cNvPr descr="A diagram of a model&#10;&#10;Description automatically generated" id="109" name="Google Shape;109;p7"/>
          <p:cNvPicPr preferRelativeResize="0"/>
          <p:nvPr/>
        </p:nvPicPr>
        <p:blipFill rotWithShape="1">
          <a:blip r:embed="rId3">
            <a:alphaModFix/>
          </a:blip>
          <a:srcRect b="0" l="0" r="0" t="0"/>
          <a:stretch/>
        </p:blipFill>
        <p:spPr>
          <a:xfrm>
            <a:off x="0" y="2701550"/>
            <a:ext cx="9021084" cy="34926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8"/>
          <p:cNvSpPr txBox="1"/>
          <p:nvPr>
            <p:ph idx="12" type="sldNum"/>
          </p:nvPr>
        </p:nvSpPr>
        <p:spPr>
          <a:xfrm>
            <a:off x="6867383" y="6572126"/>
            <a:ext cx="20574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6" name="Google Shape;116;p8"/>
          <p:cNvSpPr txBox="1"/>
          <p:nvPr>
            <p:ph type="title"/>
          </p:nvPr>
        </p:nvSpPr>
        <p:spPr>
          <a:xfrm>
            <a:off x="235077" y="78613"/>
            <a:ext cx="8673846" cy="45173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en-US"/>
              <a:t>Kết quả xử lý dữ liệu &amp; Tiền xử lý</a:t>
            </a:r>
            <a:endParaRPr>
              <a:latin typeface="Lato"/>
              <a:ea typeface="Lato"/>
              <a:cs typeface="Lato"/>
              <a:sym typeface="Lato"/>
            </a:endParaRPr>
          </a:p>
          <a:p>
            <a:pPr indent="0" lvl="0" marL="0" rtl="0" algn="l">
              <a:lnSpc>
                <a:spcPct val="90000"/>
              </a:lnSpc>
              <a:spcBef>
                <a:spcPts val="0"/>
              </a:spcBef>
              <a:spcAft>
                <a:spcPts val="0"/>
              </a:spcAft>
              <a:buClr>
                <a:schemeClr val="lt1"/>
              </a:buClr>
              <a:buSzPts val="2800"/>
              <a:buFont typeface="Lato"/>
              <a:buNone/>
            </a:pPr>
            <a:r>
              <a:t/>
            </a:r>
            <a:endParaRPr>
              <a:latin typeface="Lato"/>
              <a:ea typeface="Lato"/>
              <a:cs typeface="Lato"/>
              <a:sym typeface="Lato"/>
            </a:endParaRPr>
          </a:p>
        </p:txBody>
      </p:sp>
      <p:sp>
        <p:nvSpPr>
          <p:cNvPr id="117" name="Google Shape;117;p8"/>
          <p:cNvSpPr txBox="1"/>
          <p:nvPr/>
        </p:nvSpPr>
        <p:spPr>
          <a:xfrm>
            <a:off x="235075" y="847275"/>
            <a:ext cx="8518500" cy="1200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Lato"/>
                <a:ea typeface="Lato"/>
                <a:cs typeface="Lato"/>
                <a:sym typeface="Lato"/>
              </a:rPr>
              <a:t>Hợp nhất dữ liệu từ nhiều nguồn (Excel, CSV).</a:t>
            </a:r>
            <a:endParaRPr sz="1800">
              <a:solidFill>
                <a:schemeClr val="dk1"/>
              </a:solidFill>
              <a:latin typeface="Lato"/>
              <a:ea typeface="Lato"/>
              <a:cs typeface="Lato"/>
              <a:sym typeface="Lato"/>
            </a:endParaRPr>
          </a:p>
          <a:p>
            <a:pPr indent="0" lvl="0" marL="0" marR="0" rtl="0" algn="l">
              <a:spcBef>
                <a:spcPts val="0"/>
              </a:spcBef>
              <a:spcAft>
                <a:spcPts val="0"/>
              </a:spcAft>
              <a:buNone/>
            </a:pPr>
            <a:r>
              <a:rPr lang="en-US" sz="1800">
                <a:solidFill>
                  <a:schemeClr val="dk1"/>
                </a:solidFill>
                <a:latin typeface="Lato"/>
                <a:ea typeface="Lato"/>
                <a:cs typeface="Lato"/>
                <a:sym typeface="Lato"/>
              </a:rPr>
              <a:t>Xử lý giá trị dưới ngưỡng phát hiện (Left-censored) bằng phương pháp Half-detection limit.</a:t>
            </a:r>
            <a:endParaRPr sz="1800">
              <a:solidFill>
                <a:schemeClr val="dk1"/>
              </a:solidFill>
              <a:latin typeface="Lato"/>
              <a:ea typeface="Lato"/>
              <a:cs typeface="Lato"/>
              <a:sym typeface="Lato"/>
            </a:endParaRPr>
          </a:p>
          <a:p>
            <a:pPr indent="0" lvl="0" marL="0" marR="0" rtl="0" algn="l">
              <a:spcBef>
                <a:spcPts val="0"/>
              </a:spcBef>
              <a:spcAft>
                <a:spcPts val="0"/>
              </a:spcAft>
              <a:buNone/>
            </a:pPr>
            <a:r>
              <a:rPr lang="en-US" sz="1800">
                <a:solidFill>
                  <a:schemeClr val="dk1"/>
                </a:solidFill>
                <a:latin typeface="Lato"/>
                <a:ea typeface="Lato"/>
                <a:cs typeface="Lato"/>
                <a:sym typeface="Lato"/>
              </a:rPr>
              <a:t>Tạo các biến trễ (Lag features) Quý 1 và Quý 4 để bắt kịp tính chu kỳ mùa vụ.</a:t>
            </a:r>
            <a:endParaRPr sz="1800">
              <a:solidFill>
                <a:schemeClr val="dk1"/>
              </a:solidFill>
              <a:latin typeface="Lato"/>
              <a:ea typeface="Lato"/>
              <a:cs typeface="Lato"/>
              <a:sym typeface="Lato"/>
            </a:endParaRPr>
          </a:p>
        </p:txBody>
      </p:sp>
      <p:pic>
        <p:nvPicPr>
          <p:cNvPr id="118" name="Google Shape;118;p8"/>
          <p:cNvPicPr preferRelativeResize="0"/>
          <p:nvPr/>
        </p:nvPicPr>
        <p:blipFill rotWithShape="1">
          <a:blip r:embed="rId3">
            <a:alphaModFix/>
          </a:blip>
          <a:srcRect b="0" l="0" r="0" t="0"/>
          <a:stretch/>
        </p:blipFill>
        <p:spPr>
          <a:xfrm>
            <a:off x="4387975" y="2049107"/>
            <a:ext cx="4462224" cy="4125620"/>
          </a:xfrm>
          <a:prstGeom prst="rect">
            <a:avLst/>
          </a:prstGeom>
          <a:noFill/>
          <a:ln>
            <a:noFill/>
          </a:ln>
        </p:spPr>
      </p:pic>
      <p:sp>
        <p:nvSpPr>
          <p:cNvPr id="119" name="Google Shape;119;p8"/>
          <p:cNvSpPr txBox="1"/>
          <p:nvPr/>
        </p:nvSpPr>
        <p:spPr>
          <a:xfrm>
            <a:off x="85077" y="3028760"/>
            <a:ext cx="4302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00"/>
                </a:solidFill>
                <a:latin typeface="Lato"/>
                <a:ea typeface="Lato"/>
                <a:cs typeface="Lato"/>
                <a:sym typeface="Lato"/>
              </a:rPr>
              <a:t>Bộ dữ liệu môi trường biển Quảng Ninh </a:t>
            </a:r>
            <a:endParaRPr b="1" sz="1800">
              <a:solidFill>
                <a:srgbClr val="000000"/>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1"/>
          <p:cNvSpPr txBox="1"/>
          <p:nvPr>
            <p:ph idx="12" type="sldNum"/>
          </p:nvPr>
        </p:nvSpPr>
        <p:spPr>
          <a:xfrm>
            <a:off x="6867383" y="6572126"/>
            <a:ext cx="20574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6" name="Google Shape;126;p11"/>
          <p:cNvSpPr txBox="1"/>
          <p:nvPr>
            <p:ph type="title"/>
          </p:nvPr>
        </p:nvSpPr>
        <p:spPr>
          <a:xfrm>
            <a:off x="235077" y="78613"/>
            <a:ext cx="8673846" cy="45173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en-US"/>
              <a:t>Hiệu năng mô hình hiện tại</a:t>
            </a:r>
            <a:endParaRPr>
              <a:latin typeface="Lato"/>
              <a:ea typeface="Lato"/>
              <a:cs typeface="Lato"/>
              <a:sym typeface="Lato"/>
            </a:endParaRPr>
          </a:p>
        </p:txBody>
      </p:sp>
      <p:sp>
        <p:nvSpPr>
          <p:cNvPr id="127" name="Google Shape;127;p11"/>
          <p:cNvSpPr txBox="1"/>
          <p:nvPr/>
        </p:nvSpPr>
        <p:spPr>
          <a:xfrm>
            <a:off x="235077" y="928040"/>
            <a:ext cx="2146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00"/>
                </a:solidFill>
                <a:latin typeface="Lato"/>
                <a:ea typeface="Lato"/>
                <a:cs typeface="Lato"/>
                <a:sym typeface="Lato"/>
              </a:rPr>
              <a:t>Đánh giá hiệu năng</a:t>
            </a:r>
            <a:endParaRPr b="1" sz="1800">
              <a:solidFill>
                <a:srgbClr val="000000"/>
              </a:solidFill>
              <a:latin typeface="Lato"/>
              <a:ea typeface="Lato"/>
              <a:cs typeface="Lato"/>
              <a:sym typeface="Lato"/>
            </a:endParaRPr>
          </a:p>
        </p:txBody>
      </p:sp>
      <p:graphicFrame>
        <p:nvGraphicFramePr>
          <p:cNvPr id="128" name="Google Shape;128;p11"/>
          <p:cNvGraphicFramePr/>
          <p:nvPr/>
        </p:nvGraphicFramePr>
        <p:xfrm>
          <a:off x="530594" y="1455659"/>
          <a:ext cx="3000000" cy="3000000"/>
        </p:xfrm>
        <a:graphic>
          <a:graphicData uri="http://schemas.openxmlformats.org/drawingml/2006/table">
            <a:tbl>
              <a:tblPr bandRow="1" firstRow="1">
                <a:noFill/>
                <a:tableStyleId>{48022354-B5E6-4B01-843D-61041E234A23}</a:tableStyleId>
              </a:tblPr>
              <a:tblGrid>
                <a:gridCol w="1307300"/>
                <a:gridCol w="1663150"/>
                <a:gridCol w="951500"/>
                <a:gridCol w="1307300"/>
                <a:gridCol w="1307300"/>
                <a:gridCol w="1307300"/>
              </a:tblGrid>
              <a:tr h="610000">
                <a:tc>
                  <a:txBody>
                    <a:bodyPr/>
                    <a:lstStyle/>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Phân nhóm</a:t>
                      </a:r>
                      <a:endParaRPr sz="1800" u="none" cap="none" strike="noStrike">
                        <a:latin typeface="Times New Roman"/>
                        <a:ea typeface="Times New Roman"/>
                        <a:cs typeface="Times New Roman"/>
                        <a:sym typeface="Times New Roman"/>
                      </a:endParaRPr>
                    </a:p>
                  </a:txBody>
                  <a:tcPr marT="45725" marB="45725" marR="91450" marL="91450" anchor="ctr"/>
                </a:tc>
                <a:tc>
                  <a:txBody>
                    <a:bodyPr/>
                    <a:lstStyle/>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Tên biến</a:t>
                      </a:r>
                      <a:endParaRPr sz="1800" u="none" cap="none" strike="noStrike">
                        <a:latin typeface="Times New Roman"/>
                        <a:ea typeface="Times New Roman"/>
                        <a:cs typeface="Times New Roman"/>
                        <a:sym typeface="Times New Roman"/>
                      </a:endParaRPr>
                    </a:p>
                  </a:txBody>
                  <a:tcPr marT="45725" marB="45725" marR="91450" marL="91450" anchor="ctr"/>
                </a:tc>
                <a:tc>
                  <a:txBody>
                    <a:bodyPr/>
                    <a:lstStyle/>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Đơn vị</a:t>
                      </a:r>
                      <a:endParaRPr sz="1800" u="none" cap="none" strike="noStrike">
                        <a:latin typeface="Times New Roman"/>
                        <a:ea typeface="Times New Roman"/>
                        <a:cs typeface="Times New Roman"/>
                        <a:sym typeface="Times New Roman"/>
                      </a:endParaRPr>
                    </a:p>
                  </a:txBody>
                  <a:tcPr marT="45725" marB="45725" marR="91450" marL="91450" anchor="ctr"/>
                </a:tc>
                <a:tc>
                  <a:txBody>
                    <a:bodyPr/>
                    <a:lstStyle/>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RMSE (HK)</a:t>
                      </a:r>
                      <a:endParaRPr/>
                    </a:p>
                  </a:txBody>
                  <a:tcPr marT="45725" marB="45725" marR="91450" marL="91450" anchor="ctr"/>
                </a:tc>
                <a:tc>
                  <a:txBody>
                    <a:bodyPr/>
                    <a:lstStyle/>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RMSE (VN)</a:t>
                      </a:r>
                      <a:endParaRPr/>
                    </a:p>
                  </a:txBody>
                  <a:tcPr marT="45725" marB="45725" marR="91450" marL="91450" anchor="ctr"/>
                </a:tc>
                <a:tc>
                  <a:txBody>
                    <a:bodyPr/>
                    <a:lstStyle/>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Cải thiện</a:t>
                      </a:r>
                      <a:endParaRPr sz="1800" u="none" cap="none" strike="noStrike">
                        <a:latin typeface="Times New Roman"/>
                        <a:ea typeface="Times New Roman"/>
                        <a:cs typeface="Times New Roman"/>
                        <a:sym typeface="Times New Roman"/>
                      </a:endParaRPr>
                    </a:p>
                  </a:txBody>
                  <a:tcPr marT="45725" marB="45725" marR="91450" marL="91450" anchor="ctr"/>
                </a:tc>
              </a:tr>
              <a:tr h="1394275">
                <a:tc>
                  <a:txBody>
                    <a:bodyPr/>
                    <a:lstStyle/>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Nhóm Sinh tồn</a:t>
                      </a:r>
                      <a:endParaRPr sz="1800" u="none" cap="none" strike="noStrike">
                        <a:latin typeface="Times New Roman"/>
                        <a:ea typeface="Times New Roman"/>
                        <a:cs typeface="Times New Roman"/>
                        <a:sym typeface="Times New Roman"/>
                      </a:endParaRPr>
                    </a:p>
                  </a:txBody>
                  <a:tcPr marT="45725" marB="45725" marR="91450" marL="91450" anchor="ctr"/>
                </a:tc>
                <a:tc>
                  <a:txBody>
                    <a:bodyPr/>
                    <a:lstStyle/>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pH</a:t>
                      </a:r>
                      <a:endParaRPr/>
                    </a:p>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D. Oxygen (DO)</a:t>
                      </a:r>
                      <a:endParaRPr/>
                    </a:p>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Salinity</a:t>
                      </a:r>
                      <a:endParaRPr/>
                    </a:p>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Alkalinity</a:t>
                      </a:r>
                      <a:endParaRPr/>
                    </a:p>
                  </a:txBody>
                  <a:tcPr marT="45725" marB="45725" marR="91450" marL="91450" anchor="ctr"/>
                </a:tc>
                <a:tc>
                  <a:txBody>
                    <a:bodyPr/>
                    <a:lstStyle/>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a:t>
                      </a:r>
                      <a:endParaRPr/>
                    </a:p>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mg/L</a:t>
                      </a:r>
                      <a:endParaRPr/>
                    </a:p>
                    <a:p>
                      <a:pPr indent="0" lvl="0" marL="0" marR="0" rtl="0" algn="ctr">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a:t>
                      </a:r>
                      <a:endParaRPr/>
                    </a:p>
                    <a:p>
                      <a:pPr indent="0" lvl="0" marL="0" marR="0" rtl="0" algn="ctr">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mg/L</a:t>
                      </a:r>
                      <a:endParaRPr sz="1800" u="none" cap="none" strike="noStrike">
                        <a:latin typeface="Times New Roman"/>
                        <a:ea typeface="Times New Roman"/>
                        <a:cs typeface="Times New Roman"/>
                        <a:sym typeface="Times New Roman"/>
                      </a:endParaRPr>
                    </a:p>
                  </a:txBody>
                  <a:tcPr marT="45725" marB="45725" marR="91450" marL="91450" anchor="ctr"/>
                </a:tc>
                <a:tc>
                  <a:txBody>
                    <a:bodyPr/>
                    <a:lstStyle/>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0.0686</a:t>
                      </a:r>
                      <a:endParaRPr/>
                    </a:p>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0.3687</a:t>
                      </a:r>
                      <a:endParaRPr/>
                    </a:p>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0.6077</a:t>
                      </a:r>
                      <a:endParaRPr/>
                    </a:p>
                    <a:p>
                      <a:pPr indent="0" lvl="0" marL="0" marR="0" rtl="0" algn="ctr">
                        <a:lnSpc>
                          <a:spcPct val="100000"/>
                        </a:lnSpc>
                        <a:spcBef>
                          <a:spcPts val="0"/>
                        </a:spcBef>
                        <a:spcAft>
                          <a:spcPts val="0"/>
                        </a:spcAft>
                        <a:buClr>
                          <a:srgbClr val="000000"/>
                        </a:buClr>
                        <a:buSzPts val="1800"/>
                        <a:buFont typeface="Times New Roman"/>
                        <a:buNone/>
                      </a:pPr>
                      <a:r>
                        <a:rPr lang="en-US" sz="1800" u="none" cap="none" strike="noStrike">
                          <a:latin typeface="Times New Roman"/>
                          <a:ea typeface="Times New Roman"/>
                          <a:cs typeface="Times New Roman"/>
                          <a:sym typeface="Times New Roman"/>
                        </a:rPr>
                        <a:t>26.6942</a:t>
                      </a:r>
                      <a:endParaRPr/>
                    </a:p>
                  </a:txBody>
                  <a:tcPr marT="45725" marB="45725" marR="91450" marL="91450" anchor="ctr"/>
                </a:tc>
                <a:tc>
                  <a:txBody>
                    <a:bodyPr/>
                    <a:lstStyle/>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0.0341</a:t>
                      </a:r>
                      <a:endParaRPr/>
                    </a:p>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0.2831</a:t>
                      </a:r>
                      <a:endParaRPr/>
                    </a:p>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0.4501</a:t>
                      </a:r>
                      <a:endParaRPr/>
                    </a:p>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17.8502</a:t>
                      </a:r>
                      <a:endParaRPr/>
                    </a:p>
                  </a:txBody>
                  <a:tcPr marT="45725" marB="45725" marR="91450" marL="91450" anchor="ctr"/>
                </a:tc>
                <a:tc>
                  <a:txBody>
                    <a:bodyPr/>
                    <a:lstStyle/>
                    <a:p>
                      <a:pPr indent="0" lvl="0" marL="0" marR="0" rtl="0" algn="ctr">
                        <a:spcBef>
                          <a:spcPts val="0"/>
                        </a:spcBef>
                        <a:spcAft>
                          <a:spcPts val="0"/>
                        </a:spcAft>
                        <a:buNone/>
                      </a:pPr>
                      <a:r>
                        <a:rPr lang="en-US" sz="1800" u="none" cap="none" strike="noStrike">
                          <a:solidFill>
                            <a:srgbClr val="00B050"/>
                          </a:solidFill>
                          <a:latin typeface="Times New Roman"/>
                          <a:ea typeface="Times New Roman"/>
                          <a:cs typeface="Times New Roman"/>
                          <a:sym typeface="Times New Roman"/>
                        </a:rPr>
                        <a:t>+50.3%</a:t>
                      </a:r>
                      <a:endParaRPr/>
                    </a:p>
                    <a:p>
                      <a:pPr indent="0" lvl="0" marL="0" marR="0" rtl="0" algn="ctr">
                        <a:spcBef>
                          <a:spcPts val="0"/>
                        </a:spcBef>
                        <a:spcAft>
                          <a:spcPts val="0"/>
                        </a:spcAft>
                        <a:buNone/>
                      </a:pPr>
                      <a:r>
                        <a:rPr lang="en-US" sz="1800" u="none" cap="none" strike="noStrike">
                          <a:solidFill>
                            <a:srgbClr val="00B050"/>
                          </a:solidFill>
                          <a:latin typeface="Times New Roman"/>
                          <a:ea typeface="Times New Roman"/>
                          <a:cs typeface="Times New Roman"/>
                          <a:sym typeface="Times New Roman"/>
                        </a:rPr>
                        <a:t>+23.2%</a:t>
                      </a:r>
                      <a:endParaRPr/>
                    </a:p>
                    <a:p>
                      <a:pPr indent="0" lvl="0" marL="0" marR="0" rtl="0" algn="ctr">
                        <a:spcBef>
                          <a:spcPts val="0"/>
                        </a:spcBef>
                        <a:spcAft>
                          <a:spcPts val="0"/>
                        </a:spcAft>
                        <a:buNone/>
                      </a:pPr>
                      <a:r>
                        <a:rPr lang="en-US" sz="1800" u="none" cap="none" strike="noStrike">
                          <a:solidFill>
                            <a:srgbClr val="00B050"/>
                          </a:solidFill>
                          <a:latin typeface="Times New Roman"/>
                          <a:ea typeface="Times New Roman"/>
                          <a:cs typeface="Times New Roman"/>
                          <a:sym typeface="Times New Roman"/>
                        </a:rPr>
                        <a:t>+25.9%</a:t>
                      </a:r>
                      <a:endParaRPr/>
                    </a:p>
                    <a:p>
                      <a:pPr indent="0" lvl="0" marL="0" marR="0" rtl="0" algn="ctr">
                        <a:spcBef>
                          <a:spcPts val="0"/>
                        </a:spcBef>
                        <a:spcAft>
                          <a:spcPts val="0"/>
                        </a:spcAft>
                        <a:buNone/>
                      </a:pPr>
                      <a:r>
                        <a:rPr lang="en-US" sz="1800" u="none" cap="none" strike="noStrike">
                          <a:solidFill>
                            <a:srgbClr val="00B050"/>
                          </a:solidFill>
                          <a:latin typeface="Times New Roman"/>
                          <a:ea typeface="Times New Roman"/>
                          <a:cs typeface="Times New Roman"/>
                          <a:sym typeface="Times New Roman"/>
                        </a:rPr>
                        <a:t>+49.5%</a:t>
                      </a:r>
                      <a:endParaRPr/>
                    </a:p>
                  </a:txBody>
                  <a:tcPr marT="45725" marB="45725" marR="91450" marL="91450" anchor="ctr"/>
                </a:tc>
              </a:tr>
              <a:tr h="871425">
                <a:tc>
                  <a:txBody>
                    <a:bodyPr/>
                    <a:lstStyle/>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Nhóm Lý học</a:t>
                      </a:r>
                      <a:endParaRPr sz="1800" u="none" cap="none" strike="noStrike">
                        <a:latin typeface="Times New Roman"/>
                        <a:ea typeface="Times New Roman"/>
                        <a:cs typeface="Times New Roman"/>
                        <a:sym typeface="Times New Roman"/>
                      </a:endParaRPr>
                    </a:p>
                  </a:txBody>
                  <a:tcPr marT="45725" marB="45725" marR="91450" marL="91450" anchor="ctr"/>
                </a:tc>
                <a:tc>
                  <a:txBody>
                    <a:bodyPr/>
                    <a:lstStyle/>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Temperature</a:t>
                      </a:r>
                      <a:endParaRPr/>
                    </a:p>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Transparency</a:t>
                      </a:r>
                      <a:endParaRPr/>
                    </a:p>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TSS</a:t>
                      </a:r>
                      <a:endParaRPr/>
                    </a:p>
                  </a:txBody>
                  <a:tcPr marT="45725" marB="45725" marR="91450" marL="91450" anchor="ctr"/>
                </a:tc>
                <a:tc>
                  <a:txBody>
                    <a:bodyPr/>
                    <a:lstStyle/>
                    <a:p>
                      <a:pPr indent="0" lvl="0" marL="0" marR="0" rtl="0" algn="ctr">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°C</a:t>
                      </a:r>
                      <a:endParaRPr/>
                    </a:p>
                    <a:p>
                      <a:pPr indent="0" lvl="0" marL="0" marR="0" rtl="0" algn="ctr">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Cm</a:t>
                      </a:r>
                      <a:endParaRPr/>
                    </a:p>
                    <a:p>
                      <a:pPr indent="0" lvl="0" marL="0" marR="0" rtl="0" algn="ctr">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mg/L</a:t>
                      </a:r>
                      <a:endParaRPr sz="1800" u="none" cap="none" strike="noStrike">
                        <a:latin typeface="Times New Roman"/>
                        <a:ea typeface="Times New Roman"/>
                        <a:cs typeface="Times New Roman"/>
                        <a:sym typeface="Times New Roman"/>
                      </a:endParaRPr>
                    </a:p>
                  </a:txBody>
                  <a:tcPr marT="45725" marB="45725" marR="91450" marL="91450" anchor="ctr"/>
                </a:tc>
                <a:tc>
                  <a:txBody>
                    <a:bodyPr/>
                    <a:lstStyle/>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0.4327</a:t>
                      </a:r>
                      <a:endParaRPr/>
                    </a:p>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5.8198</a:t>
                      </a:r>
                      <a:endParaRPr/>
                    </a:p>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1.1865</a:t>
                      </a:r>
                      <a:endParaRPr/>
                    </a:p>
                  </a:txBody>
                  <a:tcPr marT="45725" marB="45725" marR="91450" marL="91450" anchor="ctr"/>
                </a:tc>
                <a:tc>
                  <a:txBody>
                    <a:bodyPr/>
                    <a:lstStyle/>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0.7465</a:t>
                      </a:r>
                      <a:endParaRPr/>
                    </a:p>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2.1295</a:t>
                      </a:r>
                      <a:endParaRPr/>
                    </a:p>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1.1932</a:t>
                      </a:r>
                      <a:endParaRPr/>
                    </a:p>
                  </a:txBody>
                  <a:tcPr marT="45725" marB="45725" marR="91450" marL="91450" anchor="ctr"/>
                </a:tc>
                <a:tc>
                  <a:txBody>
                    <a:bodyPr/>
                    <a:lstStyle/>
                    <a:p>
                      <a:pPr indent="0" lvl="0" marL="0" marR="0" rtl="0" algn="ctr">
                        <a:spcBef>
                          <a:spcPts val="0"/>
                        </a:spcBef>
                        <a:spcAft>
                          <a:spcPts val="0"/>
                        </a:spcAft>
                        <a:buNone/>
                      </a:pPr>
                      <a:r>
                        <a:rPr lang="en-US" sz="1800" u="none" cap="none" strike="noStrike">
                          <a:solidFill>
                            <a:srgbClr val="FF0000"/>
                          </a:solidFill>
                          <a:latin typeface="Times New Roman"/>
                          <a:ea typeface="Times New Roman"/>
                          <a:cs typeface="Times New Roman"/>
                          <a:sym typeface="Times New Roman"/>
                        </a:rPr>
                        <a:t>-72.5%</a:t>
                      </a:r>
                      <a:endParaRPr/>
                    </a:p>
                    <a:p>
                      <a:pPr indent="0" lvl="0" marL="0" marR="0" rtl="0" algn="ctr">
                        <a:spcBef>
                          <a:spcPts val="0"/>
                        </a:spcBef>
                        <a:spcAft>
                          <a:spcPts val="0"/>
                        </a:spcAft>
                        <a:buNone/>
                      </a:pPr>
                      <a:r>
                        <a:rPr lang="en-US" sz="1800" u="none" cap="none" strike="noStrike">
                          <a:solidFill>
                            <a:srgbClr val="00B050"/>
                          </a:solidFill>
                          <a:latin typeface="Times New Roman"/>
                          <a:ea typeface="Times New Roman"/>
                          <a:cs typeface="Times New Roman"/>
                          <a:sym typeface="Times New Roman"/>
                        </a:rPr>
                        <a:t>+63.4%</a:t>
                      </a:r>
                      <a:endParaRPr/>
                    </a:p>
                    <a:p>
                      <a:pPr indent="0" lvl="0" marL="0" marR="0" rtl="0" algn="ctr">
                        <a:spcBef>
                          <a:spcPts val="0"/>
                        </a:spcBef>
                        <a:spcAft>
                          <a:spcPts val="0"/>
                        </a:spcAft>
                        <a:buNone/>
                      </a:pPr>
                      <a:r>
                        <a:rPr lang="en-US" sz="1800" u="none" cap="none" strike="noStrike">
                          <a:solidFill>
                            <a:srgbClr val="00B050"/>
                          </a:solidFill>
                          <a:latin typeface="Times New Roman"/>
                          <a:ea typeface="Times New Roman"/>
                          <a:cs typeface="Times New Roman"/>
                          <a:sym typeface="Times New Roman"/>
                        </a:rPr>
                        <a:t>-</a:t>
                      </a:r>
                      <a:r>
                        <a:rPr lang="en-US" sz="1800" u="none" cap="none" strike="noStrike">
                          <a:solidFill>
                            <a:srgbClr val="FF0000"/>
                          </a:solidFill>
                          <a:latin typeface="Times New Roman"/>
                          <a:ea typeface="Times New Roman"/>
                          <a:cs typeface="Times New Roman"/>
                          <a:sym typeface="Times New Roman"/>
                        </a:rPr>
                        <a:t>0.6%</a:t>
                      </a:r>
                      <a:endParaRPr/>
                    </a:p>
                  </a:txBody>
                  <a:tcPr marT="45725" marB="45725" marR="91450" marL="91450" anchor="ctr"/>
                </a:tc>
              </a:tr>
              <a:tr h="871425">
                <a:tc>
                  <a:txBody>
                    <a:bodyPr/>
                    <a:lstStyle/>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Nhóm Độc tố &amp; Vi sinh</a:t>
                      </a:r>
                      <a:endParaRPr sz="1800" u="none" cap="none" strike="noStrike">
                        <a:latin typeface="Times New Roman"/>
                        <a:ea typeface="Times New Roman"/>
                        <a:cs typeface="Times New Roman"/>
                        <a:sym typeface="Times New Roman"/>
                      </a:endParaRPr>
                    </a:p>
                  </a:txBody>
                  <a:tcPr marT="45725" marB="45725" marR="91450" marL="91450" anchor="ctr"/>
                </a:tc>
                <a:tc>
                  <a:txBody>
                    <a:bodyPr/>
                    <a:lstStyle/>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NH</a:t>
                      </a:r>
                      <a:r>
                        <a:rPr baseline="-25000" lang="en-US" sz="1800" u="none" cap="none" strike="noStrike">
                          <a:latin typeface="Times New Roman"/>
                          <a:ea typeface="Times New Roman"/>
                          <a:cs typeface="Times New Roman"/>
                          <a:sym typeface="Times New Roman"/>
                        </a:rPr>
                        <a:t>3</a:t>
                      </a:r>
                      <a:endParaRPr/>
                    </a:p>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H2S</a:t>
                      </a:r>
                      <a:endParaRPr/>
                    </a:p>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Coliform</a:t>
                      </a:r>
                      <a:endParaRPr/>
                    </a:p>
                  </a:txBody>
                  <a:tcPr marT="45725" marB="45725" marR="91450" marL="91450" anchor="ctr"/>
                </a:tc>
                <a:tc>
                  <a:txBody>
                    <a:bodyPr/>
                    <a:lstStyle/>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mg/L</a:t>
                      </a:r>
                      <a:endParaRPr/>
                    </a:p>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mg/L</a:t>
                      </a:r>
                      <a:endParaRPr/>
                    </a:p>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MPN</a:t>
                      </a:r>
                      <a:endParaRPr/>
                    </a:p>
                  </a:txBody>
                  <a:tcPr marT="45725" marB="45725" marR="91450" marL="91450" anchor="ctr"/>
                </a:tc>
                <a:tc>
                  <a:txBody>
                    <a:bodyPr/>
                    <a:lstStyle/>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0.0011</a:t>
                      </a:r>
                      <a:endParaRPr/>
                    </a:p>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0.0063</a:t>
                      </a:r>
                      <a:endParaRPr/>
                    </a:p>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1,070.9</a:t>
                      </a:r>
                      <a:endParaRPr/>
                    </a:p>
                  </a:txBody>
                  <a:tcPr marT="45725" marB="45725" marR="91450" marL="91450" anchor="ctr"/>
                </a:tc>
                <a:tc>
                  <a:txBody>
                    <a:bodyPr/>
                    <a:lstStyle/>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0.0125</a:t>
                      </a:r>
                      <a:endParaRPr/>
                    </a:p>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0.0087</a:t>
                      </a:r>
                      <a:endParaRPr/>
                    </a:p>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10,429.3</a:t>
                      </a:r>
                      <a:endParaRPr/>
                    </a:p>
                  </a:txBody>
                  <a:tcPr marT="45725" marB="45725" marR="91450" marL="91450" anchor="ctr"/>
                </a:tc>
                <a:tc>
                  <a:txBody>
                    <a:bodyPr/>
                    <a:lstStyle/>
                    <a:p>
                      <a:pPr indent="0" lvl="0" marL="0" marR="0" rtl="0" algn="ctr">
                        <a:spcBef>
                          <a:spcPts val="0"/>
                        </a:spcBef>
                        <a:spcAft>
                          <a:spcPts val="0"/>
                        </a:spcAft>
                        <a:buNone/>
                      </a:pPr>
                      <a:r>
                        <a:rPr lang="en-US" sz="1800" u="none" cap="none" strike="noStrike">
                          <a:solidFill>
                            <a:srgbClr val="000000"/>
                          </a:solidFill>
                          <a:latin typeface="Times New Roman"/>
                          <a:ea typeface="Times New Roman"/>
                          <a:cs typeface="Times New Roman"/>
                          <a:sym typeface="Times New Roman"/>
                        </a:rPr>
                        <a:t>-</a:t>
                      </a:r>
                      <a:endParaRPr/>
                    </a:p>
                    <a:p>
                      <a:pPr indent="0" lvl="0" marL="0" marR="0" rtl="0" algn="ctr">
                        <a:spcBef>
                          <a:spcPts val="0"/>
                        </a:spcBef>
                        <a:spcAft>
                          <a:spcPts val="0"/>
                        </a:spcAft>
                        <a:buNone/>
                      </a:pPr>
                      <a:r>
                        <a:rPr b="0" lang="en-US" sz="1800" u="none" cap="none" strike="noStrike">
                          <a:solidFill>
                            <a:srgbClr val="000000"/>
                          </a:solidFill>
                          <a:latin typeface="Times New Roman"/>
                          <a:ea typeface="Times New Roman"/>
                          <a:cs typeface="Times New Roman"/>
                          <a:sym typeface="Times New Roman"/>
                        </a:rPr>
                        <a:t>-</a:t>
                      </a:r>
                      <a:endParaRPr/>
                    </a:p>
                    <a:p>
                      <a:pPr indent="0" lvl="0" marL="0" marR="0" rtl="0" algn="ctr">
                        <a:spcBef>
                          <a:spcPts val="0"/>
                        </a:spcBef>
                        <a:spcAft>
                          <a:spcPts val="0"/>
                        </a:spcAft>
                        <a:buNone/>
                      </a:pPr>
                      <a:r>
                        <a:rPr lang="en-US" sz="1800" u="none" cap="none" strike="noStrike">
                          <a:solidFill>
                            <a:srgbClr val="000000"/>
                          </a:solidFill>
                          <a:latin typeface="Times New Roman"/>
                          <a:ea typeface="Times New Roman"/>
                          <a:cs typeface="Times New Roman"/>
                          <a:sym typeface="Times New Roman"/>
                        </a:rPr>
                        <a:t>-</a:t>
                      </a:r>
                      <a:endParaRPr/>
                    </a:p>
                  </a:txBody>
                  <a:tcPr marT="45725" marB="45725" marR="91450" marL="91450" anchor="ctr"/>
                </a:tc>
              </a:tr>
              <a:tr h="610000">
                <a:tc>
                  <a:txBody>
                    <a:bodyPr/>
                    <a:lstStyle/>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Nhóm Hữu cơ</a:t>
                      </a:r>
                      <a:endParaRPr sz="1800" u="none" cap="none" strike="noStrike">
                        <a:latin typeface="Times New Roman"/>
                        <a:ea typeface="Times New Roman"/>
                        <a:cs typeface="Times New Roman"/>
                        <a:sym typeface="Times New Roman"/>
                      </a:endParaRPr>
                    </a:p>
                  </a:txBody>
                  <a:tcPr marT="45725" marB="45725" marR="91450" marL="91450" anchor="ctr"/>
                </a:tc>
                <a:tc>
                  <a:txBody>
                    <a:bodyPr/>
                    <a:lstStyle/>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BOD5</a:t>
                      </a:r>
                      <a:endParaRPr/>
                    </a:p>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COD</a:t>
                      </a:r>
                      <a:endParaRPr/>
                    </a:p>
                  </a:txBody>
                  <a:tcPr marT="45725" marB="45725" marR="91450" marL="91450" anchor="ctr"/>
                </a:tc>
                <a:tc>
                  <a:txBody>
                    <a:bodyPr/>
                    <a:lstStyle/>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mg/L</a:t>
                      </a:r>
                      <a:endParaRPr/>
                    </a:p>
                    <a:p>
                      <a:pPr indent="0" lvl="0" marL="0" marR="0" rtl="0" algn="ctr">
                        <a:lnSpc>
                          <a:spcPct val="100000"/>
                        </a:lnSpc>
                        <a:spcBef>
                          <a:spcPts val="0"/>
                        </a:spcBef>
                        <a:spcAft>
                          <a:spcPts val="0"/>
                        </a:spcAft>
                        <a:buClr>
                          <a:srgbClr val="000000"/>
                        </a:buClr>
                        <a:buSzPts val="1800"/>
                        <a:buFont typeface="Times New Roman"/>
                        <a:buNone/>
                      </a:pPr>
                      <a:r>
                        <a:rPr lang="en-US" sz="1800" u="none" cap="none" strike="noStrike">
                          <a:latin typeface="Times New Roman"/>
                          <a:ea typeface="Times New Roman"/>
                          <a:cs typeface="Times New Roman"/>
                          <a:sym typeface="Times New Roman"/>
                        </a:rPr>
                        <a:t>mg/L</a:t>
                      </a:r>
                      <a:endParaRPr/>
                    </a:p>
                  </a:txBody>
                  <a:tcPr marT="45725" marB="45725" marR="91450" marL="91450" anchor="ctr"/>
                </a:tc>
                <a:tc>
                  <a:txBody>
                    <a:bodyPr/>
                    <a:lstStyle/>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0.2216</a:t>
                      </a:r>
                      <a:endParaRPr/>
                    </a:p>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23.6764</a:t>
                      </a:r>
                      <a:endParaRPr/>
                    </a:p>
                  </a:txBody>
                  <a:tcPr marT="45725" marB="45725" marR="91450" marL="91450" anchor="ctr"/>
                </a:tc>
                <a:tc>
                  <a:txBody>
                    <a:bodyPr/>
                    <a:lstStyle/>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9.7994</a:t>
                      </a:r>
                      <a:endParaRPr/>
                    </a:p>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36.4181</a:t>
                      </a:r>
                      <a:endParaRPr/>
                    </a:p>
                  </a:txBody>
                  <a:tcPr marT="45725" marB="45725" marR="91450" marL="91450" anchor="ctr"/>
                </a:tc>
                <a:tc>
                  <a:txBody>
                    <a:bodyPr/>
                    <a:lstStyle/>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a:t>
                      </a:r>
                      <a:endParaRPr/>
                    </a:p>
                    <a:p>
                      <a:pPr indent="0" lvl="0" marL="0" marR="0" rtl="0" algn="ctr">
                        <a:spcBef>
                          <a:spcPts val="0"/>
                        </a:spcBef>
                        <a:spcAft>
                          <a:spcPts val="0"/>
                        </a:spcAft>
                        <a:buNone/>
                      </a:pPr>
                      <a:r>
                        <a:rPr lang="en-US" sz="1800" u="none" cap="none" strike="noStrike">
                          <a:latin typeface="Times New Roman"/>
                          <a:ea typeface="Times New Roman"/>
                          <a:cs typeface="Times New Roman"/>
                          <a:sym typeface="Times New Roman"/>
                        </a:rPr>
                        <a:t>-</a:t>
                      </a:r>
                      <a:endParaRPr/>
                    </a:p>
                  </a:txBody>
                  <a:tcPr marT="45725" marB="45725" marR="91450" marL="91450" anchor="ct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9"/>
          <p:cNvSpPr txBox="1"/>
          <p:nvPr>
            <p:ph idx="12" type="sldNum"/>
          </p:nvPr>
        </p:nvSpPr>
        <p:spPr>
          <a:xfrm>
            <a:off x="6867383" y="6572126"/>
            <a:ext cx="20574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5" name="Google Shape;135;p9"/>
          <p:cNvSpPr txBox="1"/>
          <p:nvPr>
            <p:ph type="title"/>
          </p:nvPr>
        </p:nvSpPr>
        <p:spPr>
          <a:xfrm>
            <a:off x="235077" y="78613"/>
            <a:ext cx="8673846" cy="45173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en-US"/>
              <a:t>Demo giao diện Dashboard</a:t>
            </a:r>
            <a:endParaRPr>
              <a:latin typeface="Lato"/>
              <a:ea typeface="Lato"/>
              <a:cs typeface="Lato"/>
              <a:sym typeface="Lato"/>
            </a:endParaRPr>
          </a:p>
        </p:txBody>
      </p:sp>
      <p:pic>
        <p:nvPicPr>
          <p:cNvPr id="136" name="Google Shape;136;p9"/>
          <p:cNvPicPr preferRelativeResize="0"/>
          <p:nvPr/>
        </p:nvPicPr>
        <p:blipFill rotWithShape="1">
          <a:blip r:embed="rId3">
            <a:alphaModFix/>
          </a:blip>
          <a:srcRect b="0" l="0" r="0" t="0"/>
          <a:stretch/>
        </p:blipFill>
        <p:spPr>
          <a:xfrm>
            <a:off x="599868" y="1370376"/>
            <a:ext cx="4944146" cy="4856426"/>
          </a:xfrm>
          <a:prstGeom prst="rect">
            <a:avLst/>
          </a:prstGeom>
          <a:noFill/>
          <a:ln>
            <a:noFill/>
          </a:ln>
        </p:spPr>
      </p:pic>
      <p:pic>
        <p:nvPicPr>
          <p:cNvPr id="137" name="Google Shape;137;p9"/>
          <p:cNvPicPr preferRelativeResize="0"/>
          <p:nvPr/>
        </p:nvPicPr>
        <p:blipFill rotWithShape="1">
          <a:blip r:embed="rId4">
            <a:alphaModFix/>
          </a:blip>
          <a:srcRect b="0" l="0" r="0" t="0"/>
          <a:stretch/>
        </p:blipFill>
        <p:spPr>
          <a:xfrm>
            <a:off x="5730943" y="2912308"/>
            <a:ext cx="3202030" cy="3238704"/>
          </a:xfrm>
          <a:prstGeom prst="rect">
            <a:avLst/>
          </a:prstGeom>
          <a:noFill/>
          <a:ln>
            <a:noFill/>
          </a:ln>
        </p:spPr>
      </p:pic>
      <p:sp>
        <p:nvSpPr>
          <p:cNvPr id="138" name="Google Shape;138;p9"/>
          <p:cNvSpPr txBox="1"/>
          <p:nvPr/>
        </p:nvSpPr>
        <p:spPr>
          <a:xfrm>
            <a:off x="235077" y="847285"/>
            <a:ext cx="1984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00"/>
                </a:solidFill>
                <a:latin typeface="Lato"/>
                <a:ea typeface="Lato"/>
                <a:cs typeface="Lato"/>
                <a:sym typeface="Lato"/>
              </a:rPr>
              <a:t>Layout tổng quan</a:t>
            </a:r>
            <a:endParaRPr b="1" sz="1800">
              <a:solidFill>
                <a:srgbClr val="000000"/>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0"/>
          <p:cNvSpPr txBox="1"/>
          <p:nvPr>
            <p:ph idx="12" type="sldNum"/>
          </p:nvPr>
        </p:nvSpPr>
        <p:spPr>
          <a:xfrm>
            <a:off x="6867383" y="6572126"/>
            <a:ext cx="20574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5" name="Google Shape;145;p10"/>
          <p:cNvSpPr txBox="1"/>
          <p:nvPr>
            <p:ph type="title"/>
          </p:nvPr>
        </p:nvSpPr>
        <p:spPr>
          <a:xfrm>
            <a:off x="235077" y="78613"/>
            <a:ext cx="8673846" cy="45173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en-US"/>
              <a:t>Phần đang triển khai &amp; Thách thức</a:t>
            </a:r>
            <a:endParaRPr/>
          </a:p>
          <a:p>
            <a:pPr indent="0" lvl="0" marL="0" rtl="0" algn="l">
              <a:lnSpc>
                <a:spcPct val="90000"/>
              </a:lnSpc>
              <a:spcBef>
                <a:spcPts val="0"/>
              </a:spcBef>
              <a:spcAft>
                <a:spcPts val="0"/>
              </a:spcAft>
              <a:buClr>
                <a:schemeClr val="lt1"/>
              </a:buClr>
              <a:buSzPts val="2800"/>
              <a:buFont typeface="Lato"/>
              <a:buNone/>
            </a:pPr>
            <a:r>
              <a:t/>
            </a:r>
            <a:endParaRPr/>
          </a:p>
        </p:txBody>
      </p:sp>
      <p:sp>
        <p:nvSpPr>
          <p:cNvPr id="146" name="Google Shape;146;p10"/>
          <p:cNvSpPr txBox="1"/>
          <p:nvPr/>
        </p:nvSpPr>
        <p:spPr>
          <a:xfrm>
            <a:off x="156698" y="1004525"/>
            <a:ext cx="7395000" cy="1569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t>Thách thức:</a:t>
            </a:r>
            <a:r>
              <a:rPr lang="en-US" sz="1600"/>
              <a:t> Các biến Lý học (Nhiệt độ, Độ đục) hiện có sai số RMSE tăng (-72.5%) do tính biến động cao của khí hậu cục bộ.</a:t>
            </a:r>
            <a:endParaRPr sz="1600"/>
          </a:p>
          <a:p>
            <a:pPr indent="0" lvl="0" marL="0" marR="0" rtl="0" algn="l">
              <a:spcBef>
                <a:spcPts val="0"/>
              </a:spcBef>
              <a:spcAft>
                <a:spcPts val="0"/>
              </a:spcAft>
              <a:buNone/>
            </a:pPr>
            <a:r>
              <a:rPr b="1" lang="en-US" sz="1600"/>
              <a:t>Giải pháp đang thực hiện:</a:t>
            </a:r>
            <a:r>
              <a:rPr lang="en-US" sz="1600"/>
              <a:t> Thử nghiệm mô hình lai LSTM + XGBoost để tận dụng khả năng học chuỗi thời gian sâu hơn (Deep Learning).</a:t>
            </a:r>
            <a:endParaRPr sz="1600"/>
          </a:p>
          <a:p>
            <a:pPr indent="0" lvl="0" marL="0" marR="0" rtl="0" algn="l">
              <a:spcBef>
                <a:spcPts val="0"/>
              </a:spcBef>
              <a:spcAft>
                <a:spcPts val="0"/>
              </a:spcAft>
              <a:buNone/>
            </a:pPr>
            <a:r>
              <a:rPr b="1" lang="en-US" sz="1600"/>
              <a:t>Tối ưu hóa</a:t>
            </a:r>
            <a:r>
              <a:rPr lang="en-US" sz="1600"/>
              <a:t> : Tinh chỉnh tham số cho mô hình lai LSTM-XGBoost để giảm sai số cho nhóm biến nhiệt độ.</a:t>
            </a:r>
            <a:endParaRPr sz="1600"/>
          </a:p>
        </p:txBody>
      </p:sp>
      <p:pic>
        <p:nvPicPr>
          <p:cNvPr id="147" name="Google Shape;147;p10"/>
          <p:cNvPicPr preferRelativeResize="0"/>
          <p:nvPr/>
        </p:nvPicPr>
        <p:blipFill>
          <a:blip r:embed="rId3">
            <a:alphaModFix/>
          </a:blip>
          <a:stretch>
            <a:fillRect/>
          </a:stretch>
        </p:blipFill>
        <p:spPr>
          <a:xfrm>
            <a:off x="4463150" y="2260350"/>
            <a:ext cx="3152775" cy="3619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9"/>
          <p:cNvSpPr txBox="1"/>
          <p:nvPr>
            <p:ph idx="12" type="sldNum"/>
          </p:nvPr>
        </p:nvSpPr>
        <p:spPr>
          <a:xfrm>
            <a:off x="6867383" y="6572126"/>
            <a:ext cx="20574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3" name="Google Shape;153;p29"/>
          <p:cNvSpPr txBox="1"/>
          <p:nvPr/>
        </p:nvSpPr>
        <p:spPr>
          <a:xfrm>
            <a:off x="4181094" y="3021991"/>
            <a:ext cx="4197975" cy="81401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C00000"/>
              </a:buClr>
              <a:buSzPts val="4800"/>
              <a:buFont typeface="Lato"/>
              <a:buNone/>
            </a:pPr>
            <a:r>
              <a:rPr b="1" lang="en-US" sz="4800">
                <a:solidFill>
                  <a:srgbClr val="C00000"/>
                </a:solidFill>
                <a:latin typeface="Lato"/>
                <a:ea typeface="Lato"/>
                <a:cs typeface="Lato"/>
                <a:sym typeface="Lato"/>
              </a:rPr>
              <a:t>THANK YOU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2021-05-28T04:32:29Z</dcterms:created>
  <dc:creator>Phong TT &amp; QTTH</dc:creator>
</cp:coreProperties>
</file>